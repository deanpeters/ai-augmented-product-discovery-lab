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8" r:id="rId3"/>
    <p:sldId id="259" r:id="rId4"/>
    <p:sldId id="257"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892"/>
    <p:restoredTop sz="94610"/>
  </p:normalViewPr>
  <p:slideViewPr>
    <p:cSldViewPr snapToGrid="0" snapToObjects="1">
      <p:cViewPr varScale="1">
        <p:scale>
          <a:sx n="159" d="100"/>
          <a:sy n="159" d="100"/>
        </p:scale>
        <p:origin x="76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Cost to build</c:v>
                </c:pt>
              </c:strCache>
            </c:strRef>
          </c:tx>
          <c:spPr>
            <a:ln w="50800" cap="flat">
              <a:solidFill>
                <a:srgbClr val="00E874"/>
              </a:solidFill>
              <a:prstDash val="solid"/>
              <a:round/>
            </a:ln>
            <a:effectLst/>
          </c:spPr>
          <c:marker>
            <c:symbol val="none"/>
          </c:marker>
          <c:cat>
            <c:strRef>
              <c:f>Sheet1!$A$2:$A$9</c:f>
              <c:strCache>
                <c:ptCount val="8"/>
                <c:pt idx="0">
                  <c:v>T1</c:v>
                </c:pt>
                <c:pt idx="1">
                  <c:v>T2</c:v>
                </c:pt>
                <c:pt idx="2">
                  <c:v>T3</c:v>
                </c:pt>
                <c:pt idx="3">
                  <c:v>T4</c:v>
                </c:pt>
                <c:pt idx="4">
                  <c:v>T5</c:v>
                </c:pt>
                <c:pt idx="5">
                  <c:v>T6</c:v>
                </c:pt>
                <c:pt idx="6">
                  <c:v>T7</c:v>
                </c:pt>
                <c:pt idx="7">
                  <c:v>T8</c:v>
                </c:pt>
              </c:strCache>
            </c:strRef>
          </c:cat>
          <c:val>
            <c:numRef>
              <c:f>Sheet1!$B$2:$B$9</c:f>
              <c:numCache>
                <c:formatCode>General</c:formatCode>
                <c:ptCount val="8"/>
                <c:pt idx="0">
                  <c:v>100</c:v>
                </c:pt>
                <c:pt idx="1">
                  <c:v>62</c:v>
                </c:pt>
                <c:pt idx="2">
                  <c:v>40</c:v>
                </c:pt>
                <c:pt idx="3">
                  <c:v>26</c:v>
                </c:pt>
                <c:pt idx="4">
                  <c:v>17</c:v>
                </c:pt>
                <c:pt idx="5">
                  <c:v>12</c:v>
                </c:pt>
                <c:pt idx="6">
                  <c:v>9</c:v>
                </c:pt>
                <c:pt idx="7">
                  <c:v>7</c:v>
                </c:pt>
              </c:numCache>
            </c:numRef>
          </c:val>
          <c:smooth val="0"/>
          <c:extLst>
            <c:ext xmlns:c16="http://schemas.microsoft.com/office/drawing/2014/chart" uri="{C3380CC4-5D6E-409C-BE32-E72D297353CC}">
              <c16:uniqueId val="{00000000-0E77-BA41-AD3D-D32FE03E2B00}"/>
            </c:ext>
          </c:extLst>
        </c:ser>
        <c:ser>
          <c:idx val="1"/>
          <c:order val="1"/>
          <c:tx>
            <c:strRef>
              <c:f>Sheet1!$C$1</c:f>
              <c:strCache>
                <c:ptCount val="1"/>
                <c:pt idx="0">
                  <c:v>Cost of poor judgment (burned runway)</c:v>
                </c:pt>
              </c:strCache>
            </c:strRef>
          </c:tx>
          <c:spPr>
            <a:ln w="50800" cap="flat">
              <a:solidFill>
                <a:srgbClr val="FFFFFF"/>
              </a:solidFill>
              <a:prstDash val="solid"/>
              <a:round/>
            </a:ln>
            <a:effectLst/>
          </c:spPr>
          <c:marker>
            <c:symbol val="none"/>
          </c:marker>
          <c:cat>
            <c:strRef>
              <c:f>Sheet1!$A$2:$A$9</c:f>
              <c:strCache>
                <c:ptCount val="8"/>
                <c:pt idx="0">
                  <c:v>T1</c:v>
                </c:pt>
                <c:pt idx="1">
                  <c:v>T2</c:v>
                </c:pt>
                <c:pt idx="2">
                  <c:v>T3</c:v>
                </c:pt>
                <c:pt idx="3">
                  <c:v>T4</c:v>
                </c:pt>
                <c:pt idx="4">
                  <c:v>T5</c:v>
                </c:pt>
                <c:pt idx="5">
                  <c:v>T6</c:v>
                </c:pt>
                <c:pt idx="6">
                  <c:v>T7</c:v>
                </c:pt>
                <c:pt idx="7">
                  <c:v>T8</c:v>
                </c:pt>
              </c:strCache>
            </c:strRef>
          </c:cat>
          <c:val>
            <c:numRef>
              <c:f>Sheet1!$C$2:$C$9</c:f>
              <c:numCache>
                <c:formatCode>General</c:formatCode>
                <c:ptCount val="8"/>
                <c:pt idx="0">
                  <c:v>8</c:v>
                </c:pt>
                <c:pt idx="1">
                  <c:v>10</c:v>
                </c:pt>
                <c:pt idx="2">
                  <c:v>14</c:v>
                </c:pt>
                <c:pt idx="3">
                  <c:v>20</c:v>
                </c:pt>
                <c:pt idx="4">
                  <c:v>32</c:v>
                </c:pt>
                <c:pt idx="5">
                  <c:v>52</c:v>
                </c:pt>
                <c:pt idx="6">
                  <c:v>76</c:v>
                </c:pt>
                <c:pt idx="7">
                  <c:v>100</c:v>
                </c:pt>
              </c:numCache>
            </c:numRef>
          </c:val>
          <c:smooth val="0"/>
          <c:extLst>
            <c:ext xmlns:c16="http://schemas.microsoft.com/office/drawing/2014/chart" uri="{C3380CC4-5D6E-409C-BE32-E72D297353CC}">
              <c16:uniqueId val="{00000001-0E77-BA41-AD3D-D32FE03E2B0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400">
              <a:solidFill>
                <a:srgbClr val="FFFFFF"/>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5800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spoken. Hall of Shame goes here only if every case and source has been checked before the show. Placeholder otherwise.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Take two answers. They are audience suggestions, not customer evidence.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chart. No data behind the curves. Say so if asked.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Spoken opening. Five cases, one line each, then leave the slide. Do not research cases on stage. Sources are in notebook/hall-of-shame-sources.md. Facts: Relay.app shut down in 2026 (relay.app). Humane AI Pin discontinued Feb 2025 after HP bought assets for $116M (TechCrunch, Feb 18 2025). Google paused Gemini image generation of people, Feb 23 2024 (blog.google). Air Canada held liable for its chatbot, Moffatt v. Air Canada, 2024 BCCRT 149, issued Feb 14 2024, $812.02 ordered. Zillow wound down Zillow Offers, Q3 2021 shareholder letter, Nov 2 2021. The one-line lessons are Dean's interpretation (INFERRED), not claims the sources make.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Market Intel, Segment, Persona. Understand the situation before anyone proposes a solution.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landscape comes before the segment. Pre-run if using real sources; keep URLs, dates and limits. Fallback: saved Market Intel output. Recovery: AI demos obey Murphy's Law, so I brought receipts.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 is a deliberate boundary, chosen by a person. Sizing circles are speculation: TAM from population, SAM from trade and industry data, SOM from competition plus reach and capacity. No numbers on the slide. Every size is ESTIMATE until sourced; unknowns stay UNKNOWN. Name inclusions and exclusions out loud.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 minutes across two canvas slides. Guided exchange. Reply to the actual question only. Vague answer on purpose ('keep it safe'), then clarify. Productside framing canvas: list pains, gains and jobs; pick the top of each; write the problem framing statement. Detail lives in the skill, prompt and mural. Synthetic, ESTIMATE until researched. No actor map.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part 2. Productside proto-persona canvas: name, portrait, bio, quotes, outcomes, pains. Name is a role, not an invented person. Demographics and quotes stay UNKNOWN because no interviews exist. Thinking aid, not customer evidence.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Opportunity Solution Tree, Value Prop vs. Differentiation 2x2, Positioning Statement. Explore and position, with a human choice at each gate.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opportunity survives if the dashboard disappears? Approving the tree does not choose a branch. Select an actual concept at the gate.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Bake-off. Every solution candidate from the Opportunity Solution Tree is placed on the grid, with competitors and the current workaround on the same map, by value to the persona and meaningful difference against the real alternative. Placement is provisional and synthetic here. Missing evidence is UNKNOWN, not low. No moat claims. Ask: can something be different without being valuable? The placement helps decide which solutions go forward; a person makes the choice.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positioning statement canvas: For, who, the, is a, that, unlike, our product gives. Short on the slide on purpose; the detail lives in the skill, prompt and mural. ESTIMATE and synthetic. Read it aloud.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Solution Hypothesis, Storyboard, Minimum Viable Narrative, Prototyping. Make the proposition testable, then pick the cheapest test.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solution hypothesis canvas: if/then statement, 2 tiny acts of discovery, 1 quantitative and 1 qualitative metric, plus what would make us revise or stop. Short on the slide on purpose; detail lives in the skill, prompt and mural. Numbers and timeframe stay bracketed until a person sets them before the test. NOT RUN.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storyboard canvas: a solution summary over six frames. The arc: who has the problem, what the problem is, the oh crap moment, the solution arrives, the solution aha moment, sharing the love. Short on the slide on purpose. NOT RENDERED. Everything after the problem is fictional.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MVN canvas: prototype hypothesis and target audience on top, five beats, a builder prompt below. Setup, Encounter, then the Action and Response loop repeated 3 to 6 times, then Resolution. Short on the slide on purpose; detail lives in the skill, prompt and mural. Not built.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the smallest, cheapest test that surfaces the most brutal truth. Compare a conversation, a storyboard or wireframe test, an interaction, and a build. Recommend the tiniest act of discovery that returns the most brutal truth, or enough signal to pivot, punt or pursue. Tiny alone is not enough: teams usually overbuild their experiments instead of running tiny acts of discovery. Status, if asked: prototypes built in advance are implementation evidence only. The participant test is NOT RUN until a person actually runs it. If you did not build one, say NOT BUILT.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Jeff Patton: the most expensive way to test your idea is to build production quality software. A polished prototype is not stronger evidence. It may be a more expensive rendering of weak assumptions. Lo-fi wins only if it still tells the truth. Quote source: https://jpattonassociates.com/dual-track-development/ (Jeff Patton, Dual Track Development is not Duel Track, 2017). Cost labels on this ladder are illustrative, not universal; choose the lowest fidelity that can expose the risk.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Persona's skill, template, worked and weak examples, and the paste-ready prompt side by side before this slide.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repo access before promising a QR code works for everyone. AI demos obey Murphy's Law, so I brought receipts.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_TITLE">
    <p:bg>
      <p:bgPr>
        <a:solidFill>
          <a:srgbClr val="00000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_CONTENT">
    <p:bg>
      <p:bgPr>
        <a:solidFill>
          <a:srgbClr val="000000"/>
        </a:solidFill>
        <a:effectLst/>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icPr>
            <a:picLocks noChangeAspect="1"/>
          </p:cNvPicPr>
          <p:nvPr/>
        </p:nvPicPr>
        <p:blipFill>
          <a:blip r:embed="rId2"/>
          <a:stretch>
            <a:fillRect/>
          </a:stretch>
        </p:blipFill>
        <p:spPr>
          <a:xfrm>
            <a:off x="10195560" y="6382512"/>
            <a:ext cx="1463040" cy="178308"/>
          </a:xfrm>
          <a:prstGeom prst="rect">
            <a:avLst/>
          </a:prstGeom>
        </p:spPr>
      </p:pic>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S_MOTION">
    <p:bg>
      <p:bgPr>
        <a:solidFill>
          <a:srgbClr val="000000"/>
        </a:solidFill>
        <a:effectLst/>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icPr>
            <a:picLocks noChangeAspect="1"/>
          </p:cNvPicPr>
          <p:nvPr/>
        </p:nvPicPr>
        <p:blipFill>
          <a:blip r:embed="rId2"/>
          <a:stretch>
            <a:fillRect/>
          </a:stretch>
        </p:blipFill>
        <p:spPr>
          <a:xfrm>
            <a:off x="10195560" y="6382512"/>
            <a:ext cx="1463040" cy="178308"/>
          </a:xfrm>
          <a:prstGeom prst="rect">
            <a:avLst/>
          </a:prstGeom>
        </p:spPr>
      </p:pic>
      <p:sp>
        <p:nvSpPr>
          <p:cNvPr id="3" name="Text 0"/>
          <p:cNvSpPr>
            <a:spLocks noGrp="1"/>
          </p:cNvSpPr>
          <p:nvPr>
            <p:ph type="title" idx="101" hasCustomPrompt="1"/>
          </p:nvPr>
        </p:nvSpPr>
        <p:spPr>
          <a:xfrm>
            <a:off x="548640" y="1600200"/>
            <a:ext cx="5212080" cy="1143000"/>
          </a:xfrm>
          <a:prstGeom prst="rect">
            <a:avLst/>
          </a:prstGeom>
          <a:noFill/>
          <a:ln/>
        </p:spPr>
        <p:txBody>
          <a:bodyPr wrap="square" rtlCol="0"/>
          <a:lstStyle>
            <a:lvl1pPr marL="0" indent="0" algn="l">
              <a:buNone/>
              <a:defRPr lang="en-US" sz="4000" dirty="0">
                <a:solidFill>
                  <a:schemeClr val="bg1"/>
                </a:solidFill>
                <a:latin typeface="Clash Grotesk Medium" pitchFamily="34" charset="0"/>
                <a:ea typeface="Clash Grotesk Medium" pitchFamily="34" charset="-122"/>
                <a:cs typeface="Clash Grotesk Medium" pitchFamily="34" charset="-120"/>
              </a:defRPr>
            </a:lvl1pPr>
          </a:lstStyle>
          <a:p>
            <a:pPr marL="0" indent="0" algn="l">
              <a:buNone/>
            </a:pPr>
            <a:r>
              <a:rPr lang="en-US" sz="4000" dirty="0">
                <a:solidFill>
                  <a:schemeClr val="bg1"/>
                </a:solidFill>
                <a:latin typeface="Clash Grotesk Medium" pitchFamily="34" charset="0"/>
                <a:ea typeface="Clash Grotesk Medium" pitchFamily="34" charset="-122"/>
                <a:cs typeface="Clash Grotesk Medium" pitchFamily="34" charset="-120"/>
              </a:rPr>
              <a:t>Motion title</a:t>
            </a:r>
            <a:endParaRPr lang="en-US" sz="40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ductside lockup" descr="Productside"/>
          <p:cNvPicPr>
            <a:picLocks noChangeAspect="1"/>
          </p:cNvPicPr>
          <p:nvPr/>
        </p:nvPicPr>
        <p:blipFill>
          <a:blip r:embed="rId3"/>
          <a:stretch>
            <a:fillRect/>
          </a:stretch>
        </p:blipFill>
        <p:spPr>
          <a:xfrm>
            <a:off x="548640" y="502920"/>
            <a:ext cx="1554480" cy="792785"/>
          </a:xfrm>
          <a:prstGeom prst="rect">
            <a:avLst/>
          </a:prstGeom>
        </p:spPr>
      </p:pic>
      <p:sp>
        <p:nvSpPr>
          <p:cNvPr id="3" name="Eyebrow"/>
          <p:cNvSpPr/>
          <p:nvPr/>
        </p:nvSpPr>
        <p:spPr>
          <a:xfrm>
            <a:off x="548640" y="1828800"/>
            <a:ext cx="4480560" cy="329184"/>
          </a:xfrm>
          <a:prstGeom prst="roundRect">
            <a:avLst>
              <a:gd name="adj" fmla="val 50000"/>
            </a:avLst>
          </a:prstGeom>
          <a:solidFill>
            <a:schemeClr val="accent1"/>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AI-AUGMENTED PRODUCT DISCOVERY</a:t>
            </a:r>
            <a:endParaRPr lang="en-US" sz="1400" dirty="0"/>
          </a:p>
        </p:txBody>
      </p:sp>
      <p:sp>
        <p:nvSpPr>
          <p:cNvPr id="4" name="Title"/>
          <p:cNvSpPr txBox="1"/>
          <p:nvPr/>
        </p:nvSpPr>
        <p:spPr>
          <a:xfrm>
            <a:off x="548640" y="2377440"/>
            <a:ext cx="9326880" cy="2468880"/>
          </a:xfrm>
          <a:prstGeom prst="rect">
            <a:avLst/>
          </a:prstGeom>
          <a:noFill/>
          <a:ln/>
        </p:spPr>
        <p:txBody>
          <a:bodyPr wrap="square" lIns="0" tIns="0" rIns="0" bIns="0" rtlCol="0" anchor="t"/>
          <a:lstStyle/>
          <a:p>
            <a:pPr marL="0" indent="0">
              <a:buNone/>
            </a:pPr>
            <a:r>
              <a:rPr lang="en-US" sz="5400" dirty="0">
                <a:solidFill>
                  <a:schemeClr val="bg1"/>
                </a:solidFill>
                <a:latin typeface="FR Kraken Slab Medium" pitchFamily="34" charset="0"/>
                <a:ea typeface="FR Kraken Slab Medium" pitchFamily="34" charset="-122"/>
                <a:cs typeface="FR Kraken Slab Medium" pitchFamily="34" charset="-120"/>
              </a:rPr>
              <a:t>Build the Right Thing Before Building It Right.</a:t>
            </a:r>
            <a:endParaRPr lang="en-US" sz="5400" dirty="0"/>
          </a:p>
        </p:txBody>
      </p:sp>
      <p:sp>
        <p:nvSpPr>
          <p:cNvPr id="5" name="Subtitle"/>
          <p:cNvSpPr txBox="1"/>
          <p:nvPr/>
        </p:nvSpPr>
        <p:spPr>
          <a:xfrm>
            <a:off x="548640" y="5074920"/>
            <a:ext cx="7680960" cy="822960"/>
          </a:xfrm>
          <a:prstGeom prst="rect">
            <a:avLst/>
          </a:prstGeom>
          <a:noFill/>
          <a:ln/>
        </p:spPr>
        <p:txBody>
          <a:bodyPr wrap="square" lIns="0" tIns="0" rIns="0" bIns="0" rtlCol="0" anchor="t"/>
          <a:lstStyle/>
          <a:p>
            <a:pPr marL="0" indent="0">
              <a:buNone/>
            </a:pPr>
            <a:r>
              <a:rPr lang="en-US" sz="2200" dirty="0">
                <a:solidFill>
                  <a:schemeClr val="accent1"/>
                </a:solidFill>
                <a:latin typeface="PP Mori" pitchFamily="34" charset="0"/>
                <a:ea typeface="PP Mori" pitchFamily="34" charset="-122"/>
                <a:cs typeface="PP Mori" pitchFamily="34" charset="-120"/>
              </a:rPr>
              <a:t>AI made building dramatically cheaper and faster. It did not make knowing what to build any easier.</a:t>
            </a:r>
            <a:endParaRPr lang="en-US" sz="2200" dirty="0"/>
          </a:p>
        </p:txBody>
      </p:sp>
      <p:sp>
        <p:nvSpPr>
          <p:cNvPr id="6" name="Byline"/>
          <p:cNvSpPr txBox="1"/>
          <p:nvPr/>
        </p:nvSpPr>
        <p:spPr>
          <a:xfrm>
            <a:off x="548640" y="6263640"/>
            <a:ext cx="10058400" cy="27432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Dean Peters  |  Triangle Startup Collective  |  Raleigh Founded  |  October 5,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640080"/>
            <a:ext cx="5486400" cy="274320"/>
          </a:xfrm>
          <a:prstGeom prst="rect">
            <a:avLst/>
          </a:prstGeom>
          <a:noFill/>
          <a:ln/>
        </p:spPr>
        <p:txBody>
          <a:bodyPr wrap="square" lIns="0" tIns="0" rIns="0" bIns="0" rtlCol="0" anchor="t"/>
          <a:lstStyle/>
          <a:p>
            <a:pPr marL="0" indent="0">
              <a:buNone/>
            </a:pPr>
            <a:r>
              <a:rPr lang="en-US" sz="1400" kern="0" spc="150" dirty="0">
                <a:solidFill>
                  <a:schemeClr val="accent1"/>
                </a:solidFill>
                <a:latin typeface="Clash Display Semibold" pitchFamily="34" charset="0"/>
                <a:ea typeface="Clash Display Semibold" pitchFamily="34" charset="-122"/>
                <a:cs typeface="Clash Display Semibold" pitchFamily="34" charset="-120"/>
              </a:rPr>
              <a:t>THE HIPPO'S REQUEST</a:t>
            </a:r>
            <a:endParaRPr lang="en-US" sz="1400" dirty="0"/>
          </a:p>
        </p:txBody>
      </p:sp>
      <p:sp>
        <p:nvSpPr>
          <p:cNvPr id="3" name="Request card"/>
          <p:cNvSpPr/>
          <p:nvPr/>
        </p:nvSpPr>
        <p:spPr>
          <a:xfrm>
            <a:off x="1280160" y="1463040"/>
            <a:ext cx="9601200" cy="3200400"/>
          </a:xfrm>
          <a:prstGeom prst="roundRect">
            <a:avLst>
              <a:gd name="adj" fmla="val 7143"/>
            </a:avLst>
          </a:prstGeom>
          <a:solidFill>
            <a:schemeClr val="bg1"/>
          </a:solidFill>
          <a:ln w="12700">
            <a:solidFill>
              <a:schemeClr val="bg1"/>
            </a:solidFill>
            <a:prstDash val="solid"/>
          </a:ln>
        </p:spPr>
        <p:txBody>
          <a:bodyPr/>
          <a:lstStyle/>
          <a:p>
            <a:endParaRPr lang="en-GB"/>
          </a:p>
        </p:txBody>
      </p:sp>
      <p:sp>
        <p:nvSpPr>
          <p:cNvPr id="4" name="Request text"/>
          <p:cNvSpPr txBox="1"/>
          <p:nvPr/>
        </p:nvSpPr>
        <p:spPr>
          <a:xfrm>
            <a:off x="1737359" y="1780674"/>
            <a:ext cx="7639553" cy="2103120"/>
          </a:xfrm>
          <a:prstGeom prst="rect">
            <a:avLst/>
          </a:prstGeom>
          <a:noFill/>
          <a:ln/>
        </p:spPr>
        <p:txBody>
          <a:bodyPr wrap="square" lIns="0" tIns="0" rIns="0" bIns="0" rtlCol="0" anchor="t"/>
          <a:lstStyle/>
          <a:p>
            <a:pPr marL="0" indent="0">
              <a:buNone/>
            </a:pPr>
            <a:r>
              <a:rPr lang="en-US" sz="4400" dirty="0">
                <a:solidFill>
                  <a:schemeClr val="tx1"/>
                </a:solidFill>
                <a:latin typeface="Clash Grotesk Medium" pitchFamily="34" charset="0"/>
                <a:ea typeface="Clash Grotesk Medium" pitchFamily="34" charset="-122"/>
                <a:cs typeface="Clash Grotesk Medium" pitchFamily="34" charset="-120"/>
              </a:rPr>
              <a:t>Build an AI-enhanced maintenance dashboard for managers at mid-sized manufacturers.</a:t>
            </a:r>
            <a:endParaRPr lang="en-US" sz="4400" dirty="0"/>
          </a:p>
        </p:txBody>
      </p:sp>
      <p:sp>
        <p:nvSpPr>
          <p:cNvPr id="5" name="Evidence label UNKNOWN"/>
          <p:cNvSpPr/>
          <p:nvPr/>
        </p:nvSpPr>
        <p:spPr>
          <a:xfrm>
            <a:off x="9052560" y="4023360"/>
            <a:ext cx="1371600" cy="329184"/>
          </a:xfrm>
          <a:prstGeom prst="roundRect">
            <a:avLst>
              <a:gd name="adj" fmla="val 50000"/>
            </a:avLst>
          </a:prstGeom>
          <a:solidFill>
            <a:schemeClr val="accent4"/>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6" name="Audience question"/>
          <p:cNvSpPr txBox="1"/>
          <p:nvPr/>
        </p:nvSpPr>
        <p:spPr>
          <a:xfrm>
            <a:off x="1280160" y="5074920"/>
            <a:ext cx="9601200" cy="457200"/>
          </a:xfrm>
          <a:prstGeom prst="rect">
            <a:avLst/>
          </a:prstGeom>
          <a:noFill/>
          <a:ln/>
        </p:spPr>
        <p:txBody>
          <a:bodyPr wrap="square" lIns="0" tIns="0" rIns="0" bIns="0" rtlCol="0" anchor="t"/>
          <a:lstStyle/>
          <a:p>
            <a:pPr marL="0" indent="0">
              <a:buNone/>
            </a:pPr>
            <a:r>
              <a:rPr lang="en-US" sz="2400" dirty="0">
                <a:solidFill>
                  <a:schemeClr val="bg1"/>
                </a:solidFill>
                <a:latin typeface="PP Mori" pitchFamily="34" charset="0"/>
                <a:ea typeface="PP Mori" pitchFamily="34" charset="-122"/>
                <a:cs typeface="PP Mori" pitchFamily="34" charset="-120"/>
              </a:rPr>
              <a:t>What would you need to know before funding that?</a:t>
            </a:r>
            <a:endParaRPr lang="en-US" sz="2400" dirty="0"/>
          </a:p>
        </p:txBody>
      </p:sp>
      <p:sp>
        <p:nvSpPr>
          <p:cNvPr id="7" name="Synthetic note"/>
          <p:cNvSpPr txBox="1"/>
          <p:nvPr/>
        </p:nvSpPr>
        <p:spPr>
          <a:xfrm>
            <a:off x="1280160" y="5669280"/>
            <a:ext cx="8229600" cy="54864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NOTE: This manufacturing scenario is SYNTHETIC. No customers were interviewed. These aren't customers. They're hypothesis-generating machines.</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640080"/>
            <a:ext cx="4754880" cy="1463040"/>
          </a:xfrm>
          <a:prstGeom prst="rect">
            <a:avLst/>
          </a:prstGeom>
          <a:noFill/>
          <a:ln/>
        </p:spPr>
        <p:txBody>
          <a:bodyPr wrap="square" lIns="0" tIns="0" rIns="0" bIns="0" rtlCol="0" anchor="t"/>
          <a:lstStyle/>
          <a:p>
            <a:pPr marL="0" indent="0">
              <a:buNone/>
            </a:pPr>
            <a:r>
              <a:rPr lang="en-US" sz="4400" dirty="0">
                <a:solidFill>
                  <a:schemeClr val="bg1"/>
                </a:solidFill>
                <a:latin typeface="Clash Grotesk Medium" pitchFamily="34" charset="0"/>
                <a:ea typeface="Clash Grotesk Medium" pitchFamily="34" charset="-122"/>
                <a:cs typeface="Clash Grotesk Medium" pitchFamily="34" charset="-120"/>
              </a:rPr>
              <a:t>The AI cost paradox</a:t>
            </a:r>
            <a:endParaRPr lang="en-US" sz="4400" dirty="0"/>
          </a:p>
        </p:txBody>
      </p:sp>
      <p:sp>
        <p:nvSpPr>
          <p:cNvPr id="3" name="Body"/>
          <p:cNvSpPr txBox="1"/>
          <p:nvPr/>
        </p:nvSpPr>
        <p:spPr>
          <a:xfrm>
            <a:off x="548640" y="2377440"/>
            <a:ext cx="4480560" cy="2377440"/>
          </a:xfrm>
          <a:prstGeom prst="rect">
            <a:avLst/>
          </a:prstGeom>
          <a:noFill/>
          <a:ln/>
        </p:spPr>
        <p:txBody>
          <a:bodyPr wrap="square" lIns="0" tIns="0" rIns="0" bIns="0" rtlCol="0" anchor="t"/>
          <a:lstStyle/>
          <a:p>
            <a:pPr marL="0" indent="0">
              <a:lnSpc>
                <a:spcPct val="110000"/>
              </a:lnSpc>
              <a:buNone/>
            </a:pPr>
            <a:r>
              <a:rPr lang="en-US" sz="2000" dirty="0">
                <a:solidFill>
                  <a:srgbClr val="B3B3B3"/>
                </a:solidFill>
                <a:latin typeface="PP Mori" pitchFamily="34" charset="0"/>
                <a:ea typeface="PP Mori" pitchFamily="34" charset="-122"/>
                <a:cs typeface="PP Mori" pitchFamily="34" charset="-120"/>
              </a:rPr>
              <a:t>Teams can now </a:t>
            </a:r>
            <a:r>
              <a:rPr lang="en-US" sz="2000" dirty="0">
                <a:solidFill>
                  <a:schemeClr val="accent1"/>
                </a:solidFill>
                <a:latin typeface="PP Mori" pitchFamily="34" charset="0"/>
                <a:ea typeface="PP Mori" pitchFamily="34" charset="-122"/>
                <a:cs typeface="PP Mori" pitchFamily="34" charset="-120"/>
              </a:rPr>
              <a:t>build the wrong </a:t>
            </a:r>
            <a:r>
              <a:rPr lang="en-US" sz="2000" dirty="0">
                <a:solidFill>
                  <a:srgbClr val="B3B3B3"/>
                </a:solidFill>
                <a:latin typeface="PP Mori" pitchFamily="34" charset="0"/>
                <a:ea typeface="PP Mori" pitchFamily="34" charset="-122"/>
                <a:cs typeface="PP Mori" pitchFamily="34" charset="-120"/>
              </a:rPr>
              <a:t>thing faster, and polish a weak assumption into a shipped feature. </a:t>
            </a:r>
            <a:br>
              <a:rPr lang="en-US" sz="2000" dirty="0">
                <a:solidFill>
                  <a:srgbClr val="B3B3B3"/>
                </a:solidFill>
                <a:latin typeface="PP Mori" pitchFamily="34" charset="0"/>
                <a:ea typeface="PP Mori" pitchFamily="34" charset="-122"/>
                <a:cs typeface="PP Mori" pitchFamily="34" charset="-120"/>
              </a:rPr>
            </a:br>
            <a:br>
              <a:rPr lang="en-US" sz="2000" dirty="0">
                <a:solidFill>
                  <a:srgbClr val="B3B3B3"/>
                </a:solidFill>
                <a:latin typeface="PP Mori" pitchFamily="34" charset="0"/>
                <a:ea typeface="PP Mori" pitchFamily="34" charset="-122"/>
                <a:cs typeface="PP Mori" pitchFamily="34" charset="-120"/>
              </a:rPr>
            </a:br>
            <a:r>
              <a:rPr lang="en-US" sz="2000" dirty="0">
                <a:solidFill>
                  <a:srgbClr val="B3B3B3"/>
                </a:solidFill>
                <a:latin typeface="PP Mori" pitchFamily="34" charset="0"/>
                <a:ea typeface="PP Mori" pitchFamily="34" charset="-122"/>
                <a:cs typeface="PP Mori" pitchFamily="34" charset="-120"/>
              </a:rPr>
              <a:t>Progress means uncertainty reduced, jobs identified, and gains realized …  </a:t>
            </a:r>
            <a:r>
              <a:rPr lang="en-US" sz="2000" dirty="0">
                <a:solidFill>
                  <a:schemeClr val="accent1"/>
                </a:solidFill>
                <a:latin typeface="PP Mori" pitchFamily="34" charset="0"/>
                <a:ea typeface="PP Mori" pitchFamily="34" charset="-122"/>
                <a:cs typeface="PP Mori" pitchFamily="34" charset="-120"/>
              </a:rPr>
              <a:t>not activity increased</a:t>
            </a:r>
            <a:r>
              <a:rPr lang="en-US" sz="2000" dirty="0">
                <a:solidFill>
                  <a:srgbClr val="B3B3B3"/>
                </a:solidFill>
                <a:latin typeface="PP Mori" pitchFamily="34" charset="0"/>
                <a:ea typeface="PP Mori" pitchFamily="34" charset="-122"/>
                <a:cs typeface="PP Mori" pitchFamily="34" charset="-120"/>
              </a:rPr>
              <a:t>.</a:t>
            </a:r>
            <a:endParaRPr lang="en-US" sz="2000" dirty="0"/>
          </a:p>
        </p:txBody>
      </p:sp>
      <p:graphicFrame>
        <p:nvGraphicFramePr>
          <p:cNvPr id="4" name="Chart 0"/>
          <p:cNvGraphicFramePr/>
          <p:nvPr/>
        </p:nvGraphicFramePr>
        <p:xfrm>
          <a:off x="5669280" y="731520"/>
          <a:ext cx="6035040" cy="4937760"/>
        </p:xfrm>
        <a:graphic>
          <a:graphicData uri="http://schemas.openxmlformats.org/drawingml/2006/chart">
            <c:chart xmlns:c="http://schemas.openxmlformats.org/drawingml/2006/chart" xmlns:r="http://schemas.openxmlformats.org/officeDocument/2006/relationships" r:id="rId3"/>
          </a:graphicData>
        </a:graphic>
      </p:graphicFrame>
      <p:sp>
        <p:nvSpPr>
          <p:cNvPr id="5" name="Illustrative note"/>
          <p:cNvSpPr txBox="1"/>
          <p:nvPr/>
        </p:nvSpPr>
        <p:spPr>
          <a:xfrm>
            <a:off x="5669280" y="5760720"/>
            <a:ext cx="6035040" cy="274320"/>
          </a:xfrm>
          <a:prstGeom prst="rect">
            <a:avLst/>
          </a:prstGeom>
          <a:noFill/>
          <a:ln/>
        </p:spPr>
        <p:txBody>
          <a:bodyPr wrap="square" lIns="0" tIns="0" rIns="0" bIns="0" rtlCol="0" anchor="t"/>
          <a:lstStyle/>
          <a:p>
            <a:pPr marL="0" indent="0" algn="r">
              <a:buNone/>
            </a:pPr>
            <a:r>
              <a:rPr lang="en-US" sz="1200" dirty="0">
                <a:solidFill>
                  <a:srgbClr val="B3B3B3"/>
                </a:solidFill>
                <a:latin typeface="PP Mori" pitchFamily="34" charset="0"/>
                <a:ea typeface="PP Mori" pitchFamily="34" charset="-122"/>
                <a:cs typeface="PP Mori" pitchFamily="34" charset="-120"/>
              </a:rPr>
              <a:t>Illustrative shape only. Not measured data.</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502920"/>
            <a:ext cx="5486400" cy="274320"/>
          </a:xfrm>
          <a:prstGeom prst="rect">
            <a:avLst/>
          </a:prstGeom>
          <a:noFill/>
          <a:ln/>
        </p:spPr>
        <p:txBody>
          <a:bodyPr wrap="square" lIns="0" tIns="0" rIns="0" bIns="0" rtlCol="0" anchor="t"/>
          <a:lstStyle/>
          <a:p>
            <a:pPr marL="0" indent="0">
              <a:buNone/>
            </a:pPr>
            <a:r>
              <a:rPr lang="en-US" sz="1400" kern="0" spc="150" dirty="0">
                <a:solidFill>
                  <a:schemeClr val="accent1"/>
                </a:solidFill>
                <a:latin typeface="Clash Display Semibold" pitchFamily="34" charset="0"/>
                <a:ea typeface="Clash Display Semibold" pitchFamily="34" charset="-122"/>
                <a:cs typeface="Clash Display Semibold" pitchFamily="34" charset="-120"/>
              </a:rPr>
              <a:t>‘HAUL’ OF SHAME</a:t>
            </a:r>
            <a:endParaRPr lang="en-US" sz="1400" dirty="0"/>
          </a:p>
        </p:txBody>
      </p:sp>
      <p:sp>
        <p:nvSpPr>
          <p:cNvPr id="3" name="Title"/>
          <p:cNvSpPr txBox="1"/>
          <p:nvPr/>
        </p:nvSpPr>
        <p:spPr>
          <a:xfrm>
            <a:off x="548640" y="868680"/>
            <a:ext cx="10789920" cy="731520"/>
          </a:xfrm>
          <a:prstGeom prst="rect">
            <a:avLst/>
          </a:prstGeom>
          <a:noFill/>
          <a:ln/>
        </p:spPr>
        <p:txBody>
          <a:bodyPr wrap="square" lIns="0" tIns="0" rIns="0" bIns="0" rtlCol="0" anchor="t"/>
          <a:lstStyle/>
          <a:p>
            <a:pPr marL="0" indent="0">
              <a:buNone/>
            </a:pPr>
            <a:r>
              <a:rPr lang="en-US" sz="3600" dirty="0">
                <a:solidFill>
                  <a:schemeClr val="bg1"/>
                </a:solidFill>
                <a:latin typeface="Clash Grotesk Medium" pitchFamily="34" charset="0"/>
              </a:rPr>
              <a:t>Examples of Building the Wrong thing the Right Way</a:t>
            </a:r>
            <a:endParaRPr lang="en-US" sz="3600" dirty="0"/>
          </a:p>
        </p:txBody>
      </p:sp>
      <p:sp>
        <p:nvSpPr>
          <p:cNvPr id="4" name="Case row 1"/>
          <p:cNvSpPr/>
          <p:nvPr/>
        </p:nvSpPr>
        <p:spPr>
          <a:xfrm>
            <a:off x="548640" y="1828800"/>
            <a:ext cx="11064240" cy="713232"/>
          </a:xfrm>
          <a:prstGeom prst="roundRect">
            <a:avLst>
              <a:gd name="adj" fmla="val 19231"/>
            </a:avLst>
          </a:prstGeom>
          <a:solidFill>
            <a:schemeClr val="tx2"/>
          </a:solidFill>
          <a:ln w="12700">
            <a:solidFill>
              <a:srgbClr val="262626"/>
            </a:solidFill>
            <a:prstDash val="solid"/>
          </a:ln>
        </p:spPr>
        <p:txBody>
          <a:bodyPr/>
          <a:lstStyle/>
          <a:p>
            <a:endParaRPr lang="en-GB"/>
          </a:p>
        </p:txBody>
      </p:sp>
      <p:sp>
        <p:nvSpPr>
          <p:cNvPr id="5" name="Case number 1"/>
          <p:cNvSpPr txBox="1"/>
          <p:nvPr/>
        </p:nvSpPr>
        <p:spPr>
          <a:xfrm>
            <a:off x="777240" y="1984248"/>
            <a:ext cx="640080" cy="411480"/>
          </a:xfrm>
          <a:prstGeom prst="rect">
            <a:avLst/>
          </a:prstGeom>
          <a:noFill/>
          <a:ln/>
        </p:spPr>
        <p:txBody>
          <a:bodyPr wrap="square" lIns="0" tIns="0" rIns="0" bIns="0" rtlCol="0" anchor="t"/>
          <a:lstStyle/>
          <a:p>
            <a:pPr marL="0" indent="0">
              <a:buNone/>
            </a:pPr>
            <a:r>
              <a:rPr lang="en-US" sz="2000" dirty="0">
                <a:solidFill>
                  <a:schemeClr val="accent1"/>
                </a:solidFill>
                <a:latin typeface="Clash Display Semibold" pitchFamily="34" charset="0"/>
                <a:ea typeface="Clash Display Semibold" pitchFamily="34" charset="-122"/>
                <a:cs typeface="Clash Display Semibold" pitchFamily="34" charset="-120"/>
              </a:rPr>
              <a:t>01</a:t>
            </a:r>
            <a:endParaRPr lang="en-US" sz="2000" dirty="0"/>
          </a:p>
        </p:txBody>
      </p:sp>
      <p:sp>
        <p:nvSpPr>
          <p:cNvPr id="6" name="Case name 1"/>
          <p:cNvSpPr txBox="1"/>
          <p:nvPr/>
        </p:nvSpPr>
        <p:spPr>
          <a:xfrm>
            <a:off x="1463040" y="1984248"/>
            <a:ext cx="3840480" cy="411480"/>
          </a:xfrm>
          <a:prstGeom prst="rect">
            <a:avLst/>
          </a:prstGeom>
          <a:noFill/>
          <a:ln/>
        </p:spPr>
        <p:txBody>
          <a:bodyPr wrap="square" lIns="0" tIns="0" rIns="0" bIns="0" rtlCol="0" anchor="ctr"/>
          <a:lstStyle/>
          <a:p>
            <a:pPr marL="0" indent="0">
              <a:buNone/>
            </a:pPr>
            <a:r>
              <a:rPr lang="en-US" sz="2000" dirty="0">
                <a:solidFill>
                  <a:schemeClr val="bg1"/>
                </a:solidFill>
                <a:latin typeface="Clash Grotesk Medium" pitchFamily="34" charset="0"/>
                <a:ea typeface="Clash Grotesk Medium" pitchFamily="34" charset="-122"/>
                <a:cs typeface="Clash Grotesk Medium" pitchFamily="34" charset="-120"/>
              </a:rPr>
              <a:t>Relay.app</a:t>
            </a:r>
            <a:endParaRPr lang="en-US" sz="2000" dirty="0"/>
          </a:p>
        </p:txBody>
      </p:sp>
      <p:sp>
        <p:nvSpPr>
          <p:cNvPr id="7" name="Case lesson 1"/>
          <p:cNvSpPr txBox="1"/>
          <p:nvPr/>
        </p:nvSpPr>
        <p:spPr>
          <a:xfrm>
            <a:off x="5349240" y="1984248"/>
            <a:ext cx="6263640" cy="411480"/>
          </a:xfrm>
          <a:prstGeom prst="rect">
            <a:avLst/>
          </a:prstGeom>
          <a:noFill/>
          <a:ln/>
        </p:spPr>
        <p:txBody>
          <a:bodyPr wrap="square" lIns="0" tIns="0" rIns="0" bIns="0" rtlCol="0" anchor="ctr"/>
          <a:lstStyle/>
          <a:p>
            <a:pPr marL="0" indent="0">
              <a:buNone/>
            </a:pPr>
            <a:r>
              <a:rPr lang="en-US" sz="1700" dirty="0">
                <a:solidFill>
                  <a:schemeClr val="accent1"/>
                </a:solidFill>
                <a:latin typeface="PP Mori" pitchFamily="34" charset="0"/>
                <a:ea typeface="PP Mori" pitchFamily="34" charset="-122"/>
                <a:cs typeface="PP Mori" pitchFamily="34" charset="-120"/>
              </a:rPr>
              <a:t>Differentiation</a:t>
            </a:r>
            <a:r>
              <a:rPr lang="en-US" sz="1700" dirty="0">
                <a:solidFill>
                  <a:srgbClr val="B3B3B3"/>
                </a:solidFill>
                <a:latin typeface="PP Mori" pitchFamily="34" charset="0"/>
                <a:ea typeface="PP Mori" pitchFamily="34" charset="-122"/>
                <a:cs typeface="PP Mori" pitchFamily="34" charset="-120"/>
              </a:rPr>
              <a:t> must keep being earned.</a:t>
            </a:r>
            <a:endParaRPr lang="en-US" sz="1700" dirty="0"/>
          </a:p>
        </p:txBody>
      </p:sp>
      <p:sp>
        <p:nvSpPr>
          <p:cNvPr id="8" name="Case row 2"/>
          <p:cNvSpPr/>
          <p:nvPr/>
        </p:nvSpPr>
        <p:spPr>
          <a:xfrm>
            <a:off x="548640" y="2670048"/>
            <a:ext cx="11064240" cy="713232"/>
          </a:xfrm>
          <a:prstGeom prst="roundRect">
            <a:avLst>
              <a:gd name="adj" fmla="val 19231"/>
            </a:avLst>
          </a:prstGeom>
          <a:solidFill>
            <a:schemeClr val="tx2"/>
          </a:solidFill>
          <a:ln w="12700">
            <a:solidFill>
              <a:srgbClr val="262626"/>
            </a:solidFill>
            <a:prstDash val="solid"/>
          </a:ln>
        </p:spPr>
        <p:txBody>
          <a:bodyPr/>
          <a:lstStyle/>
          <a:p>
            <a:endParaRPr lang="en-GB"/>
          </a:p>
        </p:txBody>
      </p:sp>
      <p:sp>
        <p:nvSpPr>
          <p:cNvPr id="9" name="Case number 2"/>
          <p:cNvSpPr txBox="1"/>
          <p:nvPr/>
        </p:nvSpPr>
        <p:spPr>
          <a:xfrm>
            <a:off x="777240" y="2825496"/>
            <a:ext cx="640080" cy="411480"/>
          </a:xfrm>
          <a:prstGeom prst="rect">
            <a:avLst/>
          </a:prstGeom>
          <a:noFill/>
          <a:ln/>
        </p:spPr>
        <p:txBody>
          <a:bodyPr wrap="square" lIns="0" tIns="0" rIns="0" bIns="0" rtlCol="0" anchor="t"/>
          <a:lstStyle/>
          <a:p>
            <a:pPr marL="0" indent="0">
              <a:buNone/>
            </a:pPr>
            <a:r>
              <a:rPr lang="en-US" sz="2000" dirty="0">
                <a:solidFill>
                  <a:schemeClr val="accent1"/>
                </a:solidFill>
                <a:latin typeface="Clash Display Semibold" pitchFamily="34" charset="0"/>
                <a:ea typeface="Clash Display Semibold" pitchFamily="34" charset="-122"/>
                <a:cs typeface="Clash Display Semibold" pitchFamily="34" charset="-120"/>
              </a:rPr>
              <a:t>02</a:t>
            </a:r>
            <a:endParaRPr lang="en-US" sz="2000" dirty="0"/>
          </a:p>
        </p:txBody>
      </p:sp>
      <p:sp>
        <p:nvSpPr>
          <p:cNvPr id="10" name="Case name 2"/>
          <p:cNvSpPr txBox="1"/>
          <p:nvPr/>
        </p:nvSpPr>
        <p:spPr>
          <a:xfrm>
            <a:off x="1463040" y="2825496"/>
            <a:ext cx="3840480" cy="411480"/>
          </a:xfrm>
          <a:prstGeom prst="rect">
            <a:avLst/>
          </a:prstGeom>
          <a:noFill/>
          <a:ln/>
        </p:spPr>
        <p:txBody>
          <a:bodyPr wrap="square" lIns="0" tIns="0" rIns="0" bIns="0" rtlCol="0" anchor="ctr"/>
          <a:lstStyle/>
          <a:p>
            <a:pPr marL="0" indent="0">
              <a:buNone/>
            </a:pPr>
            <a:r>
              <a:rPr lang="en-US" sz="2000" dirty="0">
                <a:solidFill>
                  <a:schemeClr val="bg1"/>
                </a:solidFill>
                <a:latin typeface="Clash Grotesk Medium" pitchFamily="34" charset="0"/>
                <a:ea typeface="Clash Grotesk Medium" pitchFamily="34" charset="-122"/>
                <a:cs typeface="Clash Grotesk Medium" pitchFamily="34" charset="-120"/>
              </a:rPr>
              <a:t>Humane AI Pin</a:t>
            </a:r>
            <a:endParaRPr lang="en-US" sz="2000" dirty="0"/>
          </a:p>
        </p:txBody>
      </p:sp>
      <p:sp>
        <p:nvSpPr>
          <p:cNvPr id="11" name="Case lesson 2"/>
          <p:cNvSpPr txBox="1"/>
          <p:nvPr/>
        </p:nvSpPr>
        <p:spPr>
          <a:xfrm>
            <a:off x="5349240" y="2825496"/>
            <a:ext cx="6263640" cy="411480"/>
          </a:xfrm>
          <a:prstGeom prst="rect">
            <a:avLst/>
          </a:prstGeom>
          <a:noFill/>
          <a:ln/>
        </p:spPr>
        <p:txBody>
          <a:bodyPr wrap="square" lIns="0" tIns="0" rIns="0" bIns="0" rtlCol="0" anchor="ctr"/>
          <a:lstStyle/>
          <a:p>
            <a:pPr marL="0" indent="0">
              <a:buNone/>
            </a:pPr>
            <a:r>
              <a:rPr lang="en-US" sz="1700" dirty="0">
                <a:solidFill>
                  <a:srgbClr val="B3B3B3"/>
                </a:solidFill>
                <a:latin typeface="PP Mori" pitchFamily="34" charset="0"/>
                <a:ea typeface="PP Mori" pitchFamily="34" charset="-122"/>
                <a:cs typeface="PP Mori" pitchFamily="34" charset="-120"/>
              </a:rPr>
              <a:t>Novelty does not equal </a:t>
            </a:r>
            <a:r>
              <a:rPr lang="en-US" sz="1700" dirty="0">
                <a:solidFill>
                  <a:schemeClr val="accent1"/>
                </a:solidFill>
                <a:latin typeface="PP Mori" pitchFamily="34" charset="0"/>
                <a:ea typeface="PP Mori" pitchFamily="34" charset="-122"/>
                <a:cs typeface="PP Mori" pitchFamily="34" charset="-120"/>
              </a:rPr>
              <a:t>customer value</a:t>
            </a:r>
            <a:r>
              <a:rPr lang="en-US" sz="1700" dirty="0">
                <a:solidFill>
                  <a:srgbClr val="B3B3B3"/>
                </a:solidFill>
                <a:latin typeface="PP Mori" pitchFamily="34" charset="0"/>
                <a:ea typeface="PP Mori" pitchFamily="34" charset="-122"/>
                <a:cs typeface="PP Mori" pitchFamily="34" charset="-120"/>
              </a:rPr>
              <a:t>.</a:t>
            </a:r>
            <a:endParaRPr lang="en-US" sz="1700" dirty="0"/>
          </a:p>
        </p:txBody>
      </p:sp>
      <p:sp>
        <p:nvSpPr>
          <p:cNvPr id="12" name="Case row 3"/>
          <p:cNvSpPr/>
          <p:nvPr/>
        </p:nvSpPr>
        <p:spPr>
          <a:xfrm>
            <a:off x="548640" y="3511296"/>
            <a:ext cx="11064240" cy="713232"/>
          </a:xfrm>
          <a:prstGeom prst="roundRect">
            <a:avLst>
              <a:gd name="adj" fmla="val 19231"/>
            </a:avLst>
          </a:prstGeom>
          <a:solidFill>
            <a:schemeClr val="tx2"/>
          </a:solidFill>
          <a:ln w="12700">
            <a:solidFill>
              <a:srgbClr val="262626"/>
            </a:solidFill>
            <a:prstDash val="solid"/>
          </a:ln>
        </p:spPr>
        <p:txBody>
          <a:bodyPr/>
          <a:lstStyle/>
          <a:p>
            <a:endParaRPr lang="en-GB"/>
          </a:p>
        </p:txBody>
      </p:sp>
      <p:sp>
        <p:nvSpPr>
          <p:cNvPr id="13" name="Case number 3"/>
          <p:cNvSpPr txBox="1"/>
          <p:nvPr/>
        </p:nvSpPr>
        <p:spPr>
          <a:xfrm>
            <a:off x="777240" y="3666744"/>
            <a:ext cx="640080" cy="411480"/>
          </a:xfrm>
          <a:prstGeom prst="rect">
            <a:avLst/>
          </a:prstGeom>
          <a:noFill/>
          <a:ln/>
        </p:spPr>
        <p:txBody>
          <a:bodyPr wrap="square" lIns="0" tIns="0" rIns="0" bIns="0" rtlCol="0" anchor="t"/>
          <a:lstStyle/>
          <a:p>
            <a:pPr marL="0" indent="0">
              <a:buNone/>
            </a:pPr>
            <a:r>
              <a:rPr lang="en-US" sz="2000" dirty="0">
                <a:solidFill>
                  <a:schemeClr val="accent1"/>
                </a:solidFill>
                <a:latin typeface="Clash Display Semibold" pitchFamily="34" charset="0"/>
                <a:ea typeface="Clash Display Semibold" pitchFamily="34" charset="-122"/>
                <a:cs typeface="Clash Display Semibold" pitchFamily="34" charset="-120"/>
              </a:rPr>
              <a:t>03</a:t>
            </a:r>
            <a:endParaRPr lang="en-US" sz="2000" dirty="0"/>
          </a:p>
        </p:txBody>
      </p:sp>
      <p:sp>
        <p:nvSpPr>
          <p:cNvPr id="14" name="Case name 3"/>
          <p:cNvSpPr txBox="1"/>
          <p:nvPr/>
        </p:nvSpPr>
        <p:spPr>
          <a:xfrm>
            <a:off x="1463040" y="3666744"/>
            <a:ext cx="3840480" cy="411480"/>
          </a:xfrm>
          <a:prstGeom prst="rect">
            <a:avLst/>
          </a:prstGeom>
          <a:noFill/>
          <a:ln/>
        </p:spPr>
        <p:txBody>
          <a:bodyPr wrap="square" lIns="0" tIns="0" rIns="0" bIns="0" rtlCol="0" anchor="ctr"/>
          <a:lstStyle/>
          <a:p>
            <a:pPr marL="0" indent="0">
              <a:buNone/>
            </a:pPr>
            <a:r>
              <a:rPr lang="en-US" sz="2000" dirty="0">
                <a:solidFill>
                  <a:schemeClr val="bg1"/>
                </a:solidFill>
                <a:latin typeface="Clash Grotesk Medium" pitchFamily="34" charset="0"/>
                <a:ea typeface="Clash Grotesk Medium" pitchFamily="34" charset="-122"/>
                <a:cs typeface="Clash Grotesk Medium" pitchFamily="34" charset="-120"/>
              </a:rPr>
              <a:t>Google Gemini image generation</a:t>
            </a:r>
            <a:endParaRPr lang="en-US" sz="2000" dirty="0"/>
          </a:p>
        </p:txBody>
      </p:sp>
      <p:sp>
        <p:nvSpPr>
          <p:cNvPr id="15" name="Case lesson 3"/>
          <p:cNvSpPr txBox="1"/>
          <p:nvPr/>
        </p:nvSpPr>
        <p:spPr>
          <a:xfrm>
            <a:off x="5349240" y="3666744"/>
            <a:ext cx="6263640" cy="411480"/>
          </a:xfrm>
          <a:prstGeom prst="rect">
            <a:avLst/>
          </a:prstGeom>
          <a:noFill/>
          <a:ln/>
        </p:spPr>
        <p:txBody>
          <a:bodyPr wrap="square" lIns="0" tIns="0" rIns="0" bIns="0" rtlCol="0" anchor="ctr"/>
          <a:lstStyle/>
          <a:p>
            <a:pPr marL="0" indent="0">
              <a:buNone/>
            </a:pPr>
            <a:r>
              <a:rPr lang="en-US" sz="1700" dirty="0">
                <a:solidFill>
                  <a:schemeClr val="accent1"/>
                </a:solidFill>
                <a:latin typeface="PP Mori" pitchFamily="34" charset="0"/>
                <a:ea typeface="PP Mori" pitchFamily="34" charset="-122"/>
                <a:cs typeface="PP Mori" pitchFamily="34" charset="-120"/>
              </a:rPr>
              <a:t>Optimizing</a:t>
            </a:r>
            <a:r>
              <a:rPr lang="en-US" sz="1700" dirty="0">
                <a:solidFill>
                  <a:srgbClr val="B3B3B3"/>
                </a:solidFill>
                <a:latin typeface="PP Mori" pitchFamily="34" charset="0"/>
                <a:ea typeface="PP Mori" pitchFamily="34" charset="-122"/>
                <a:cs typeface="PP Mori" pitchFamily="34" charset="-120"/>
              </a:rPr>
              <a:t> one thing can break another.</a:t>
            </a:r>
            <a:endParaRPr lang="en-US" sz="1700" dirty="0"/>
          </a:p>
        </p:txBody>
      </p:sp>
      <p:sp>
        <p:nvSpPr>
          <p:cNvPr id="16" name="Case row 4"/>
          <p:cNvSpPr/>
          <p:nvPr/>
        </p:nvSpPr>
        <p:spPr>
          <a:xfrm>
            <a:off x="548640" y="4352544"/>
            <a:ext cx="11064240" cy="713232"/>
          </a:xfrm>
          <a:prstGeom prst="roundRect">
            <a:avLst>
              <a:gd name="adj" fmla="val 19231"/>
            </a:avLst>
          </a:prstGeom>
          <a:solidFill>
            <a:schemeClr val="tx2"/>
          </a:solidFill>
          <a:ln w="12700">
            <a:solidFill>
              <a:srgbClr val="262626"/>
            </a:solidFill>
            <a:prstDash val="solid"/>
          </a:ln>
        </p:spPr>
        <p:txBody>
          <a:bodyPr/>
          <a:lstStyle/>
          <a:p>
            <a:endParaRPr lang="en-GB"/>
          </a:p>
        </p:txBody>
      </p:sp>
      <p:sp>
        <p:nvSpPr>
          <p:cNvPr id="17" name="Case number 4"/>
          <p:cNvSpPr txBox="1"/>
          <p:nvPr/>
        </p:nvSpPr>
        <p:spPr>
          <a:xfrm>
            <a:off x="777240" y="4507992"/>
            <a:ext cx="640080" cy="411480"/>
          </a:xfrm>
          <a:prstGeom prst="rect">
            <a:avLst/>
          </a:prstGeom>
          <a:noFill/>
          <a:ln/>
        </p:spPr>
        <p:txBody>
          <a:bodyPr wrap="square" lIns="0" tIns="0" rIns="0" bIns="0" rtlCol="0" anchor="t"/>
          <a:lstStyle/>
          <a:p>
            <a:pPr marL="0" indent="0">
              <a:buNone/>
            </a:pPr>
            <a:r>
              <a:rPr lang="en-US" sz="2000" dirty="0">
                <a:solidFill>
                  <a:schemeClr val="accent1"/>
                </a:solidFill>
                <a:latin typeface="Clash Display Semibold" pitchFamily="34" charset="0"/>
                <a:ea typeface="Clash Display Semibold" pitchFamily="34" charset="-122"/>
                <a:cs typeface="Clash Display Semibold" pitchFamily="34" charset="-120"/>
              </a:rPr>
              <a:t>04</a:t>
            </a:r>
            <a:endParaRPr lang="en-US" sz="2000" dirty="0"/>
          </a:p>
        </p:txBody>
      </p:sp>
      <p:sp>
        <p:nvSpPr>
          <p:cNvPr id="18" name="Case name 4"/>
          <p:cNvSpPr txBox="1"/>
          <p:nvPr/>
        </p:nvSpPr>
        <p:spPr>
          <a:xfrm>
            <a:off x="1463040" y="4507992"/>
            <a:ext cx="3840480" cy="411480"/>
          </a:xfrm>
          <a:prstGeom prst="rect">
            <a:avLst/>
          </a:prstGeom>
          <a:noFill/>
          <a:ln/>
        </p:spPr>
        <p:txBody>
          <a:bodyPr wrap="square" lIns="0" tIns="0" rIns="0" bIns="0" rtlCol="0" anchor="ctr"/>
          <a:lstStyle/>
          <a:p>
            <a:pPr marL="0" indent="0">
              <a:buNone/>
            </a:pPr>
            <a:r>
              <a:rPr lang="en-US" sz="2000" dirty="0">
                <a:solidFill>
                  <a:schemeClr val="bg1"/>
                </a:solidFill>
                <a:latin typeface="Clash Grotesk Medium" pitchFamily="34" charset="0"/>
                <a:ea typeface="Clash Grotesk Medium" pitchFamily="34" charset="-122"/>
                <a:cs typeface="Clash Grotesk Medium" pitchFamily="34" charset="-120"/>
              </a:rPr>
              <a:t>Air Canada chatbot</a:t>
            </a:r>
            <a:endParaRPr lang="en-US" sz="2000" dirty="0"/>
          </a:p>
        </p:txBody>
      </p:sp>
      <p:sp>
        <p:nvSpPr>
          <p:cNvPr id="19" name="Case lesson 4"/>
          <p:cNvSpPr txBox="1"/>
          <p:nvPr/>
        </p:nvSpPr>
        <p:spPr>
          <a:xfrm>
            <a:off x="5349240" y="4507992"/>
            <a:ext cx="6263640" cy="411480"/>
          </a:xfrm>
          <a:prstGeom prst="rect">
            <a:avLst/>
          </a:prstGeom>
          <a:noFill/>
          <a:ln/>
        </p:spPr>
        <p:txBody>
          <a:bodyPr wrap="square" lIns="0" tIns="0" rIns="0" bIns="0" rtlCol="0" anchor="ctr"/>
          <a:lstStyle/>
          <a:p>
            <a:pPr marL="0" indent="0">
              <a:buNone/>
            </a:pPr>
            <a:r>
              <a:rPr lang="en-US" sz="1700" dirty="0">
                <a:solidFill>
                  <a:srgbClr val="B3B3B3"/>
                </a:solidFill>
                <a:latin typeface="PP Mori" pitchFamily="34" charset="0"/>
                <a:ea typeface="PP Mori" pitchFamily="34" charset="-122"/>
                <a:cs typeface="PP Mori" pitchFamily="34" charset="-120"/>
              </a:rPr>
              <a:t>Automation does not outsource </a:t>
            </a:r>
            <a:r>
              <a:rPr lang="en-US" sz="1700" dirty="0">
                <a:solidFill>
                  <a:schemeClr val="accent1"/>
                </a:solidFill>
                <a:latin typeface="PP Mori" pitchFamily="34" charset="0"/>
                <a:ea typeface="PP Mori" pitchFamily="34" charset="-122"/>
                <a:cs typeface="PP Mori" pitchFamily="34" charset="-120"/>
              </a:rPr>
              <a:t>accountability</a:t>
            </a:r>
            <a:r>
              <a:rPr lang="en-US" sz="1700" dirty="0">
                <a:solidFill>
                  <a:srgbClr val="B3B3B3"/>
                </a:solidFill>
                <a:latin typeface="PP Mori" pitchFamily="34" charset="0"/>
                <a:ea typeface="PP Mori" pitchFamily="34" charset="-122"/>
                <a:cs typeface="PP Mori" pitchFamily="34" charset="-120"/>
              </a:rPr>
              <a:t>.</a:t>
            </a:r>
            <a:endParaRPr lang="en-US" sz="1700" dirty="0"/>
          </a:p>
        </p:txBody>
      </p:sp>
      <p:sp>
        <p:nvSpPr>
          <p:cNvPr id="20" name="Case row 5"/>
          <p:cNvSpPr/>
          <p:nvPr/>
        </p:nvSpPr>
        <p:spPr>
          <a:xfrm>
            <a:off x="548640" y="5193792"/>
            <a:ext cx="11064240" cy="713232"/>
          </a:xfrm>
          <a:prstGeom prst="roundRect">
            <a:avLst>
              <a:gd name="adj" fmla="val 19231"/>
            </a:avLst>
          </a:prstGeom>
          <a:solidFill>
            <a:schemeClr val="tx2"/>
          </a:solidFill>
          <a:ln w="12700">
            <a:solidFill>
              <a:srgbClr val="262626"/>
            </a:solidFill>
            <a:prstDash val="solid"/>
          </a:ln>
        </p:spPr>
        <p:txBody>
          <a:bodyPr/>
          <a:lstStyle/>
          <a:p>
            <a:endParaRPr lang="en-GB"/>
          </a:p>
        </p:txBody>
      </p:sp>
      <p:sp>
        <p:nvSpPr>
          <p:cNvPr id="21" name="Case number 5"/>
          <p:cNvSpPr txBox="1"/>
          <p:nvPr/>
        </p:nvSpPr>
        <p:spPr>
          <a:xfrm>
            <a:off x="777240" y="5349240"/>
            <a:ext cx="640080" cy="411480"/>
          </a:xfrm>
          <a:prstGeom prst="rect">
            <a:avLst/>
          </a:prstGeom>
          <a:noFill/>
          <a:ln/>
        </p:spPr>
        <p:txBody>
          <a:bodyPr wrap="square" lIns="0" tIns="0" rIns="0" bIns="0" rtlCol="0" anchor="t"/>
          <a:lstStyle/>
          <a:p>
            <a:pPr marL="0" indent="0">
              <a:buNone/>
            </a:pPr>
            <a:r>
              <a:rPr lang="en-US" sz="2000" dirty="0">
                <a:solidFill>
                  <a:schemeClr val="accent1"/>
                </a:solidFill>
                <a:latin typeface="Clash Display Semibold" pitchFamily="34" charset="0"/>
                <a:ea typeface="Clash Display Semibold" pitchFamily="34" charset="-122"/>
                <a:cs typeface="Clash Display Semibold" pitchFamily="34" charset="-120"/>
              </a:rPr>
              <a:t>05</a:t>
            </a:r>
            <a:endParaRPr lang="en-US" sz="2000" dirty="0"/>
          </a:p>
        </p:txBody>
      </p:sp>
      <p:sp>
        <p:nvSpPr>
          <p:cNvPr id="22" name="Case name 5"/>
          <p:cNvSpPr txBox="1"/>
          <p:nvPr/>
        </p:nvSpPr>
        <p:spPr>
          <a:xfrm>
            <a:off x="1463040" y="5349240"/>
            <a:ext cx="3840480" cy="411480"/>
          </a:xfrm>
          <a:prstGeom prst="rect">
            <a:avLst/>
          </a:prstGeom>
          <a:noFill/>
          <a:ln/>
        </p:spPr>
        <p:txBody>
          <a:bodyPr wrap="square" lIns="0" tIns="0" rIns="0" bIns="0" rtlCol="0" anchor="ctr"/>
          <a:lstStyle/>
          <a:p>
            <a:pPr marL="0" indent="0">
              <a:buNone/>
            </a:pPr>
            <a:r>
              <a:rPr lang="en-US" sz="2000" dirty="0">
                <a:solidFill>
                  <a:schemeClr val="bg1"/>
                </a:solidFill>
                <a:latin typeface="Clash Grotesk Medium" pitchFamily="34" charset="0"/>
                <a:ea typeface="Clash Grotesk Medium" pitchFamily="34" charset="-122"/>
                <a:cs typeface="Clash Grotesk Medium" pitchFamily="34" charset="-120"/>
              </a:rPr>
              <a:t>Zillow Offers</a:t>
            </a:r>
            <a:endParaRPr lang="en-US" sz="2000" dirty="0"/>
          </a:p>
        </p:txBody>
      </p:sp>
      <p:sp>
        <p:nvSpPr>
          <p:cNvPr id="23" name="Case lesson 5"/>
          <p:cNvSpPr txBox="1"/>
          <p:nvPr/>
        </p:nvSpPr>
        <p:spPr>
          <a:xfrm>
            <a:off x="5349240" y="5349240"/>
            <a:ext cx="6263640" cy="411480"/>
          </a:xfrm>
          <a:prstGeom prst="rect">
            <a:avLst/>
          </a:prstGeom>
          <a:noFill/>
          <a:ln/>
        </p:spPr>
        <p:txBody>
          <a:bodyPr wrap="square" lIns="0" tIns="0" rIns="0" bIns="0" rtlCol="0" anchor="ctr"/>
          <a:lstStyle/>
          <a:p>
            <a:pPr marL="0" indent="0">
              <a:buNone/>
            </a:pPr>
            <a:r>
              <a:rPr lang="en-US" sz="1700" dirty="0">
                <a:solidFill>
                  <a:srgbClr val="B3B3B3"/>
                </a:solidFill>
                <a:latin typeface="PP Mori" pitchFamily="34" charset="0"/>
                <a:ea typeface="PP Mori" pitchFamily="34" charset="-122"/>
                <a:cs typeface="PP Mori" pitchFamily="34" charset="-120"/>
              </a:rPr>
              <a:t>Model performance does not guarantee business </a:t>
            </a:r>
            <a:r>
              <a:rPr lang="en-US" sz="1700" dirty="0">
                <a:solidFill>
                  <a:schemeClr val="accent1"/>
                </a:solidFill>
                <a:latin typeface="PP Mori" pitchFamily="34" charset="0"/>
                <a:ea typeface="PP Mori" pitchFamily="34" charset="-122"/>
                <a:cs typeface="PP Mori" pitchFamily="34" charset="-120"/>
              </a:rPr>
              <a:t>viability</a:t>
            </a:r>
            <a:r>
              <a:rPr lang="en-US" sz="1700" dirty="0">
                <a:solidFill>
                  <a:srgbClr val="B3B3B3"/>
                </a:solidFill>
                <a:latin typeface="PP Mori" pitchFamily="34" charset="0"/>
                <a:ea typeface="PP Mori" pitchFamily="34" charset="-122"/>
                <a:cs typeface="PP Mori" pitchFamily="34" charset="-120"/>
              </a:rPr>
              <a:t>.</a:t>
            </a:r>
            <a:endParaRPr lang="en-US" sz="17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marL="0" indent="0" algn="ctr">
              <a:buNone/>
            </a:pPr>
            <a:r>
              <a:rPr lang="en-US" sz="6600" dirty="0">
                <a:solidFill>
                  <a:schemeClr val="bg1"/>
                </a:solidFill>
                <a:latin typeface="FR Kraken Slab Medium" pitchFamily="34" charset="0"/>
                <a:ea typeface="FR Kraken Slab Medium" pitchFamily="34" charset="-122"/>
                <a:cs typeface="FR Kraken Slab Medium" pitchFamily="34" charset="-120"/>
              </a:rPr>
              <a:t>What problem are we solving, </a:t>
            </a:r>
            <a:r>
              <a:rPr lang="en-US" sz="6600" dirty="0">
                <a:solidFill>
                  <a:schemeClr val="accent1"/>
                </a:solidFill>
                <a:latin typeface="FR Kraken Slab Medium" pitchFamily="34" charset="0"/>
                <a:ea typeface="FR Kraken Slab Medium" pitchFamily="34" charset="-122"/>
                <a:cs typeface="FR Kraken Slab Medium" pitchFamily="34" charset="-120"/>
              </a:rPr>
              <a:t>and for whom?</a:t>
            </a:r>
            <a:endParaRPr lang="en-US" sz="6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marL="0" indent="0">
              <a:buNone/>
            </a:pPr>
            <a:r>
              <a:rPr lang="en-US" sz="8000" dirty="0">
                <a:solidFill>
                  <a:schemeClr val="accent1"/>
                </a:solidFill>
                <a:latin typeface="Clash Display Semibold" pitchFamily="34" charset="0"/>
                <a:ea typeface="Clash Display Semibold" pitchFamily="34" charset="-122"/>
                <a:cs typeface="Clash Display Semibold" pitchFamily="34" charset="-120"/>
              </a:rPr>
              <a:t>01</a:t>
            </a:r>
            <a:endParaRPr lang="en-US" sz="8000" dirty="0"/>
          </a:p>
        </p:txBody>
      </p:sp>
      <p:sp>
        <p:nvSpPr>
          <p:cNvPr id="3" name="Text 0"/>
          <p:cNvSpPr>
            <a:spLocks noGrp="1"/>
          </p:cNvSpPr>
          <p:nvPr>
            <p:ph type="title" idx="101" hasCustomPrompt="1"/>
          </p:nvPr>
        </p:nvSpPr>
        <p:spPr>
          <a:xfrm>
            <a:off x="548640" y="1600200"/>
            <a:ext cx="5212080" cy="1143000"/>
          </a:xfrm>
          <a:prstGeom prst="rect">
            <a:avLst/>
          </a:prstGeom>
          <a:noFill/>
          <a:ln/>
        </p:spPr>
        <p:txBody>
          <a:bodyPr wrap="square" lIns="0" tIns="0" rIns="0" bIns="0" rtlCol="0" anchor="t"/>
          <a:lstStyle/>
          <a:p>
            <a:pPr marL="0" indent="0" algn="l">
              <a:buNone/>
            </a:pPr>
            <a:r>
              <a:rPr lang="en-US" sz="4000" dirty="0">
                <a:solidFill>
                  <a:schemeClr val="bg1"/>
                </a:solidFill>
                <a:latin typeface="Clash Grotesk Medium" pitchFamily="34" charset="0"/>
                <a:ea typeface="Clash Grotesk Medium" pitchFamily="34" charset="-122"/>
                <a:cs typeface="Clash Grotesk Medium" pitchFamily="34" charset="-120"/>
              </a:rPr>
              <a:t>Market Intel</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marL="0" indent="0">
              <a:lnSpc>
                <a:spcPct val="110000"/>
              </a:lnSpc>
              <a:buNone/>
            </a:pPr>
            <a:r>
              <a:rPr lang="en-US" sz="2200" dirty="0">
                <a:solidFill>
                  <a:schemeClr val="bg1"/>
                </a:solidFill>
                <a:latin typeface="PP Mori" pitchFamily="34" charset="0"/>
                <a:ea typeface="PP Mori" pitchFamily="34" charset="-122"/>
                <a:cs typeface="PP Mori" pitchFamily="34" charset="-120"/>
              </a:rPr>
              <a:t>What is the landscape, and how much of what we know is evidence?</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MARKET INTELLIGENCE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800" dirty="0">
                <a:solidFill>
                  <a:schemeClr val="accent1"/>
                </a:solidFill>
                <a:latin typeface="PP Mori" pitchFamily="34" charset="0"/>
                <a:ea typeface="PP Mori" pitchFamily="34" charset="-122"/>
                <a:cs typeface="PP Mori" pitchFamily="34" charset="-120"/>
              </a:rPr>
              <a:t>A market sweep is not a segment.</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txBody>
          <a:bodyPr/>
          <a:lstStyle/>
          <a:p>
            <a:endParaRPr lang="en-GB"/>
          </a:p>
        </p:txBody>
      </p:sp>
      <p:sp>
        <p:nvSpPr>
          <p:cNvPr id="8" name="Handoff card"/>
          <p:cNvSpPr/>
          <p:nvPr/>
        </p:nvSpPr>
        <p:spPr>
          <a:xfrm>
            <a:off x="6537960" y="822960"/>
            <a:ext cx="4846320" cy="2926080"/>
          </a:xfrm>
          <a:prstGeom prst="roundRect">
            <a:avLst>
              <a:gd name="adj" fmla="val 5625"/>
            </a:avLst>
          </a:prstGeom>
          <a:solidFill>
            <a:schemeClr val="bg1"/>
          </a:solidFill>
          <a:ln w="12700">
            <a:solidFill>
              <a:schemeClr val="bg1"/>
            </a:solidFill>
            <a:prstDash val="solid"/>
          </a:ln>
        </p:spPr>
        <p:txBody>
          <a:bodyPr/>
          <a:lstStyle/>
          <a:p>
            <a:endParaRPr lang="en-GB"/>
          </a:p>
        </p:txBody>
      </p:sp>
      <p:sp>
        <p:nvSpPr>
          <p:cNvPr id="9" name="Handoff card label"/>
          <p:cNvSpPr txBox="1"/>
          <p:nvPr/>
        </p:nvSpPr>
        <p:spPr>
          <a:xfrm>
            <a:off x="6766560" y="1005840"/>
            <a:ext cx="2743200" cy="274320"/>
          </a:xfrm>
          <a:prstGeom prst="rect">
            <a:avLst/>
          </a:prstGeom>
          <a:noFill/>
          <a:ln/>
        </p:spPr>
        <p:txBody>
          <a:bodyPr wrap="square" lIns="0" tIns="0" rIns="0" bIns="0" rtlCol="0" anchor="t"/>
          <a:lstStyle/>
          <a:p>
            <a:pPr marL="0" indent="0">
              <a:buNone/>
            </a:pPr>
            <a:r>
              <a:rPr lang="en-US" sz="1400" kern="0" spc="150" dirty="0">
                <a:solidFill>
                  <a:srgbClr val="007A3D"/>
                </a:solidFill>
                <a:latin typeface="Clash Display Semibold" pitchFamily="34" charset="0"/>
                <a:ea typeface="Clash Display Semibold" pitchFamily="34" charset="-122"/>
                <a:cs typeface="Clash Display Semibold" pitchFamily="34" charset="-120"/>
              </a:rPr>
              <a:t>HANDOFF CARD</a:t>
            </a:r>
            <a:endParaRPr lang="en-US" sz="1400" dirty="0"/>
          </a:p>
        </p:txBody>
      </p:sp>
      <p:sp>
        <p:nvSpPr>
          <p:cNvPr id="10" name="Field Target"/>
          <p:cNvSpPr/>
          <p:nvPr/>
        </p:nvSpPr>
        <p:spPr>
          <a:xfrm>
            <a:off x="6766560" y="1417320"/>
            <a:ext cx="2080260" cy="579120"/>
          </a:xfrm>
          <a:prstGeom prst="roundRect">
            <a:avLst>
              <a:gd name="adj" fmla="val 12632"/>
            </a:avLst>
          </a:prstGeom>
          <a:solidFill>
            <a:srgbClr val="F4F4F4"/>
          </a:solidFill>
          <a:ln w="12700">
            <a:solidFill>
              <a:srgbClr val="D0D0D0"/>
            </a:solidFill>
            <a:prstDash val="solid"/>
          </a:ln>
        </p:spPr>
        <p:txBody>
          <a:bodyPr/>
          <a:lstStyle/>
          <a:p>
            <a:endParaRPr lang="en-GB"/>
          </a:p>
        </p:txBody>
      </p:sp>
      <p:sp>
        <p:nvSpPr>
          <p:cNvPr id="11" name="Text 9"/>
          <p:cNvSpPr txBox="1"/>
          <p:nvPr/>
        </p:nvSpPr>
        <p:spPr>
          <a:xfrm>
            <a:off x="6876288" y="1508760"/>
            <a:ext cx="1860804" cy="274320"/>
          </a:xfrm>
          <a:prstGeom prst="rect">
            <a:avLst/>
          </a:prstGeom>
          <a:noFill/>
          <a:ln/>
        </p:spPr>
        <p:txBody>
          <a:bodyPr wrap="square" lIns="0" tIns="0" rIns="0" bIns="0" rtlCol="0" anchor="t"/>
          <a:lstStyle/>
          <a:p>
            <a:pPr marL="0" indent="0">
              <a:buNone/>
            </a:pPr>
            <a:r>
              <a:rPr lang="en-US" sz="1400" kern="0" spc="100" dirty="0">
                <a:solidFill>
                  <a:srgbClr val="5A5A5A"/>
                </a:solidFill>
                <a:latin typeface="Clash Display Semibold" pitchFamily="34" charset="0"/>
                <a:ea typeface="Clash Display Semibold" pitchFamily="34" charset="-122"/>
                <a:cs typeface="Clash Display Semibold" pitchFamily="34" charset="-120"/>
              </a:rPr>
              <a:t>TARGET</a:t>
            </a:r>
            <a:endParaRPr lang="en-US" sz="1400" dirty="0"/>
          </a:p>
        </p:txBody>
      </p:sp>
      <p:sp>
        <p:nvSpPr>
          <p:cNvPr id="12" name="Field Belief"/>
          <p:cNvSpPr/>
          <p:nvPr/>
        </p:nvSpPr>
        <p:spPr>
          <a:xfrm>
            <a:off x="9075420" y="1417320"/>
            <a:ext cx="2080260" cy="579120"/>
          </a:xfrm>
          <a:prstGeom prst="roundRect">
            <a:avLst>
              <a:gd name="adj" fmla="val 12632"/>
            </a:avLst>
          </a:prstGeom>
          <a:solidFill>
            <a:srgbClr val="F4F4F4"/>
          </a:solidFill>
          <a:ln w="12700">
            <a:solidFill>
              <a:srgbClr val="D0D0D0"/>
            </a:solidFill>
            <a:prstDash val="solid"/>
          </a:ln>
        </p:spPr>
        <p:txBody>
          <a:bodyPr/>
          <a:lstStyle/>
          <a:p>
            <a:endParaRPr lang="en-GB"/>
          </a:p>
        </p:txBody>
      </p:sp>
      <p:sp>
        <p:nvSpPr>
          <p:cNvPr id="13" name="Text 11"/>
          <p:cNvSpPr txBox="1"/>
          <p:nvPr/>
        </p:nvSpPr>
        <p:spPr>
          <a:xfrm>
            <a:off x="9185148" y="1508760"/>
            <a:ext cx="1860804" cy="274320"/>
          </a:xfrm>
          <a:prstGeom prst="rect">
            <a:avLst/>
          </a:prstGeom>
          <a:noFill/>
          <a:ln/>
        </p:spPr>
        <p:txBody>
          <a:bodyPr wrap="square" lIns="0" tIns="0" rIns="0" bIns="0" rtlCol="0" anchor="t"/>
          <a:lstStyle/>
          <a:p>
            <a:pPr marL="0" indent="0">
              <a:buNone/>
            </a:pPr>
            <a:r>
              <a:rPr lang="en-US" sz="1400" kern="0" spc="100" dirty="0">
                <a:solidFill>
                  <a:srgbClr val="5A5A5A"/>
                </a:solidFill>
                <a:latin typeface="Clash Display Semibold" pitchFamily="34" charset="0"/>
                <a:ea typeface="Clash Display Semibold" pitchFamily="34" charset="-122"/>
                <a:cs typeface="Clash Display Semibold" pitchFamily="34" charset="-120"/>
              </a:rPr>
              <a:t>BELIEF</a:t>
            </a:r>
            <a:endParaRPr lang="en-US" sz="1400" dirty="0"/>
          </a:p>
        </p:txBody>
      </p:sp>
      <p:sp>
        <p:nvSpPr>
          <p:cNvPr id="14" name="Field Evidence"/>
          <p:cNvSpPr/>
          <p:nvPr/>
        </p:nvSpPr>
        <p:spPr>
          <a:xfrm>
            <a:off x="6766560" y="2133600"/>
            <a:ext cx="2080260" cy="579120"/>
          </a:xfrm>
          <a:prstGeom prst="roundRect">
            <a:avLst>
              <a:gd name="adj" fmla="val 12632"/>
            </a:avLst>
          </a:prstGeom>
          <a:solidFill>
            <a:srgbClr val="F4F4F4"/>
          </a:solidFill>
          <a:ln w="12700">
            <a:solidFill>
              <a:srgbClr val="D0D0D0"/>
            </a:solidFill>
            <a:prstDash val="solid"/>
          </a:ln>
        </p:spPr>
        <p:txBody>
          <a:bodyPr/>
          <a:lstStyle/>
          <a:p>
            <a:endParaRPr lang="en-GB"/>
          </a:p>
        </p:txBody>
      </p:sp>
      <p:sp>
        <p:nvSpPr>
          <p:cNvPr id="15" name="Text 13"/>
          <p:cNvSpPr txBox="1"/>
          <p:nvPr/>
        </p:nvSpPr>
        <p:spPr>
          <a:xfrm>
            <a:off x="6876288" y="2225040"/>
            <a:ext cx="1860804" cy="274320"/>
          </a:xfrm>
          <a:prstGeom prst="rect">
            <a:avLst/>
          </a:prstGeom>
          <a:noFill/>
          <a:ln/>
        </p:spPr>
        <p:txBody>
          <a:bodyPr wrap="square" lIns="0" tIns="0" rIns="0" bIns="0" rtlCol="0" anchor="t"/>
          <a:lstStyle/>
          <a:p>
            <a:pPr marL="0" indent="0">
              <a:buNone/>
            </a:pPr>
            <a:r>
              <a:rPr lang="en-US" sz="1400" kern="0" spc="100" dirty="0">
                <a:solidFill>
                  <a:srgbClr val="5A5A5A"/>
                </a:solidFill>
                <a:latin typeface="Clash Display Semibold" pitchFamily="34" charset="0"/>
                <a:ea typeface="Clash Display Semibold" pitchFamily="34" charset="-122"/>
                <a:cs typeface="Clash Display Semibold" pitchFamily="34" charset="-120"/>
              </a:rPr>
              <a:t>EVIDENCE</a:t>
            </a:r>
            <a:endParaRPr lang="en-US" sz="1400" dirty="0"/>
          </a:p>
        </p:txBody>
      </p:sp>
      <p:sp>
        <p:nvSpPr>
          <p:cNvPr id="16" name="Field Inferred"/>
          <p:cNvSpPr/>
          <p:nvPr/>
        </p:nvSpPr>
        <p:spPr>
          <a:xfrm>
            <a:off x="9075420" y="2133600"/>
            <a:ext cx="2080260" cy="579120"/>
          </a:xfrm>
          <a:prstGeom prst="roundRect">
            <a:avLst>
              <a:gd name="adj" fmla="val 12632"/>
            </a:avLst>
          </a:prstGeom>
          <a:solidFill>
            <a:srgbClr val="F4F4F4"/>
          </a:solidFill>
          <a:ln w="12700">
            <a:solidFill>
              <a:srgbClr val="D0D0D0"/>
            </a:solidFill>
            <a:prstDash val="solid"/>
          </a:ln>
        </p:spPr>
        <p:txBody>
          <a:bodyPr/>
          <a:lstStyle/>
          <a:p>
            <a:endParaRPr lang="en-GB"/>
          </a:p>
        </p:txBody>
      </p:sp>
      <p:sp>
        <p:nvSpPr>
          <p:cNvPr id="17" name="Text 15"/>
          <p:cNvSpPr txBox="1"/>
          <p:nvPr/>
        </p:nvSpPr>
        <p:spPr>
          <a:xfrm>
            <a:off x="9185148" y="2225040"/>
            <a:ext cx="1860804" cy="274320"/>
          </a:xfrm>
          <a:prstGeom prst="rect">
            <a:avLst/>
          </a:prstGeom>
          <a:noFill/>
          <a:ln/>
        </p:spPr>
        <p:txBody>
          <a:bodyPr wrap="square" lIns="0" tIns="0" rIns="0" bIns="0" rtlCol="0" anchor="t"/>
          <a:lstStyle/>
          <a:p>
            <a:pPr marL="0" indent="0">
              <a:buNone/>
            </a:pPr>
            <a:r>
              <a:rPr lang="en-US" sz="1400" kern="0" spc="100" dirty="0">
                <a:solidFill>
                  <a:srgbClr val="5A5A5A"/>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18" name="Field Outcome"/>
          <p:cNvSpPr/>
          <p:nvPr/>
        </p:nvSpPr>
        <p:spPr>
          <a:xfrm>
            <a:off x="6766560" y="2849880"/>
            <a:ext cx="2080260" cy="579120"/>
          </a:xfrm>
          <a:prstGeom prst="roundRect">
            <a:avLst>
              <a:gd name="adj" fmla="val 12632"/>
            </a:avLst>
          </a:prstGeom>
          <a:solidFill>
            <a:srgbClr val="F4F4F4"/>
          </a:solidFill>
          <a:ln w="12700">
            <a:solidFill>
              <a:srgbClr val="D0D0D0"/>
            </a:solidFill>
            <a:prstDash val="solid"/>
          </a:ln>
        </p:spPr>
        <p:txBody>
          <a:bodyPr/>
          <a:lstStyle/>
          <a:p>
            <a:endParaRPr lang="en-GB"/>
          </a:p>
        </p:txBody>
      </p:sp>
      <p:sp>
        <p:nvSpPr>
          <p:cNvPr id="19" name="Text 17"/>
          <p:cNvSpPr txBox="1"/>
          <p:nvPr/>
        </p:nvSpPr>
        <p:spPr>
          <a:xfrm>
            <a:off x="6876288" y="2941320"/>
            <a:ext cx="1860804" cy="274320"/>
          </a:xfrm>
          <a:prstGeom prst="rect">
            <a:avLst/>
          </a:prstGeom>
          <a:noFill/>
          <a:ln/>
        </p:spPr>
        <p:txBody>
          <a:bodyPr wrap="square" lIns="0" tIns="0" rIns="0" bIns="0" rtlCol="0" anchor="t"/>
          <a:lstStyle/>
          <a:p>
            <a:pPr marL="0" indent="0">
              <a:buNone/>
            </a:pPr>
            <a:r>
              <a:rPr lang="en-US" sz="1400" kern="0" spc="100" dirty="0">
                <a:solidFill>
                  <a:srgbClr val="5A5A5A"/>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20" name="Field Question"/>
          <p:cNvSpPr/>
          <p:nvPr/>
        </p:nvSpPr>
        <p:spPr>
          <a:xfrm>
            <a:off x="9075420" y="2849880"/>
            <a:ext cx="2080260" cy="579120"/>
          </a:xfrm>
          <a:prstGeom prst="roundRect">
            <a:avLst>
              <a:gd name="adj" fmla="val 12632"/>
            </a:avLst>
          </a:prstGeom>
          <a:solidFill>
            <a:srgbClr val="F4F4F4"/>
          </a:solidFill>
          <a:ln w="12700">
            <a:solidFill>
              <a:srgbClr val="D0D0D0"/>
            </a:solidFill>
            <a:prstDash val="solid"/>
          </a:ln>
        </p:spPr>
        <p:txBody>
          <a:bodyPr/>
          <a:lstStyle/>
          <a:p>
            <a:endParaRPr lang="en-GB"/>
          </a:p>
        </p:txBody>
      </p:sp>
      <p:sp>
        <p:nvSpPr>
          <p:cNvPr id="21" name="Text 19"/>
          <p:cNvSpPr txBox="1"/>
          <p:nvPr/>
        </p:nvSpPr>
        <p:spPr>
          <a:xfrm>
            <a:off x="9185148" y="2941320"/>
            <a:ext cx="1860804" cy="274320"/>
          </a:xfrm>
          <a:prstGeom prst="rect">
            <a:avLst/>
          </a:prstGeom>
          <a:noFill/>
          <a:ln/>
        </p:spPr>
        <p:txBody>
          <a:bodyPr wrap="square" lIns="0" tIns="0" rIns="0" bIns="0" rtlCol="0" anchor="t"/>
          <a:lstStyle/>
          <a:p>
            <a:pPr marL="0" indent="0">
              <a:buNone/>
            </a:pPr>
            <a:r>
              <a:rPr lang="en-US" sz="1400" kern="0" spc="100" dirty="0">
                <a:solidFill>
                  <a:srgbClr val="5A5A5A"/>
                </a:solidFill>
                <a:latin typeface="Clash Display Semibold" pitchFamily="34" charset="0"/>
                <a:ea typeface="Clash Display Semibold" pitchFamily="34" charset="-122"/>
                <a:cs typeface="Clash Display Semibold" pitchFamily="34" charset="-120"/>
              </a:rPr>
              <a:t>QUESTION</a:t>
            </a:r>
            <a:endParaRPr lang="en-US" sz="1400" dirty="0"/>
          </a:p>
        </p:txBody>
      </p:sp>
      <p:sp>
        <p:nvSpPr>
          <p:cNvPr id="22" name="Text 20"/>
          <p:cNvSpPr txBox="1"/>
          <p:nvPr/>
        </p:nvSpPr>
        <p:spPr>
          <a:xfrm>
            <a:off x="6583680" y="4023360"/>
            <a:ext cx="3657600" cy="274320"/>
          </a:xfrm>
          <a:prstGeom prst="rect">
            <a:avLst/>
          </a:prstGeom>
          <a:noFill/>
          <a:ln/>
        </p:spPr>
        <p:txBody>
          <a:bodyPr wrap="square" lIns="0" tIns="0" rIns="0" bIns="0" rtlCol="0" anchor="t"/>
          <a:lstStyle/>
          <a:p>
            <a:pPr marL="0" indent="0">
              <a:buNone/>
            </a:pPr>
            <a:r>
              <a:rPr lang="en-US" sz="1400" kern="0" spc="150" dirty="0">
                <a:solidFill>
                  <a:schemeClr val="accent1"/>
                </a:solidFill>
                <a:latin typeface="Clash Display Semibold" pitchFamily="34" charset="0"/>
                <a:ea typeface="Clash Display Semibold" pitchFamily="34" charset="-122"/>
                <a:cs typeface="Clash Display Semibold" pitchFamily="34" charset="-120"/>
              </a:rPr>
              <a:t>THE EVIDENCE LEGEND</a:t>
            </a:r>
            <a:endParaRPr lang="en-US" sz="1400" dirty="0"/>
          </a:p>
        </p:txBody>
      </p:sp>
      <p:sp>
        <p:nvSpPr>
          <p:cNvPr id="23" name="Evidence label ACTUAL DATA"/>
          <p:cNvSpPr/>
          <p:nvPr/>
        </p:nvSpPr>
        <p:spPr>
          <a:xfrm>
            <a:off x="6583680" y="4434840"/>
            <a:ext cx="1737360" cy="329184"/>
          </a:xfrm>
          <a:prstGeom prst="roundRect">
            <a:avLst>
              <a:gd name="adj" fmla="val 50000"/>
            </a:avLst>
          </a:prstGeom>
          <a:solidFill>
            <a:schemeClr val="accent1"/>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ACTUAL DATA</a:t>
            </a:r>
            <a:endParaRPr lang="en-US" sz="1400" dirty="0"/>
          </a:p>
        </p:txBody>
      </p:sp>
      <p:sp>
        <p:nvSpPr>
          <p:cNvPr id="24" name="Evidence label INFERRED"/>
          <p:cNvSpPr/>
          <p:nvPr/>
        </p:nvSpPr>
        <p:spPr>
          <a:xfrm>
            <a:off x="8503920" y="4434840"/>
            <a:ext cx="1737360" cy="329184"/>
          </a:xfrm>
          <a:prstGeom prst="roundRect">
            <a:avLst>
              <a:gd name="adj" fmla="val 50000"/>
            </a:avLst>
          </a:prstGeom>
          <a:solidFill>
            <a:schemeClr val="accent2"/>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25" name="Evidence label ESTIMATE"/>
          <p:cNvSpPr/>
          <p:nvPr/>
        </p:nvSpPr>
        <p:spPr>
          <a:xfrm>
            <a:off x="6583680" y="4983480"/>
            <a:ext cx="1737360" cy="32918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6" name="Evidence label UNKNOWN"/>
          <p:cNvSpPr/>
          <p:nvPr/>
        </p:nvSpPr>
        <p:spPr>
          <a:xfrm>
            <a:off x="8503920" y="4983480"/>
            <a:ext cx="1737360" cy="329184"/>
          </a:xfrm>
          <a:prstGeom prst="roundRect">
            <a:avLst>
              <a:gd name="adj" fmla="val 50000"/>
            </a:avLst>
          </a:prstGeom>
          <a:solidFill>
            <a:schemeClr val="accent4"/>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27"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marL="0" indent="0">
              <a:buNone/>
            </a:pPr>
            <a:r>
              <a:rPr lang="en-US" sz="8000" dirty="0">
                <a:solidFill>
                  <a:schemeClr val="accent1"/>
                </a:solidFill>
                <a:latin typeface="Clash Display Semibold" pitchFamily="34" charset="0"/>
                <a:ea typeface="Clash Display Semibold" pitchFamily="34" charset="-122"/>
                <a:cs typeface="Clash Display Semibold" pitchFamily="34" charset="-120"/>
              </a:rPr>
              <a:t>02</a:t>
            </a:r>
            <a:endParaRPr lang="en-US" sz="8000" dirty="0"/>
          </a:p>
        </p:txBody>
      </p:sp>
      <p:sp>
        <p:nvSpPr>
          <p:cNvPr id="3" name="Text 0"/>
          <p:cNvSpPr>
            <a:spLocks noGrp="1"/>
          </p:cNvSpPr>
          <p:nvPr>
            <p:ph type="title" idx="101" hasCustomPrompt="1"/>
          </p:nvPr>
        </p:nvSpPr>
        <p:spPr>
          <a:xfrm>
            <a:off x="548640" y="1600200"/>
            <a:ext cx="5212080" cy="1143000"/>
          </a:xfrm>
          <a:prstGeom prst="rect">
            <a:avLst/>
          </a:prstGeom>
          <a:noFill/>
          <a:ln/>
        </p:spPr>
        <p:txBody>
          <a:bodyPr wrap="square" lIns="0" tIns="0" rIns="0" bIns="0" rtlCol="0" anchor="t"/>
          <a:lstStyle/>
          <a:p>
            <a:pPr marL="0" indent="0" algn="l">
              <a:buNone/>
            </a:pPr>
            <a:r>
              <a:rPr lang="en-US" sz="4000" dirty="0">
                <a:solidFill>
                  <a:schemeClr val="bg1"/>
                </a:solidFill>
                <a:latin typeface="Clash Grotesk Medium" pitchFamily="34" charset="0"/>
                <a:ea typeface="Clash Grotesk Medium" pitchFamily="34" charset="-122"/>
                <a:cs typeface="Clash Grotesk Medium" pitchFamily="34" charset="-120"/>
              </a:rPr>
              <a:t>Segment</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marL="0" indent="0">
              <a:lnSpc>
                <a:spcPct val="110000"/>
              </a:lnSpc>
              <a:buNone/>
            </a:pPr>
            <a:r>
              <a:rPr lang="en-US" sz="2200" dirty="0">
                <a:solidFill>
                  <a:schemeClr val="bg1"/>
                </a:solidFill>
                <a:latin typeface="PP Mori" pitchFamily="34" charset="0"/>
                <a:ea typeface="PP Mori" pitchFamily="34" charset="-122"/>
                <a:cs typeface="PP Mori" pitchFamily="34" charset="-120"/>
              </a:rPr>
              <a:t>Which bounded context are we deliberately choosing to learn about?</a:t>
            </a:r>
            <a:endParaRPr lang="en-US" sz="2200" dirty="0"/>
          </a:p>
        </p:txBody>
      </p:sp>
      <p:sp>
        <p:nvSpPr>
          <p:cNvPr id="5" name="Artifact pill"/>
          <p:cNvSpPr/>
          <p:nvPr/>
        </p:nvSpPr>
        <p:spPr>
          <a:xfrm>
            <a:off x="548640" y="4572000"/>
            <a:ext cx="437997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SEGMENT SELECTION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marL="0" indent="0">
              <a:lnSpc>
                <a:spcPct val="110000"/>
              </a:lnSpc>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800" dirty="0">
                <a:solidFill>
                  <a:schemeClr val="accent1"/>
                </a:solidFill>
                <a:latin typeface="PP Mori" pitchFamily="34" charset="0"/>
                <a:ea typeface="PP Mori" pitchFamily="34" charset="-122"/>
                <a:cs typeface="PP Mori" pitchFamily="34" charset="-120"/>
              </a:rPr>
              <a:t>Sizing is an estimate until it is sourced. Choosing a segment is not proof it is attractive.</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txBody>
          <a:bodyPr/>
          <a:lstStyle/>
          <a:p>
            <a:endParaRPr lang="en-GB"/>
          </a:p>
        </p:txBody>
      </p:sp>
      <p:sp>
        <p:nvSpPr>
          <p:cNvPr id="8" name="TAM circle"/>
          <p:cNvSpPr/>
          <p:nvPr/>
        </p:nvSpPr>
        <p:spPr>
          <a:xfrm>
            <a:off x="7040880" y="868680"/>
            <a:ext cx="3840480" cy="3840480"/>
          </a:xfrm>
          <a:prstGeom prst="ellipse">
            <a:avLst/>
          </a:prstGeom>
          <a:ln w="38100">
            <a:solidFill>
              <a:schemeClr val="bg1"/>
            </a:solidFill>
            <a:prstDash val="solid"/>
          </a:ln>
        </p:spPr>
        <p:txBody>
          <a:bodyPr/>
          <a:lstStyle/>
          <a:p>
            <a:endParaRPr lang="en-GB"/>
          </a:p>
        </p:txBody>
      </p:sp>
      <p:sp>
        <p:nvSpPr>
          <p:cNvPr id="9" name="TAM label"/>
          <p:cNvSpPr txBox="1"/>
          <p:nvPr/>
        </p:nvSpPr>
        <p:spPr>
          <a:xfrm>
            <a:off x="8229600" y="1051560"/>
            <a:ext cx="1463040" cy="457200"/>
          </a:xfrm>
          <a:prstGeom prst="rect">
            <a:avLst/>
          </a:prstGeom>
          <a:noFill/>
          <a:ln/>
        </p:spPr>
        <p:txBody>
          <a:bodyPr wrap="square" lIns="0" tIns="0" rIns="0" bIns="0" rtlCol="0" anchor="t"/>
          <a:lstStyle/>
          <a:p>
            <a:pPr marL="0" indent="0" algn="ctr">
              <a:buNone/>
            </a:pPr>
            <a:r>
              <a:rPr lang="en-US" sz="2200" dirty="0">
                <a:solidFill>
                  <a:schemeClr val="bg1"/>
                </a:solidFill>
                <a:latin typeface="Clash Grotesk Medium" pitchFamily="34" charset="0"/>
                <a:ea typeface="Clash Grotesk Medium" pitchFamily="34" charset="-122"/>
                <a:cs typeface="Clash Grotesk Medium" pitchFamily="34" charset="-120"/>
              </a:rPr>
              <a:t>TAM</a:t>
            </a:r>
            <a:endParaRPr lang="en-US" sz="2200" dirty="0"/>
          </a:p>
        </p:txBody>
      </p:sp>
      <p:sp>
        <p:nvSpPr>
          <p:cNvPr id="10" name="SAM circle"/>
          <p:cNvSpPr/>
          <p:nvPr/>
        </p:nvSpPr>
        <p:spPr>
          <a:xfrm>
            <a:off x="7635240" y="2057400"/>
            <a:ext cx="2651760" cy="2651760"/>
          </a:xfrm>
          <a:prstGeom prst="ellipse">
            <a:avLst/>
          </a:prstGeom>
          <a:ln w="38100">
            <a:solidFill>
              <a:schemeClr val="accent1"/>
            </a:solidFill>
            <a:prstDash val="solid"/>
          </a:ln>
        </p:spPr>
        <p:txBody>
          <a:bodyPr/>
          <a:lstStyle/>
          <a:p>
            <a:endParaRPr lang="en-GB"/>
          </a:p>
        </p:txBody>
      </p:sp>
      <p:sp>
        <p:nvSpPr>
          <p:cNvPr id="11" name="SAM label"/>
          <p:cNvSpPr txBox="1"/>
          <p:nvPr/>
        </p:nvSpPr>
        <p:spPr>
          <a:xfrm>
            <a:off x="8229600" y="2240280"/>
            <a:ext cx="1463040" cy="457200"/>
          </a:xfrm>
          <a:prstGeom prst="rect">
            <a:avLst/>
          </a:prstGeom>
          <a:noFill/>
          <a:ln/>
        </p:spPr>
        <p:txBody>
          <a:bodyPr wrap="square" lIns="0" tIns="0" rIns="0" bIns="0" rtlCol="0" anchor="t"/>
          <a:lstStyle/>
          <a:p>
            <a:pPr marL="0" indent="0" algn="ctr">
              <a:buNone/>
            </a:pPr>
            <a:r>
              <a:rPr lang="en-US" sz="2200" dirty="0">
                <a:solidFill>
                  <a:schemeClr val="accent1"/>
                </a:solidFill>
                <a:latin typeface="Clash Grotesk Medium" pitchFamily="34" charset="0"/>
                <a:ea typeface="Clash Grotesk Medium" pitchFamily="34" charset="-122"/>
                <a:cs typeface="Clash Grotesk Medium" pitchFamily="34" charset="-120"/>
              </a:rPr>
              <a:t>SAM</a:t>
            </a:r>
            <a:endParaRPr lang="en-US" sz="2200" dirty="0"/>
          </a:p>
        </p:txBody>
      </p:sp>
      <p:sp>
        <p:nvSpPr>
          <p:cNvPr id="12" name="SOM circle"/>
          <p:cNvSpPr/>
          <p:nvPr/>
        </p:nvSpPr>
        <p:spPr>
          <a:xfrm>
            <a:off x="8229600" y="3246120"/>
            <a:ext cx="1463040" cy="1463040"/>
          </a:xfrm>
          <a:prstGeom prst="ellipse">
            <a:avLst/>
          </a:prstGeom>
          <a:solidFill>
            <a:schemeClr val="accent1"/>
          </a:solidFill>
          <a:ln w="38100">
            <a:solidFill>
              <a:schemeClr val="accent1"/>
            </a:solidFill>
            <a:prstDash val="solid"/>
          </a:ln>
        </p:spPr>
        <p:txBody>
          <a:bodyPr/>
          <a:lstStyle/>
          <a:p>
            <a:endParaRPr lang="en-GB"/>
          </a:p>
        </p:txBody>
      </p:sp>
      <p:sp>
        <p:nvSpPr>
          <p:cNvPr id="13" name="SOM label"/>
          <p:cNvSpPr txBox="1"/>
          <p:nvPr/>
        </p:nvSpPr>
        <p:spPr>
          <a:xfrm>
            <a:off x="8229600" y="3749040"/>
            <a:ext cx="1463040" cy="457200"/>
          </a:xfrm>
          <a:prstGeom prst="rect">
            <a:avLst/>
          </a:prstGeom>
          <a:noFill/>
          <a:ln/>
        </p:spPr>
        <p:txBody>
          <a:bodyPr wrap="square" lIns="0" tIns="0" rIns="0" bIns="0" rtlCol="0" anchor="t"/>
          <a:lstStyle/>
          <a:p>
            <a:pPr marL="0" indent="0" algn="ctr">
              <a:buNone/>
            </a:pPr>
            <a:r>
              <a:rPr lang="en-US" sz="2200" dirty="0">
                <a:solidFill>
                  <a:schemeClr val="tx1"/>
                </a:solidFill>
                <a:latin typeface="Clash Grotesk Medium" pitchFamily="34" charset="0"/>
                <a:ea typeface="Clash Grotesk Medium" pitchFamily="34" charset="-122"/>
                <a:cs typeface="Clash Grotesk Medium" pitchFamily="34" charset="-120"/>
              </a:rPr>
              <a:t>SOM</a:t>
            </a:r>
            <a:endParaRPr lang="en-US" sz="2200" dirty="0"/>
          </a:p>
        </p:txBody>
      </p:sp>
      <p:sp>
        <p:nvSpPr>
          <p:cNvPr id="14" name="Source TAM"/>
          <p:cNvSpPr txBox="1"/>
          <p:nvPr/>
        </p:nvSpPr>
        <p:spPr>
          <a:xfrm>
            <a:off x="6720840" y="4846320"/>
            <a:ext cx="4754880" cy="329184"/>
          </a:xfrm>
          <a:prstGeom prst="rect">
            <a:avLst/>
          </a:prstGeom>
          <a:noFill/>
          <a:ln/>
        </p:spPr>
        <p:txBody>
          <a:bodyPr wrap="square" lIns="0" tIns="0" rIns="0" bIns="0" rtlCol="0" anchor="t"/>
          <a:lstStyle/>
          <a:p>
            <a:pPr marL="0" indent="0">
              <a:buNone/>
            </a:pPr>
            <a:r>
              <a:rPr lang="en-US" sz="1400" kern="0" spc="150" dirty="0">
                <a:solidFill>
                  <a:schemeClr val="accent1"/>
                </a:solidFill>
                <a:latin typeface="Clash Display Semibold" pitchFamily="34" charset="0"/>
                <a:ea typeface="Clash Display Semibold" pitchFamily="34" charset="-122"/>
                <a:cs typeface="Clash Display Semibold" pitchFamily="34" charset="-120"/>
              </a:rPr>
              <a:t>TAM   </a:t>
            </a:r>
            <a:r>
              <a:rPr lang="en-US" sz="1800" dirty="0">
                <a:solidFill>
                  <a:schemeClr val="bg1"/>
                </a:solidFill>
                <a:latin typeface="PP Mori" pitchFamily="34" charset="0"/>
                <a:ea typeface="PP Mori" pitchFamily="34" charset="-122"/>
                <a:cs typeface="PP Mori" pitchFamily="34" charset="-120"/>
              </a:rPr>
              <a:t>from population</a:t>
            </a:r>
            <a:endParaRPr lang="en-US" sz="1600" dirty="0"/>
          </a:p>
        </p:txBody>
      </p:sp>
      <p:sp>
        <p:nvSpPr>
          <p:cNvPr id="15" name="Source SAM"/>
          <p:cNvSpPr txBox="1"/>
          <p:nvPr/>
        </p:nvSpPr>
        <p:spPr>
          <a:xfrm>
            <a:off x="6720840" y="5212080"/>
            <a:ext cx="4754880" cy="329184"/>
          </a:xfrm>
          <a:prstGeom prst="rect">
            <a:avLst/>
          </a:prstGeom>
          <a:noFill/>
          <a:ln/>
        </p:spPr>
        <p:txBody>
          <a:bodyPr wrap="square" lIns="0" tIns="0" rIns="0" bIns="0" rtlCol="0" anchor="t"/>
          <a:lstStyle/>
          <a:p>
            <a:pPr marL="0" indent="0">
              <a:buNone/>
            </a:pPr>
            <a:r>
              <a:rPr lang="en-US" sz="1400" kern="0" spc="150" dirty="0">
                <a:solidFill>
                  <a:schemeClr val="accent1"/>
                </a:solidFill>
                <a:latin typeface="Clash Display Semibold" pitchFamily="34" charset="0"/>
                <a:ea typeface="Clash Display Semibold" pitchFamily="34" charset="-122"/>
                <a:cs typeface="Clash Display Semibold" pitchFamily="34" charset="-120"/>
              </a:rPr>
              <a:t>SAM   </a:t>
            </a:r>
            <a:r>
              <a:rPr lang="en-US" sz="1800" dirty="0">
                <a:solidFill>
                  <a:schemeClr val="bg1"/>
                </a:solidFill>
                <a:latin typeface="PP Mori" pitchFamily="34" charset="0"/>
                <a:ea typeface="PP Mori" pitchFamily="34" charset="-122"/>
                <a:cs typeface="PP Mori" pitchFamily="34" charset="-120"/>
              </a:rPr>
              <a:t>from trade and industry</a:t>
            </a:r>
            <a:endParaRPr lang="en-US" sz="1600" dirty="0"/>
          </a:p>
        </p:txBody>
      </p:sp>
      <p:sp>
        <p:nvSpPr>
          <p:cNvPr id="16" name="Source SOM"/>
          <p:cNvSpPr txBox="1"/>
          <p:nvPr/>
        </p:nvSpPr>
        <p:spPr>
          <a:xfrm>
            <a:off x="6720840" y="5577840"/>
            <a:ext cx="4754880" cy="329184"/>
          </a:xfrm>
          <a:prstGeom prst="rect">
            <a:avLst/>
          </a:prstGeom>
          <a:noFill/>
          <a:ln/>
        </p:spPr>
        <p:txBody>
          <a:bodyPr wrap="square" lIns="0" tIns="0" rIns="0" bIns="0" rtlCol="0" anchor="t"/>
          <a:lstStyle/>
          <a:p>
            <a:pPr marL="0" indent="0">
              <a:buNone/>
            </a:pPr>
            <a:r>
              <a:rPr lang="en-US" sz="1400" kern="0" spc="150" dirty="0">
                <a:solidFill>
                  <a:schemeClr val="accent1"/>
                </a:solidFill>
                <a:latin typeface="Clash Display Semibold" pitchFamily="34" charset="0"/>
                <a:ea typeface="Clash Display Semibold" pitchFamily="34" charset="-122"/>
                <a:cs typeface="Clash Display Semibold" pitchFamily="34" charset="-120"/>
              </a:rPr>
              <a:t>SOM   </a:t>
            </a:r>
            <a:r>
              <a:rPr lang="en-US" sz="1800" dirty="0">
                <a:solidFill>
                  <a:schemeClr val="bg1"/>
                </a:solidFill>
                <a:latin typeface="PP Mori" pitchFamily="34" charset="0"/>
                <a:ea typeface="PP Mori" pitchFamily="34" charset="-122"/>
                <a:cs typeface="PP Mori" pitchFamily="34" charset="-120"/>
              </a:rPr>
              <a:t>from competition and reach</a:t>
            </a:r>
            <a:endParaRPr lang="en-US" sz="1600" dirty="0"/>
          </a:p>
        </p:txBody>
      </p:sp>
      <p:sp>
        <p:nvSpPr>
          <p:cNvPr id="17" name="Evidence label ESTIMATE"/>
          <p:cNvSpPr/>
          <p:nvPr/>
        </p:nvSpPr>
        <p:spPr>
          <a:xfrm>
            <a:off x="10104120" y="822960"/>
            <a:ext cx="1280160" cy="32918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marL="0" indent="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marL="0" indent="0">
              <a:buNone/>
            </a:pPr>
            <a:r>
              <a:rPr lang="en-US" sz="1800" dirty="0">
                <a:solidFill>
                  <a:srgbClr val="B3B3B3"/>
                </a:solidFill>
                <a:latin typeface="PP Mori" pitchFamily="34" charset="0"/>
                <a:ea typeface="PP Mori" pitchFamily="34" charset="-122"/>
                <a:cs typeface="PP Mori" pitchFamily="34" charset="-120"/>
              </a:rPr>
              <a:t>Who </a:t>
            </a:r>
            <a:r>
              <a:rPr lang="en-US" dirty="0">
                <a:solidFill>
                  <a:srgbClr val="B3B3B3"/>
                </a:solidFill>
                <a:latin typeface="PP Mori" pitchFamily="34" charset="0"/>
                <a:ea typeface="PP Mori" pitchFamily="34" charset="-122"/>
                <a:cs typeface="PP Mori" pitchFamily="34" charset="-120"/>
              </a:rPr>
              <a:t>is the key persona in play</a:t>
            </a:r>
            <a:r>
              <a:rPr lang="en-US" sz="1800" dirty="0">
                <a:solidFill>
                  <a:srgbClr val="B3B3B3"/>
                </a:solidFill>
                <a:latin typeface="PP Mori" pitchFamily="34" charset="0"/>
                <a:ea typeface="PP Mori" pitchFamily="34" charset="-122"/>
                <a:cs typeface="PP Mori" pitchFamily="34" charset="-120"/>
              </a:rPr>
              <a:t>, in what situations,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txBody>
          <a:bodyPr/>
          <a:lstStyle/>
          <a:p>
            <a:endParaRPr lang="en-GB"/>
          </a:p>
        </p:txBody>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Step 1 header"/>
          <p:cNvSpPr txBox="1"/>
          <p:nvPr/>
        </p:nvSpPr>
        <p:spPr>
          <a:xfrm>
            <a:off x="822960" y="1554480"/>
            <a:ext cx="3931920" cy="347472"/>
          </a:xfrm>
          <a:prstGeom prst="rect">
            <a:avLst/>
          </a:prstGeom>
          <a:noFill/>
          <a:ln/>
        </p:spPr>
        <p:txBody>
          <a:bodyPr wrap="square" lIns="0" tIns="0" rIns="0" bIns="0" rtlCol="0" anchor="t"/>
          <a:lstStyle/>
          <a:p>
            <a:pPr marL="0" indent="0">
              <a:buNone/>
            </a:pPr>
            <a:r>
              <a:rPr lang="en-US" sz="1800" dirty="0">
                <a:solidFill>
                  <a:schemeClr val="accent1"/>
                </a:solidFill>
                <a:latin typeface="Clash Grotesk Medium" pitchFamily="34" charset="0"/>
                <a:ea typeface="Clash Grotesk Medium" pitchFamily="34" charset="-122"/>
                <a:cs typeface="Clash Grotesk Medium" pitchFamily="34" charset="-120"/>
              </a:rPr>
              <a:t>1  </a:t>
            </a:r>
            <a:r>
              <a:rPr lang="en-US" sz="1800" dirty="0">
                <a:solidFill>
                  <a:schemeClr val="bg1"/>
                </a:solidFill>
                <a:latin typeface="Clash Grotesk Medium" pitchFamily="34" charset="0"/>
                <a:ea typeface="Clash Grotesk Medium" pitchFamily="34" charset="-122"/>
                <a:cs typeface="Clash Grotesk Medium" pitchFamily="34" charset="-120"/>
              </a:rPr>
              <a:t>List</a:t>
            </a:r>
            <a:endParaRPr lang="en-US" sz="1800" dirty="0"/>
          </a:p>
        </p:txBody>
      </p:sp>
      <p:sp>
        <p:nvSpPr>
          <p:cNvPr id="10" name="Step 2 header"/>
          <p:cNvSpPr txBox="1"/>
          <p:nvPr/>
        </p:nvSpPr>
        <p:spPr>
          <a:xfrm>
            <a:off x="4937760" y="1554480"/>
            <a:ext cx="2926080" cy="347472"/>
          </a:xfrm>
          <a:prstGeom prst="rect">
            <a:avLst/>
          </a:prstGeom>
          <a:noFill/>
          <a:ln/>
        </p:spPr>
        <p:txBody>
          <a:bodyPr wrap="square" lIns="0" tIns="0" rIns="0" bIns="0" rtlCol="0" anchor="t"/>
          <a:lstStyle/>
          <a:p>
            <a:pPr marL="0" indent="0">
              <a:buNone/>
            </a:pPr>
            <a:r>
              <a:rPr lang="en-US" sz="1800" dirty="0">
                <a:solidFill>
                  <a:schemeClr val="accent1"/>
                </a:solidFill>
                <a:latin typeface="Clash Grotesk Medium" pitchFamily="34" charset="0"/>
                <a:ea typeface="Clash Grotesk Medium" pitchFamily="34" charset="-122"/>
                <a:cs typeface="Clash Grotesk Medium" pitchFamily="34" charset="-120"/>
              </a:rPr>
              <a:t>2  </a:t>
            </a:r>
            <a:r>
              <a:rPr lang="en-US" sz="1800" dirty="0">
                <a:solidFill>
                  <a:schemeClr val="bg1"/>
                </a:solidFill>
                <a:latin typeface="Clash Grotesk Medium" pitchFamily="34" charset="0"/>
                <a:ea typeface="Clash Grotesk Medium" pitchFamily="34" charset="-122"/>
                <a:cs typeface="Clash Grotesk Medium" pitchFamily="34" charset="-120"/>
              </a:rPr>
              <a:t>Pick the top</a:t>
            </a:r>
            <a:endParaRPr lang="en-US" sz="1800" dirty="0"/>
          </a:p>
        </p:txBody>
      </p:sp>
      <p:sp>
        <p:nvSpPr>
          <p:cNvPr id="11" name="Step 3 header"/>
          <p:cNvSpPr txBox="1"/>
          <p:nvPr/>
        </p:nvSpPr>
        <p:spPr>
          <a:xfrm>
            <a:off x="8092440" y="1554480"/>
            <a:ext cx="3246120" cy="347472"/>
          </a:xfrm>
          <a:prstGeom prst="rect">
            <a:avLst/>
          </a:prstGeom>
          <a:noFill/>
          <a:ln/>
        </p:spPr>
        <p:txBody>
          <a:bodyPr wrap="square" lIns="0" tIns="0" rIns="0" bIns="0" rtlCol="0" anchor="t"/>
          <a:lstStyle/>
          <a:p>
            <a:pPr marL="0" indent="0">
              <a:buNone/>
            </a:pPr>
            <a:r>
              <a:rPr lang="en-US" sz="1800" dirty="0">
                <a:solidFill>
                  <a:schemeClr val="accent1"/>
                </a:solidFill>
                <a:latin typeface="Clash Grotesk Medium" pitchFamily="34" charset="0"/>
                <a:ea typeface="Clash Grotesk Medium" pitchFamily="34" charset="-122"/>
                <a:cs typeface="Clash Grotesk Medium" pitchFamily="34" charset="-120"/>
              </a:rPr>
              <a:t>3  </a:t>
            </a:r>
            <a:r>
              <a:rPr lang="en-US" sz="1800" dirty="0">
                <a:solidFill>
                  <a:schemeClr val="bg1"/>
                </a:solidFill>
                <a:latin typeface="Clash Grotesk Medium" pitchFamily="34" charset="0"/>
                <a:ea typeface="Clash Grotesk Medium" pitchFamily="34" charset="-122"/>
                <a:cs typeface="Clash Grotesk Medium" pitchFamily="34" charset="-120"/>
              </a:rPr>
              <a:t>Frame the problem</a:t>
            </a:r>
            <a:endParaRPr lang="en-US" sz="1800" dirty="0"/>
          </a:p>
        </p:txBody>
      </p:sp>
      <p:sp>
        <p:nvSpPr>
          <p:cNvPr id="12" name="Customer circle"/>
          <p:cNvSpPr/>
          <p:nvPr/>
        </p:nvSpPr>
        <p:spPr>
          <a:xfrm>
            <a:off x="960120" y="2011680"/>
            <a:ext cx="3657600" cy="3657600"/>
          </a:xfrm>
          <a:prstGeom prst="ellipse">
            <a:avLst/>
          </a:prstGeom>
          <a:ln w="31750">
            <a:solidFill>
              <a:schemeClr val="bg1"/>
            </a:solidFill>
            <a:prstDash val="solid"/>
          </a:ln>
        </p:spPr>
        <p:txBody>
          <a:bodyPr/>
          <a:lstStyle/>
          <a:p>
            <a:endParaRPr lang="en-GB"/>
          </a:p>
        </p:txBody>
      </p:sp>
      <p:sp>
        <p:nvSpPr>
          <p:cNvPr id="13" name="Wedge divider 1"/>
          <p:cNvSpPr/>
          <p:nvPr/>
        </p:nvSpPr>
        <p:spPr>
          <a:xfrm flipH="1">
            <a:off x="960120" y="3840480"/>
            <a:ext cx="1828800" cy="0"/>
          </a:xfrm>
          <a:prstGeom prst="line">
            <a:avLst/>
          </a:prstGeom>
          <a:noFill/>
          <a:ln w="25400">
            <a:solidFill>
              <a:schemeClr val="bg1"/>
            </a:solidFill>
            <a:prstDash val="solid"/>
          </a:ln>
        </p:spPr>
        <p:txBody>
          <a:bodyPr/>
          <a:lstStyle/>
          <a:p>
            <a:endParaRPr lang="en-GB"/>
          </a:p>
        </p:txBody>
      </p:sp>
      <p:sp>
        <p:nvSpPr>
          <p:cNvPr id="14" name="Wedge divider 2"/>
          <p:cNvSpPr/>
          <p:nvPr/>
        </p:nvSpPr>
        <p:spPr>
          <a:xfrm flipV="1">
            <a:off x="2788920" y="2073995"/>
            <a:ext cx="473328" cy="1766485"/>
          </a:xfrm>
          <a:prstGeom prst="line">
            <a:avLst/>
          </a:prstGeom>
          <a:noFill/>
          <a:ln w="25400">
            <a:solidFill>
              <a:schemeClr val="bg1"/>
            </a:solidFill>
            <a:prstDash val="solid"/>
          </a:ln>
        </p:spPr>
        <p:txBody>
          <a:bodyPr/>
          <a:lstStyle/>
          <a:p>
            <a:endParaRPr lang="en-GB"/>
          </a:p>
        </p:txBody>
      </p:sp>
      <p:sp>
        <p:nvSpPr>
          <p:cNvPr id="15" name="Wedge divider 3"/>
          <p:cNvSpPr/>
          <p:nvPr/>
        </p:nvSpPr>
        <p:spPr>
          <a:xfrm>
            <a:off x="2788920" y="3840480"/>
            <a:ext cx="1048957" cy="1498065"/>
          </a:xfrm>
          <a:prstGeom prst="line">
            <a:avLst/>
          </a:prstGeom>
          <a:noFill/>
          <a:ln w="25400">
            <a:solidFill>
              <a:schemeClr val="bg1"/>
            </a:solidFill>
            <a:prstDash val="solid"/>
          </a:ln>
        </p:spPr>
        <p:txBody>
          <a:bodyPr/>
          <a:lstStyle/>
          <a:p>
            <a:endParaRPr lang="en-GB"/>
          </a:p>
        </p:txBody>
      </p:sp>
      <p:sp>
        <p:nvSpPr>
          <p:cNvPr id="16" name="Persona center"/>
          <p:cNvSpPr/>
          <p:nvPr/>
        </p:nvSpPr>
        <p:spPr>
          <a:xfrm>
            <a:off x="2286000" y="3337560"/>
            <a:ext cx="1005840" cy="100584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300" dirty="0">
                <a:solidFill>
                  <a:schemeClr val="tx1"/>
                </a:solidFill>
                <a:latin typeface="Clash Grotesk Medium" pitchFamily="34" charset="0"/>
                <a:ea typeface="Clash Grotesk Medium" pitchFamily="34" charset="-122"/>
                <a:cs typeface="Clash Grotesk Medium" pitchFamily="34" charset="-120"/>
              </a:rPr>
              <a:t>Persona</a:t>
            </a:r>
            <a:endParaRPr lang="en-US" sz="1300" dirty="0"/>
          </a:p>
        </p:txBody>
      </p:sp>
      <p:sp>
        <p:nvSpPr>
          <p:cNvPr id="17" name="Gains label"/>
          <p:cNvSpPr txBox="1"/>
          <p:nvPr/>
        </p:nvSpPr>
        <p:spPr>
          <a:xfrm>
            <a:off x="1234440" y="3383280"/>
            <a:ext cx="1005840" cy="329184"/>
          </a:xfrm>
          <a:prstGeom prst="rect">
            <a:avLst/>
          </a:prstGeom>
          <a:noFill/>
          <a:ln/>
        </p:spPr>
        <p:txBody>
          <a:bodyPr wrap="square" lIns="0" tIns="0" rIns="0" bIns="0" rtlCol="0" anchor="t"/>
          <a:lstStyle/>
          <a:p>
            <a:pPr marL="0" indent="0">
              <a:buNone/>
            </a:pPr>
            <a:r>
              <a:rPr lang="en-US" sz="1800" dirty="0">
                <a:solidFill>
                  <a:schemeClr val="bg1"/>
                </a:solidFill>
                <a:latin typeface="Clash Grotesk Medium" pitchFamily="34" charset="0"/>
                <a:ea typeface="Clash Grotesk Medium" pitchFamily="34" charset="-122"/>
                <a:cs typeface="Clash Grotesk Medium" pitchFamily="34" charset="-120"/>
              </a:rPr>
              <a:t>Gains</a:t>
            </a:r>
            <a:endParaRPr lang="en-US" sz="1800" dirty="0"/>
          </a:p>
        </p:txBody>
      </p:sp>
      <p:sp>
        <p:nvSpPr>
          <p:cNvPr id="18" name="Gain"/>
          <p:cNvSpPr/>
          <p:nvPr/>
        </p:nvSpPr>
        <p:spPr>
          <a:xfrm>
            <a:off x="1463040" y="2606040"/>
            <a:ext cx="1280160" cy="640080"/>
          </a:xfrm>
          <a:prstGeom prst="roundRect">
            <a:avLst>
              <a:gd name="adj" fmla="val 11429"/>
            </a:avLst>
          </a:prstGeom>
          <a:solidFill>
            <a:srgbClr val="62D1AE"/>
          </a:solidFill>
          <a:ln w="15875">
            <a:solidFill>
              <a:srgbClr val="62D1AE"/>
            </a:solidFill>
          </a:ln>
        </p:spPr>
        <p:txBody>
          <a:bodyPr wrap="square" lIns="25400" tIns="50800" rIns="50800" bIns="25400" rtlCol="0" anchor="ctr"/>
          <a:lstStyle/>
          <a:p>
            <a:pPr marL="0" indent="0" algn="ctr">
              <a:buNone/>
            </a:pPr>
            <a:r>
              <a:rPr lang="en-US" sz="1600" dirty="0">
                <a:solidFill>
                  <a:schemeClr val="tx1"/>
                </a:solidFill>
                <a:latin typeface="PP Mori" pitchFamily="34" charset="0"/>
                <a:ea typeface="PP Mori" pitchFamily="34" charset="-122"/>
                <a:cs typeface="PP Mori" pitchFamily="34" charset="-120"/>
              </a:rPr>
              <a:t>Defensible call</a:t>
            </a:r>
            <a:endParaRPr lang="en-US" sz="1600" dirty="0"/>
          </a:p>
        </p:txBody>
      </p:sp>
      <p:sp>
        <p:nvSpPr>
          <p:cNvPr id="19" name="Pains label"/>
          <p:cNvSpPr txBox="1"/>
          <p:nvPr/>
        </p:nvSpPr>
        <p:spPr>
          <a:xfrm>
            <a:off x="1234440" y="4005072"/>
            <a:ext cx="1005840" cy="329184"/>
          </a:xfrm>
          <a:prstGeom prst="rect">
            <a:avLst/>
          </a:prstGeom>
          <a:noFill/>
          <a:ln/>
        </p:spPr>
        <p:txBody>
          <a:bodyPr wrap="square" lIns="0" tIns="0" rIns="0" bIns="0" rtlCol="0" anchor="t"/>
          <a:lstStyle/>
          <a:p>
            <a:pPr marL="0" indent="0">
              <a:buNone/>
            </a:pPr>
            <a:r>
              <a:rPr lang="en-US" sz="1800" dirty="0">
                <a:solidFill>
                  <a:schemeClr val="bg1"/>
                </a:solidFill>
                <a:latin typeface="Clash Grotesk Medium" pitchFamily="34" charset="0"/>
                <a:ea typeface="Clash Grotesk Medium" pitchFamily="34" charset="-122"/>
                <a:cs typeface="Clash Grotesk Medium" pitchFamily="34" charset="-120"/>
              </a:rPr>
              <a:t>Pains</a:t>
            </a:r>
            <a:endParaRPr lang="en-US" sz="1800" dirty="0"/>
          </a:p>
        </p:txBody>
      </p:sp>
      <p:sp>
        <p:nvSpPr>
          <p:cNvPr id="20" name="Pain"/>
          <p:cNvSpPr/>
          <p:nvPr/>
        </p:nvSpPr>
        <p:spPr>
          <a:xfrm>
            <a:off x="1508760" y="4480560"/>
            <a:ext cx="1280160" cy="640080"/>
          </a:xfrm>
          <a:prstGeom prst="roundRect">
            <a:avLst>
              <a:gd name="adj" fmla="val 11429"/>
            </a:avLst>
          </a:prstGeom>
          <a:solidFill>
            <a:srgbClr val="FFB4B4"/>
          </a:solidFill>
          <a:ln w="15875">
            <a:solidFill>
              <a:srgbClr val="FFB4B4"/>
            </a:solidFill>
          </a:ln>
        </p:spPr>
        <p:txBody>
          <a:bodyPr wrap="square" lIns="25400" tIns="50800" rIns="50800" bIns="25400" rtlCol="0" anchor="ctr"/>
          <a:lstStyle/>
          <a:p>
            <a:pPr marL="0" indent="0" algn="ctr">
              <a:buNone/>
            </a:pPr>
            <a:r>
              <a:rPr lang="en-US" sz="1600" dirty="0">
                <a:solidFill>
                  <a:schemeClr val="tx1"/>
                </a:solidFill>
                <a:latin typeface="PP Mori" pitchFamily="34" charset="0"/>
                <a:ea typeface="PP Mori" pitchFamily="34" charset="-122"/>
                <a:cs typeface="PP Mori" pitchFamily="34" charset="-120"/>
              </a:rPr>
              <a:t>Conflicting reports</a:t>
            </a:r>
            <a:endParaRPr lang="en-US" sz="1600" dirty="0"/>
          </a:p>
        </p:txBody>
      </p:sp>
      <p:sp>
        <p:nvSpPr>
          <p:cNvPr id="21" name="Jobs label"/>
          <p:cNvSpPr txBox="1"/>
          <p:nvPr/>
        </p:nvSpPr>
        <p:spPr>
          <a:xfrm>
            <a:off x="3429000" y="2788920"/>
            <a:ext cx="914400" cy="329184"/>
          </a:xfrm>
          <a:prstGeom prst="rect">
            <a:avLst/>
          </a:prstGeom>
          <a:noFill/>
          <a:ln/>
        </p:spPr>
        <p:txBody>
          <a:bodyPr wrap="square" lIns="0" tIns="0" rIns="0" bIns="0" rtlCol="0" anchor="t"/>
          <a:lstStyle/>
          <a:p>
            <a:pPr marL="0" indent="0">
              <a:buNone/>
            </a:pPr>
            <a:r>
              <a:rPr lang="en-US" sz="1800" dirty="0">
                <a:solidFill>
                  <a:schemeClr val="bg1"/>
                </a:solidFill>
                <a:latin typeface="Clash Grotesk Medium" pitchFamily="34" charset="0"/>
                <a:ea typeface="Clash Grotesk Medium" pitchFamily="34" charset="-122"/>
                <a:cs typeface="Clash Grotesk Medium" pitchFamily="34" charset="-120"/>
              </a:rPr>
              <a:t>Jobs</a:t>
            </a:r>
            <a:endParaRPr lang="en-US" sz="1800" dirty="0"/>
          </a:p>
        </p:txBody>
      </p:sp>
      <p:sp>
        <p:nvSpPr>
          <p:cNvPr id="22" name="Job"/>
          <p:cNvSpPr/>
          <p:nvPr/>
        </p:nvSpPr>
        <p:spPr>
          <a:xfrm>
            <a:off x="3291840" y="3291840"/>
            <a:ext cx="1280160" cy="640080"/>
          </a:xfrm>
          <a:prstGeom prst="roundRect">
            <a:avLst>
              <a:gd name="adj" fmla="val 11429"/>
            </a:avLst>
          </a:prstGeom>
          <a:solidFill>
            <a:srgbClr val="FFD58A"/>
          </a:solidFill>
          <a:ln w="15875">
            <a:solidFill>
              <a:srgbClr val="FFD58A"/>
            </a:solidFill>
          </a:ln>
        </p:spPr>
        <p:txBody>
          <a:bodyPr wrap="square" lIns="25400" tIns="50800" rIns="50800" bIns="25400" rtlCol="0" anchor="ctr"/>
          <a:lstStyle/>
          <a:p>
            <a:pPr marL="0" indent="0" algn="ctr">
              <a:buNone/>
            </a:pPr>
            <a:r>
              <a:rPr lang="en-US" sz="1600" dirty="0">
                <a:solidFill>
                  <a:schemeClr val="tx1"/>
                </a:solidFill>
                <a:latin typeface="PP Mori" pitchFamily="34" charset="0"/>
                <a:ea typeface="PP Mori" pitchFamily="34" charset="-122"/>
                <a:cs typeface="PP Mori" pitchFamily="34" charset="-120"/>
              </a:rPr>
              <a:t>Pick what to check</a:t>
            </a:r>
            <a:endParaRPr lang="en-US" sz="1600" dirty="0"/>
          </a:p>
        </p:txBody>
      </p:sp>
      <p:sp>
        <p:nvSpPr>
          <p:cNvPr id="23" name="Pick header 1"/>
          <p:cNvSpPr txBox="1"/>
          <p:nvPr/>
        </p:nvSpPr>
        <p:spPr>
          <a:xfrm>
            <a:off x="4937760" y="2011680"/>
            <a:ext cx="2926080" cy="292608"/>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Top job</a:t>
            </a:r>
            <a:endParaRPr lang="en-US" sz="1600" dirty="0"/>
          </a:p>
        </p:txBody>
      </p:sp>
      <p:sp>
        <p:nvSpPr>
          <p:cNvPr id="24" name="Pick card 1"/>
          <p:cNvSpPr/>
          <p:nvPr/>
        </p:nvSpPr>
        <p:spPr>
          <a:xfrm>
            <a:off x="4937760" y="2322576"/>
            <a:ext cx="2926080" cy="777240"/>
          </a:xfrm>
          <a:prstGeom prst="roundRect">
            <a:avLst>
              <a:gd name="adj" fmla="val 11765"/>
            </a:avLst>
          </a:prstGeom>
          <a:solidFill>
            <a:schemeClr val="bg1"/>
          </a:solidFill>
          <a:ln w="12700">
            <a:solidFill>
              <a:schemeClr val="bg1"/>
            </a:solidFill>
            <a:prstDash val="solid"/>
          </a:ln>
        </p:spPr>
        <p:txBody>
          <a:bodyPr/>
          <a:lstStyle/>
          <a:p>
            <a:endParaRPr lang="en-GB"/>
          </a:p>
        </p:txBody>
      </p:sp>
      <p:sp>
        <p:nvSpPr>
          <p:cNvPr id="25" name="Pick text 1"/>
          <p:cNvSpPr/>
          <p:nvPr/>
        </p:nvSpPr>
        <p:spPr>
          <a:xfrm>
            <a:off x="5029200" y="2395728"/>
            <a:ext cx="2743200" cy="630936"/>
          </a:xfrm>
          <a:prstGeom prst="roundRect">
            <a:avLst>
              <a:gd name="adj" fmla="val 11594"/>
            </a:avLst>
          </a:prstGeom>
          <a:solidFill>
            <a:srgbClr val="FFD58A"/>
          </a:solidFill>
          <a:ln w="15875">
            <a:solidFill>
              <a:srgbClr val="FFD58A"/>
            </a:solidFill>
          </a:ln>
        </p:spPr>
        <p:txBody>
          <a:bodyPr wrap="square" lIns="50800" tIns="101600" rIns="101600" bIns="50800" rtlCol="0" anchor="ctr"/>
          <a:lstStyle/>
          <a:p>
            <a:pPr marL="0" indent="0" algn="l">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p:txBody>
      </p:sp>
      <p:sp>
        <p:nvSpPr>
          <p:cNvPr id="26" name="Pick header 2"/>
          <p:cNvSpPr txBox="1"/>
          <p:nvPr/>
        </p:nvSpPr>
        <p:spPr>
          <a:xfrm>
            <a:off x="4937760" y="3200400"/>
            <a:ext cx="2926080" cy="292608"/>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Top gain</a:t>
            </a:r>
            <a:endParaRPr lang="en-US" sz="1600" dirty="0"/>
          </a:p>
        </p:txBody>
      </p:sp>
      <p:sp>
        <p:nvSpPr>
          <p:cNvPr id="27" name="Pick card 2"/>
          <p:cNvSpPr/>
          <p:nvPr/>
        </p:nvSpPr>
        <p:spPr>
          <a:xfrm>
            <a:off x="4937760" y="3511296"/>
            <a:ext cx="2926080" cy="777240"/>
          </a:xfrm>
          <a:prstGeom prst="roundRect">
            <a:avLst>
              <a:gd name="adj" fmla="val 11765"/>
            </a:avLst>
          </a:prstGeom>
          <a:solidFill>
            <a:schemeClr val="bg1"/>
          </a:solidFill>
          <a:ln w="12700">
            <a:solidFill>
              <a:schemeClr val="bg1"/>
            </a:solidFill>
            <a:prstDash val="solid"/>
          </a:ln>
        </p:spPr>
        <p:txBody>
          <a:bodyPr/>
          <a:lstStyle/>
          <a:p>
            <a:endParaRPr lang="en-GB"/>
          </a:p>
        </p:txBody>
      </p:sp>
      <p:sp>
        <p:nvSpPr>
          <p:cNvPr id="28" name="Pick text 2"/>
          <p:cNvSpPr/>
          <p:nvPr/>
        </p:nvSpPr>
        <p:spPr>
          <a:xfrm>
            <a:off x="5029200" y="3584448"/>
            <a:ext cx="2743200" cy="630936"/>
          </a:xfrm>
          <a:prstGeom prst="roundRect">
            <a:avLst>
              <a:gd name="adj" fmla="val 11594"/>
            </a:avLst>
          </a:prstGeom>
          <a:solidFill>
            <a:srgbClr val="62D1AE"/>
          </a:solidFill>
          <a:ln w="15875">
            <a:solidFill>
              <a:srgbClr val="62D1AE"/>
            </a:solidFill>
          </a:ln>
        </p:spPr>
        <p:txBody>
          <a:bodyPr wrap="square" lIns="50800" tIns="101600" rIns="101600" bIns="50800" rtlCol="0" anchor="ctr"/>
          <a:lstStyle/>
          <a:p>
            <a:pPr marL="0" indent="0" algn="l">
              <a:buNone/>
            </a:pPr>
            <a:r>
              <a:rPr lang="en-US" sz="1800" dirty="0">
                <a:solidFill>
                  <a:schemeClr val="tx1"/>
                </a:solidFill>
                <a:latin typeface="PP Mori" pitchFamily="34" charset="0"/>
                <a:ea typeface="PP Mori" pitchFamily="34" charset="-122"/>
                <a:cs typeface="PP Mori" pitchFamily="34" charset="-120"/>
              </a:rPr>
              <a:t>Explain it fast</a:t>
            </a:r>
            <a:endParaRPr lang="en-US" sz="1800" dirty="0"/>
          </a:p>
        </p:txBody>
      </p:sp>
      <p:sp>
        <p:nvSpPr>
          <p:cNvPr id="29" name="Pick header 3"/>
          <p:cNvSpPr txBox="1"/>
          <p:nvPr/>
        </p:nvSpPr>
        <p:spPr>
          <a:xfrm>
            <a:off x="4937760" y="4389120"/>
            <a:ext cx="2926080" cy="292608"/>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Top pain</a:t>
            </a:r>
            <a:endParaRPr lang="en-US" sz="1600" dirty="0"/>
          </a:p>
        </p:txBody>
      </p:sp>
      <p:sp>
        <p:nvSpPr>
          <p:cNvPr id="30" name="Pick card 3"/>
          <p:cNvSpPr/>
          <p:nvPr/>
        </p:nvSpPr>
        <p:spPr>
          <a:xfrm>
            <a:off x="4937760" y="4700016"/>
            <a:ext cx="2926080" cy="777240"/>
          </a:xfrm>
          <a:prstGeom prst="roundRect">
            <a:avLst>
              <a:gd name="adj" fmla="val 11765"/>
            </a:avLst>
          </a:prstGeom>
          <a:solidFill>
            <a:schemeClr val="bg1"/>
          </a:solidFill>
          <a:ln w="12700">
            <a:solidFill>
              <a:schemeClr val="bg1"/>
            </a:solidFill>
            <a:prstDash val="solid"/>
          </a:ln>
        </p:spPr>
        <p:txBody>
          <a:bodyPr/>
          <a:lstStyle/>
          <a:p>
            <a:endParaRPr lang="en-GB"/>
          </a:p>
        </p:txBody>
      </p:sp>
      <p:sp>
        <p:nvSpPr>
          <p:cNvPr id="31" name="Pick text 3"/>
          <p:cNvSpPr/>
          <p:nvPr/>
        </p:nvSpPr>
        <p:spPr>
          <a:xfrm>
            <a:off x="5029200" y="4773168"/>
            <a:ext cx="2743200" cy="630936"/>
          </a:xfrm>
          <a:prstGeom prst="roundRect">
            <a:avLst>
              <a:gd name="adj" fmla="val 11594"/>
            </a:avLst>
          </a:prstGeom>
          <a:solidFill>
            <a:srgbClr val="FFB4B4"/>
          </a:solidFill>
          <a:ln w="15875">
            <a:solidFill>
              <a:srgbClr val="FFB4B4"/>
            </a:solidFill>
          </a:ln>
        </p:spPr>
        <p:txBody>
          <a:bodyPr wrap="square" lIns="50800" tIns="101600" rIns="101600" bIns="50800" rtlCol="0" anchor="ctr"/>
          <a:lstStyle/>
          <a:p>
            <a:pPr marL="0" indent="0" algn="l">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2" name="Framing statement card"/>
          <p:cNvSpPr/>
          <p:nvPr/>
        </p:nvSpPr>
        <p:spPr>
          <a:xfrm>
            <a:off x="8092440" y="2011680"/>
            <a:ext cx="3246120" cy="3429000"/>
          </a:xfrm>
          <a:prstGeom prst="roundRect">
            <a:avLst>
              <a:gd name="adj" fmla="val 4225"/>
            </a:avLst>
          </a:prstGeom>
          <a:solidFill>
            <a:schemeClr val="bg1"/>
          </a:solidFill>
          <a:ln w="12700">
            <a:solidFill>
              <a:schemeClr val="bg1"/>
            </a:solidFill>
            <a:prstDash val="solid"/>
          </a:ln>
        </p:spPr>
        <p:txBody>
          <a:bodyPr/>
          <a:lstStyle/>
          <a:p>
            <a:endParaRPr lang="en-GB"/>
          </a:p>
        </p:txBody>
      </p:sp>
      <p:sp>
        <p:nvSpPr>
          <p:cNvPr id="33" name="Framing statement"/>
          <p:cNvSpPr txBox="1"/>
          <p:nvPr/>
        </p:nvSpPr>
        <p:spPr>
          <a:xfrm>
            <a:off x="8275320" y="2148840"/>
            <a:ext cx="2926080" cy="3154680"/>
          </a:xfrm>
          <a:prstGeom prst="rect">
            <a:avLst/>
          </a:prstGeom>
          <a:noFill/>
          <a:ln/>
        </p:spPr>
        <p:txBody>
          <a:bodyPr wrap="square" lIns="0" tIns="0" rIns="0" bIns="0" rtlCol="0" anchor="t"/>
          <a:lstStyle/>
          <a:p>
            <a:pPr marL="0" indent="0">
              <a:spcAft>
                <a:spcPts val="800"/>
              </a:spcAft>
              <a:buNone/>
            </a:pPr>
            <a:r>
              <a:rPr lang="en-US" sz="1800" b="1" dirty="0">
                <a:solidFill>
                  <a:schemeClr val="tx1"/>
                </a:solidFill>
                <a:latin typeface="PP Mori" pitchFamily="34" charset="0"/>
                <a:ea typeface="PP Mori" pitchFamily="34" charset="-122"/>
                <a:cs typeface="PP Mori" pitchFamily="34" charset="-120"/>
              </a:rPr>
              <a:t>I am </a:t>
            </a:r>
            <a:r>
              <a:rPr lang="en-US" sz="1800" dirty="0">
                <a:solidFill>
                  <a:schemeClr val="tx1"/>
                </a:solidFill>
                <a:latin typeface="PP Mori" pitchFamily="34" charset="0"/>
                <a:ea typeface="PP Mori" pitchFamily="34" charset="-122"/>
                <a:cs typeface="PP Mori" pitchFamily="34" charset="-120"/>
              </a:rPr>
              <a:t>a maintenance manager.</a:t>
            </a:r>
            <a:endParaRPr lang="en-US" sz="1800" dirty="0"/>
          </a:p>
          <a:p>
            <a:pPr marL="0" indent="0">
              <a:spcAft>
                <a:spcPts val="800"/>
              </a:spcAft>
              <a:buNone/>
            </a:pPr>
            <a:r>
              <a:rPr lang="en-US" sz="1800" b="1" dirty="0">
                <a:solidFill>
                  <a:schemeClr val="tx1"/>
                </a:solidFill>
                <a:latin typeface="PP Mori" pitchFamily="34" charset="0"/>
                <a:ea typeface="PP Mori" pitchFamily="34" charset="-122"/>
                <a:cs typeface="PP Mori" pitchFamily="34" charset="-120"/>
              </a:rPr>
              <a:t>Trying to </a:t>
            </a: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a:p>
            <a:pPr marL="0" indent="0">
              <a:spcAft>
                <a:spcPts val="800"/>
              </a:spcAft>
              <a:buNone/>
            </a:pPr>
            <a:r>
              <a:rPr lang="en-US" sz="1800" b="1" dirty="0">
                <a:solidFill>
                  <a:schemeClr val="tx1"/>
                </a:solidFill>
                <a:latin typeface="PP Mori" pitchFamily="34" charset="0"/>
                <a:ea typeface="PP Mori" pitchFamily="34" charset="-122"/>
                <a:cs typeface="PP Mori" pitchFamily="34" charset="-120"/>
              </a:rPr>
              <a:t>But </a:t>
            </a:r>
            <a:r>
              <a:rPr lang="en-US" sz="1800" dirty="0">
                <a:solidFill>
                  <a:schemeClr val="tx1"/>
                </a:solidFill>
                <a:latin typeface="PP Mori" pitchFamily="34" charset="0"/>
                <a:ea typeface="PP Mori" pitchFamily="34" charset="-122"/>
                <a:cs typeface="PP Mori" pitchFamily="34" charset="-120"/>
              </a:rPr>
              <a:t>the reports disagree.</a:t>
            </a:r>
            <a:endParaRPr lang="en-US" sz="1800" dirty="0"/>
          </a:p>
          <a:p>
            <a:pPr marL="0" indent="0">
              <a:spcAft>
                <a:spcPts val="800"/>
              </a:spcAft>
              <a:buNone/>
            </a:pPr>
            <a:r>
              <a:rPr lang="en-US" sz="1800" b="1" dirty="0">
                <a:solidFill>
                  <a:schemeClr val="tx1"/>
                </a:solidFill>
                <a:latin typeface="PP Mori" pitchFamily="34" charset="0"/>
                <a:ea typeface="PP Mori" pitchFamily="34" charset="-122"/>
                <a:cs typeface="PP Mori" pitchFamily="34" charset="-120"/>
              </a:rPr>
              <a:t>Because </a:t>
            </a:r>
            <a:r>
              <a:rPr lang="en-US" sz="1800" dirty="0">
                <a:solidFill>
                  <a:schemeClr val="tx1"/>
                </a:solidFill>
                <a:latin typeface="PP Mori" pitchFamily="34" charset="0"/>
                <a:ea typeface="PP Mori" pitchFamily="34" charset="-122"/>
                <a:cs typeface="PP Mori" pitchFamily="34" charset="-120"/>
              </a:rPr>
              <a:t>source and timing are hidden.</a:t>
            </a:r>
            <a:endParaRPr lang="en-US" sz="1800" dirty="0"/>
          </a:p>
          <a:p>
            <a:pPr marL="0" indent="0">
              <a:spcAft>
                <a:spcPts val="800"/>
              </a:spcAft>
              <a:buNone/>
            </a:pPr>
            <a:r>
              <a:rPr lang="en-US" sz="1800" b="1" dirty="0">
                <a:solidFill>
                  <a:schemeClr val="tx1"/>
                </a:solidFill>
                <a:latin typeface="PP Mori" pitchFamily="34" charset="0"/>
                <a:ea typeface="PP Mori" pitchFamily="34" charset="-122"/>
                <a:cs typeface="PP Mori" pitchFamily="34" charset="-120"/>
              </a:rPr>
              <a:t>Makes me feel </a:t>
            </a:r>
            <a:r>
              <a:rPr lang="en-US" sz="1800" dirty="0">
                <a:solidFill>
                  <a:schemeClr val="tx1"/>
                </a:solidFill>
                <a:latin typeface="PP Mori" pitchFamily="34" charset="0"/>
                <a:ea typeface="PP Mori" pitchFamily="34" charset="-122"/>
                <a:cs typeface="PP Mori" pitchFamily="34" charset="-120"/>
              </a:rPr>
              <a:t>unsure.</a:t>
            </a:r>
            <a:endParaRPr lang="en-US" sz="1800" dirty="0"/>
          </a:p>
        </p:txBody>
      </p:sp>
      <p:sp>
        <p:nvSpPr>
          <p:cNvPr id="34" name="Canvas footnote"/>
          <p:cNvSpPr txBox="1"/>
          <p:nvPr/>
        </p:nvSpPr>
        <p:spPr>
          <a:xfrm>
            <a:off x="8092440" y="5504688"/>
            <a:ext cx="3246120" cy="228600"/>
          </a:xfrm>
          <a:prstGeom prst="rect">
            <a:avLst/>
          </a:prstGeom>
          <a:noFill/>
          <a:ln/>
        </p:spPr>
        <p:txBody>
          <a:bodyPr wrap="square" lIns="0" tIns="0" rIns="0" bIns="0" rtlCol="0" anchor="t"/>
          <a:lstStyle/>
          <a:p>
            <a:pPr marL="0" indent="0" algn="r">
              <a:buNone/>
            </a:pPr>
            <a:r>
              <a:rPr lang="en-US" sz="1200" dirty="0">
                <a:solidFill>
                  <a:srgbClr val="B3B3B3"/>
                </a:solidFill>
                <a:latin typeface="PP Mori" pitchFamily="34" charset="0"/>
                <a:ea typeface="PP Mori" pitchFamily="34" charset="-122"/>
                <a:cs typeface="PP Mori" pitchFamily="34" charset="-120"/>
              </a:rPr>
              <a:t>SYNTHETIC. All ESTIMATE.</a:t>
            </a:r>
            <a:endParaRPr lang="en-US" sz="1200" dirty="0"/>
          </a:p>
        </p:txBody>
      </p:sp>
      <p:sp>
        <p:nvSpPr>
          <p:cNvPr id="8"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marL="0" indent="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Proto-Persona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marL="0" indent="0">
              <a:buNone/>
            </a:pPr>
            <a:r>
              <a:rPr lang="en-US" sz="1800" dirty="0">
                <a:solidFill>
                  <a:srgbClr val="B3B3B3"/>
                </a:solidFill>
                <a:latin typeface="PP Mori" pitchFamily="34" charset="0"/>
                <a:ea typeface="PP Mori" pitchFamily="34" charset="-122"/>
                <a:cs typeface="PP Mori" pitchFamily="34" charset="-120"/>
              </a:rPr>
              <a:t>Who is this persona,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txBody>
          <a:bodyPr/>
          <a:lstStyle/>
          <a:p>
            <a:endParaRPr lang="en-GB"/>
          </a:p>
        </p:txBody>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Name card"/>
          <p:cNvSpPr/>
          <p:nvPr/>
        </p:nvSpPr>
        <p:spPr>
          <a:xfrm>
            <a:off x="822960" y="1554480"/>
            <a:ext cx="3017520" cy="960120"/>
          </a:xfrm>
          <a:prstGeom prst="roundRect">
            <a:avLst>
              <a:gd name="adj" fmla="val 9524"/>
            </a:avLst>
          </a:prstGeom>
          <a:solidFill>
            <a:schemeClr val="tx2"/>
          </a:solidFill>
          <a:ln w="15875">
            <a:solidFill>
              <a:schemeClr val="bg1"/>
            </a:solidFill>
            <a:prstDash val="solid"/>
          </a:ln>
        </p:spPr>
        <p:txBody>
          <a:bodyPr/>
          <a:lstStyle/>
          <a:p>
            <a:endParaRPr lang="en-GB"/>
          </a:p>
        </p:txBody>
      </p:sp>
      <p:sp>
        <p:nvSpPr>
          <p:cNvPr id="10" name="Name label"/>
          <p:cNvSpPr txBox="1"/>
          <p:nvPr/>
        </p:nvSpPr>
        <p:spPr>
          <a:xfrm>
            <a:off x="960120" y="1645920"/>
            <a:ext cx="274320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NAME</a:t>
            </a:r>
            <a:endParaRPr lang="en-US" sz="1400" dirty="0"/>
          </a:p>
        </p:txBody>
      </p:sp>
      <p:sp>
        <p:nvSpPr>
          <p:cNvPr id="11" name="Persona name"/>
          <p:cNvSpPr/>
          <p:nvPr/>
        </p:nvSpPr>
        <p:spPr>
          <a:xfrm>
            <a:off x="960120" y="1920240"/>
            <a:ext cx="2743200" cy="457200"/>
          </a:xfrm>
          <a:prstGeom prst="roundRect">
            <a:avLst>
              <a:gd name="adj" fmla="val 12000"/>
            </a:avLst>
          </a:prstGeom>
          <a:solidFill>
            <a:srgbClr val="B3F1FF"/>
          </a:solidFill>
          <a:ln w="15875">
            <a:solidFill>
              <a:srgbClr val="B3F1FF"/>
            </a:solidFill>
          </a:ln>
        </p:spPr>
        <p:txBody>
          <a:bodyPr wrap="square" lIns="50800" tIns="101600" rIns="101600" bIns="50800" rtlCol="0" anchor="ctr"/>
          <a:lstStyle/>
          <a:p>
            <a:pPr marL="0" indent="0" algn="l">
              <a:buNone/>
            </a:pPr>
            <a:r>
              <a:rPr lang="en-US" sz="1800" dirty="0">
                <a:solidFill>
                  <a:schemeClr val="tx1"/>
                </a:solidFill>
                <a:latin typeface="Clash Grotesk Medium" pitchFamily="34" charset="0"/>
                <a:ea typeface="Clash Grotesk Medium" pitchFamily="34" charset="-122"/>
                <a:cs typeface="Clash Grotesk Medium" pitchFamily="34" charset="-120"/>
              </a:rPr>
              <a:t>Maintenance manager</a:t>
            </a:r>
            <a:endParaRPr lang="en-US" sz="1800" dirty="0"/>
          </a:p>
        </p:txBody>
      </p:sp>
      <p:sp>
        <p:nvSpPr>
          <p:cNvPr id="12" name="Portrait card"/>
          <p:cNvSpPr/>
          <p:nvPr/>
        </p:nvSpPr>
        <p:spPr>
          <a:xfrm>
            <a:off x="822960" y="2606040"/>
            <a:ext cx="3017520" cy="3063240"/>
          </a:xfrm>
          <a:prstGeom prst="roundRect">
            <a:avLst>
              <a:gd name="adj" fmla="val 3030"/>
            </a:avLst>
          </a:prstGeom>
          <a:solidFill>
            <a:schemeClr val="tx2"/>
          </a:solidFill>
          <a:ln w="15875">
            <a:solidFill>
              <a:schemeClr val="bg1"/>
            </a:solidFill>
            <a:prstDash val="solid"/>
          </a:ln>
        </p:spPr>
        <p:txBody>
          <a:bodyPr/>
          <a:lstStyle/>
          <a:p>
            <a:endParaRPr lang="en-GB"/>
          </a:p>
        </p:txBody>
      </p:sp>
      <p:sp>
        <p:nvSpPr>
          <p:cNvPr id="13" name="Portrait label"/>
          <p:cNvSpPr txBox="1"/>
          <p:nvPr/>
        </p:nvSpPr>
        <p:spPr>
          <a:xfrm>
            <a:off x="960120" y="2697480"/>
            <a:ext cx="274320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PORTRAIT</a:t>
            </a:r>
            <a:endParaRPr lang="en-US" sz="1400" dirty="0"/>
          </a:p>
        </p:txBody>
      </p:sp>
      <p:sp>
        <p:nvSpPr>
          <p:cNvPr id="14" name="Portrait head"/>
          <p:cNvSpPr/>
          <p:nvPr/>
        </p:nvSpPr>
        <p:spPr>
          <a:xfrm>
            <a:off x="1828800" y="3108960"/>
            <a:ext cx="1005840" cy="1005840"/>
          </a:xfrm>
          <a:prstGeom prst="ellipse">
            <a:avLst/>
          </a:prstGeom>
          <a:ln w="50800">
            <a:solidFill>
              <a:srgbClr val="7A7A7A"/>
            </a:solidFill>
            <a:prstDash val="solid"/>
          </a:ln>
        </p:spPr>
        <p:txBody>
          <a:bodyPr/>
          <a:lstStyle/>
          <a:p>
            <a:endParaRPr lang="en-GB"/>
          </a:p>
        </p:txBody>
      </p:sp>
      <p:sp>
        <p:nvSpPr>
          <p:cNvPr id="15" name="Portrait shoulders"/>
          <p:cNvSpPr/>
          <p:nvPr/>
        </p:nvSpPr>
        <p:spPr>
          <a:xfrm>
            <a:off x="1554480" y="4251960"/>
            <a:ext cx="1554480" cy="868680"/>
          </a:xfrm>
          <a:prstGeom prst="round2SameRect">
            <a:avLst/>
          </a:prstGeom>
          <a:ln w="50800">
            <a:solidFill>
              <a:srgbClr val="7A7A7A"/>
            </a:solidFill>
            <a:prstDash val="solid"/>
          </a:ln>
        </p:spPr>
        <p:txBody>
          <a:bodyPr/>
          <a:lstStyle/>
          <a:p>
            <a:endParaRPr lang="en-GB"/>
          </a:p>
        </p:txBody>
      </p:sp>
      <p:sp>
        <p:nvSpPr>
          <p:cNvPr id="16" name="Portrait note"/>
          <p:cNvSpPr txBox="1"/>
          <p:nvPr/>
        </p:nvSpPr>
        <p:spPr>
          <a:xfrm>
            <a:off x="960120" y="5257800"/>
            <a:ext cx="2743200" cy="320040"/>
          </a:xfrm>
          <a:prstGeom prst="rect">
            <a:avLst/>
          </a:prstGeom>
          <a:noFill/>
          <a:ln/>
        </p:spPr>
        <p:txBody>
          <a:bodyPr wrap="square" lIns="0" tIns="0" rIns="0" bIns="0" rtlCol="0" anchor="t"/>
          <a:lstStyle/>
          <a:p>
            <a:pPr marL="0" indent="0" algn="ctr">
              <a:buNone/>
            </a:pPr>
            <a:r>
              <a:rPr lang="en-US" sz="1600" dirty="0">
                <a:solidFill>
                  <a:srgbClr val="B3B3B3"/>
                </a:solidFill>
                <a:latin typeface="PP Mori" pitchFamily="34" charset="0"/>
                <a:ea typeface="PP Mori" pitchFamily="34" charset="-122"/>
                <a:cs typeface="PP Mori" pitchFamily="34" charset="-120"/>
              </a:rPr>
              <a:t>an archetype, not a person</a:t>
            </a:r>
            <a:endParaRPr lang="en-US" sz="1600" dirty="0"/>
          </a:p>
        </p:txBody>
      </p:sp>
      <p:sp>
        <p:nvSpPr>
          <p:cNvPr id="17" name="Bio card"/>
          <p:cNvSpPr/>
          <p:nvPr/>
        </p:nvSpPr>
        <p:spPr>
          <a:xfrm>
            <a:off x="4023360" y="1554480"/>
            <a:ext cx="3611880" cy="2103120"/>
          </a:xfrm>
          <a:prstGeom prst="roundRect">
            <a:avLst>
              <a:gd name="adj" fmla="val 4348"/>
            </a:avLst>
          </a:prstGeom>
          <a:solidFill>
            <a:schemeClr val="tx2"/>
          </a:solidFill>
          <a:ln w="15875">
            <a:solidFill>
              <a:schemeClr val="bg1"/>
            </a:solidFill>
            <a:prstDash val="solid"/>
          </a:ln>
        </p:spPr>
        <p:txBody>
          <a:bodyPr/>
          <a:lstStyle/>
          <a:p>
            <a:endParaRPr lang="en-GB"/>
          </a:p>
        </p:txBody>
      </p:sp>
      <p:sp>
        <p:nvSpPr>
          <p:cNvPr id="18" name="Bio label"/>
          <p:cNvSpPr txBox="1"/>
          <p:nvPr/>
        </p:nvSpPr>
        <p:spPr>
          <a:xfrm>
            <a:off x="4160520" y="1645920"/>
            <a:ext cx="333756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BIO</a:t>
            </a:r>
            <a:endParaRPr lang="en-US" sz="1400" dirty="0"/>
          </a:p>
        </p:txBody>
      </p:sp>
      <p:sp>
        <p:nvSpPr>
          <p:cNvPr id="19" name="Bio 1"/>
          <p:cNvSpPr/>
          <p:nvPr/>
        </p:nvSpPr>
        <p:spPr>
          <a:xfrm>
            <a:off x="4160520" y="196596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Mid-sized plant</a:t>
            </a:r>
            <a:endParaRPr lang="en-US" sz="1600" dirty="0"/>
          </a:p>
        </p:txBody>
      </p:sp>
      <p:sp>
        <p:nvSpPr>
          <p:cNvPr id="20" name="Bio 2"/>
          <p:cNvSpPr/>
          <p:nvPr/>
        </p:nvSpPr>
        <p:spPr>
          <a:xfrm>
            <a:off x="4160520" y="251460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Flood of early warning signals</a:t>
            </a:r>
            <a:endParaRPr lang="en-US" sz="1600" dirty="0"/>
          </a:p>
        </p:txBody>
      </p:sp>
      <p:sp>
        <p:nvSpPr>
          <p:cNvPr id="21" name="Bio 3"/>
          <p:cNvSpPr/>
          <p:nvPr/>
        </p:nvSpPr>
        <p:spPr>
          <a:xfrm>
            <a:off x="4160520" y="306324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Checks logs, asks a tech</a:t>
            </a:r>
            <a:endParaRPr lang="en-US" sz="1600" dirty="0"/>
          </a:p>
        </p:txBody>
      </p:sp>
      <p:sp>
        <p:nvSpPr>
          <p:cNvPr id="22" name="Quotes card"/>
          <p:cNvSpPr/>
          <p:nvPr/>
        </p:nvSpPr>
        <p:spPr>
          <a:xfrm>
            <a:off x="7772400" y="1554480"/>
            <a:ext cx="3566160" cy="2103120"/>
          </a:xfrm>
          <a:prstGeom prst="roundRect">
            <a:avLst>
              <a:gd name="adj" fmla="val 4348"/>
            </a:avLst>
          </a:prstGeom>
          <a:solidFill>
            <a:schemeClr val="tx2"/>
          </a:solidFill>
          <a:ln w="15875">
            <a:solidFill>
              <a:schemeClr val="bg1"/>
            </a:solidFill>
            <a:prstDash val="solid"/>
          </a:ln>
        </p:spPr>
        <p:txBody>
          <a:bodyPr/>
          <a:lstStyle/>
          <a:p>
            <a:endParaRPr lang="en-GB"/>
          </a:p>
        </p:txBody>
      </p:sp>
      <p:sp>
        <p:nvSpPr>
          <p:cNvPr id="23" name="Quotes label"/>
          <p:cNvSpPr txBox="1"/>
          <p:nvPr/>
        </p:nvSpPr>
        <p:spPr>
          <a:xfrm>
            <a:off x="7909560" y="1645920"/>
            <a:ext cx="329184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QUOTES</a:t>
            </a:r>
            <a:endParaRPr lang="en-US" sz="1400" dirty="0"/>
          </a:p>
        </p:txBody>
      </p:sp>
      <p:sp>
        <p:nvSpPr>
          <p:cNvPr id="26" name="Outcomes card"/>
          <p:cNvSpPr/>
          <p:nvPr/>
        </p:nvSpPr>
        <p:spPr>
          <a:xfrm>
            <a:off x="4023360" y="3749040"/>
            <a:ext cx="3611880" cy="1920240"/>
          </a:xfrm>
          <a:prstGeom prst="roundRect">
            <a:avLst>
              <a:gd name="adj" fmla="val 4762"/>
            </a:avLst>
          </a:prstGeom>
          <a:solidFill>
            <a:schemeClr val="tx2"/>
          </a:solidFill>
          <a:ln w="15875">
            <a:solidFill>
              <a:schemeClr val="bg1"/>
            </a:solidFill>
            <a:prstDash val="solid"/>
          </a:ln>
        </p:spPr>
        <p:txBody>
          <a:bodyPr/>
          <a:lstStyle/>
          <a:p>
            <a:endParaRPr lang="en-GB"/>
          </a:p>
        </p:txBody>
      </p:sp>
      <p:sp>
        <p:nvSpPr>
          <p:cNvPr id="27" name="Outcomes label"/>
          <p:cNvSpPr txBox="1"/>
          <p:nvPr/>
        </p:nvSpPr>
        <p:spPr>
          <a:xfrm>
            <a:off x="4160520" y="3840480"/>
            <a:ext cx="333756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OUTCOMES</a:t>
            </a:r>
            <a:endParaRPr lang="en-US" sz="1400" dirty="0"/>
          </a:p>
        </p:txBody>
      </p:sp>
      <p:sp>
        <p:nvSpPr>
          <p:cNvPr id="28" name="Outcome 1"/>
          <p:cNvSpPr/>
          <p:nvPr/>
        </p:nvSpPr>
        <p:spPr>
          <a:xfrm>
            <a:off x="4160520" y="416052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Catch emerging failures early</a:t>
            </a:r>
            <a:endParaRPr lang="en-US" sz="1600" dirty="0"/>
          </a:p>
        </p:txBody>
      </p:sp>
      <p:sp>
        <p:nvSpPr>
          <p:cNvPr id="29" name="Outcome 2"/>
          <p:cNvSpPr/>
          <p:nvPr/>
        </p:nvSpPr>
        <p:spPr>
          <a:xfrm>
            <a:off x="4160520" y="475488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latin typeface="PP Mori" pitchFamily="34" charset="0"/>
              </a:rPr>
              <a:t>Prioritize right intervention</a:t>
            </a:r>
            <a:endParaRPr lang="en-US" sz="1600" dirty="0"/>
          </a:p>
        </p:txBody>
      </p:sp>
      <p:sp>
        <p:nvSpPr>
          <p:cNvPr id="30" name="Pains card"/>
          <p:cNvSpPr/>
          <p:nvPr/>
        </p:nvSpPr>
        <p:spPr>
          <a:xfrm>
            <a:off x="7772400" y="3749040"/>
            <a:ext cx="3566160" cy="1920240"/>
          </a:xfrm>
          <a:prstGeom prst="roundRect">
            <a:avLst>
              <a:gd name="adj" fmla="val 4762"/>
            </a:avLst>
          </a:prstGeom>
          <a:solidFill>
            <a:schemeClr val="tx2"/>
          </a:solidFill>
          <a:ln w="15875">
            <a:solidFill>
              <a:schemeClr val="bg1"/>
            </a:solidFill>
            <a:prstDash val="solid"/>
          </a:ln>
        </p:spPr>
        <p:txBody>
          <a:bodyPr/>
          <a:lstStyle/>
          <a:p>
            <a:endParaRPr lang="en-GB"/>
          </a:p>
        </p:txBody>
      </p:sp>
      <p:sp>
        <p:nvSpPr>
          <p:cNvPr id="31" name="Pains label"/>
          <p:cNvSpPr txBox="1"/>
          <p:nvPr/>
        </p:nvSpPr>
        <p:spPr>
          <a:xfrm>
            <a:off x="7909560" y="3840480"/>
            <a:ext cx="329184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PAINS</a:t>
            </a:r>
            <a:endParaRPr lang="en-US" sz="1400" dirty="0"/>
          </a:p>
        </p:txBody>
      </p:sp>
      <p:sp>
        <p:nvSpPr>
          <p:cNvPr id="32" name="Pain 1"/>
          <p:cNvSpPr/>
          <p:nvPr/>
        </p:nvSpPr>
        <p:spPr>
          <a:xfrm>
            <a:off x="7909560" y="416052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latin typeface="PP Mori" pitchFamily="34" charset="0"/>
              </a:rPr>
              <a:t>Balance interventions vs. uptime</a:t>
            </a:r>
            <a:endParaRPr lang="en-US" sz="1600" dirty="0"/>
          </a:p>
        </p:txBody>
      </p:sp>
      <p:sp>
        <p:nvSpPr>
          <p:cNvPr id="33" name="Pain 2"/>
          <p:cNvSpPr/>
          <p:nvPr/>
        </p:nvSpPr>
        <p:spPr>
          <a:xfrm>
            <a:off x="7909560" y="475488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Ad hoc issues on the rise</a:t>
            </a:r>
            <a:endParaRPr lang="en-US" sz="1600" dirty="0"/>
          </a:p>
        </p:txBody>
      </p:sp>
      <p:sp>
        <p:nvSpPr>
          <p:cNvPr id="8"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9</a:t>
            </a:fld>
            <a:endParaRPr lang="en-US"/>
          </a:p>
        </p:txBody>
      </p:sp>
      <p:sp>
        <p:nvSpPr>
          <p:cNvPr id="34" name="Bio 1">
            <a:extLst>
              <a:ext uri="{FF2B5EF4-FFF2-40B4-BE49-F238E27FC236}">
                <a16:creationId xmlns:a16="http://schemas.microsoft.com/office/drawing/2014/main" id="{FF77DDD1-FA4A-13B6-5B37-D0DC793DD453}"/>
              </a:ext>
            </a:extLst>
          </p:cNvPr>
          <p:cNvSpPr/>
          <p:nvPr/>
        </p:nvSpPr>
        <p:spPr>
          <a:xfrm>
            <a:off x="7866253" y="1965961"/>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”Which signals actually matter?</a:t>
            </a:r>
            <a:endParaRPr lang="en-US" sz="1600" dirty="0"/>
          </a:p>
        </p:txBody>
      </p:sp>
      <p:sp>
        <p:nvSpPr>
          <p:cNvPr id="35" name="Bio 2">
            <a:extLst>
              <a:ext uri="{FF2B5EF4-FFF2-40B4-BE49-F238E27FC236}">
                <a16:creationId xmlns:a16="http://schemas.microsoft.com/office/drawing/2014/main" id="{8D0FE24E-A3E7-9BA3-2356-9DD58D39D916}"/>
              </a:ext>
            </a:extLst>
          </p:cNvPr>
          <p:cNvSpPr/>
          <p:nvPr/>
        </p:nvSpPr>
        <p:spPr>
          <a:xfrm>
            <a:off x="7866253" y="2514601"/>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“What fails if I do nothing?”</a:t>
            </a:r>
            <a:endParaRPr lang="en-US" sz="1600" dirty="0"/>
          </a:p>
        </p:txBody>
      </p:sp>
      <p:sp>
        <p:nvSpPr>
          <p:cNvPr id="36" name="Bio 3">
            <a:extLst>
              <a:ext uri="{FF2B5EF4-FFF2-40B4-BE49-F238E27FC236}">
                <a16:creationId xmlns:a16="http://schemas.microsoft.com/office/drawing/2014/main" id="{E0EDB156-EFC8-8DD4-F5C6-8064812B9172}"/>
              </a:ext>
            </a:extLst>
          </p:cNvPr>
          <p:cNvSpPr/>
          <p:nvPr/>
        </p:nvSpPr>
        <p:spPr>
          <a:xfrm>
            <a:off x="7866253" y="3063241"/>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“Is the fix worth the downtime?”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marL="0" indent="0" algn="ctr">
              <a:lnSpc>
                <a:spcPct val="110000"/>
              </a:lnSpc>
              <a:buNone/>
            </a:pPr>
            <a:r>
              <a:rPr lang="en-US" sz="6600" dirty="0">
                <a:solidFill>
                  <a:schemeClr val="bg1"/>
                </a:solidFill>
                <a:latin typeface="FR Kraken Slab Medium" pitchFamily="34" charset="0"/>
                <a:ea typeface="FR Kraken Slab Medium" pitchFamily="34" charset="-122"/>
                <a:cs typeface="FR Kraken Slab Medium" pitchFamily="34" charset="-120"/>
              </a:rPr>
              <a:t>Where do we play, </a:t>
            </a:r>
            <a:r>
              <a:rPr lang="en-US" sz="6600" dirty="0">
                <a:solidFill>
                  <a:schemeClr val="accent1"/>
                </a:solidFill>
                <a:latin typeface="FR Kraken Slab Medium" pitchFamily="34" charset="0"/>
                <a:ea typeface="FR Kraken Slab Medium" pitchFamily="34" charset="-122"/>
                <a:cs typeface="FR Kraken Slab Medium" pitchFamily="34" charset="-120"/>
              </a:rPr>
              <a:t>Where do we win?</a:t>
            </a:r>
            <a:endParaRPr lang="en-US" sz="6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marL="0" indent="0">
              <a:buNone/>
            </a:pPr>
            <a:r>
              <a:rPr lang="en-US" sz="8000" dirty="0">
                <a:solidFill>
                  <a:schemeClr val="accent1"/>
                </a:solidFill>
                <a:latin typeface="Clash Display Semibold" pitchFamily="34" charset="0"/>
                <a:ea typeface="Clash Display Semibold" pitchFamily="34" charset="-122"/>
                <a:cs typeface="Clash Display Semibold" pitchFamily="34" charset="-120"/>
              </a:rPr>
              <a:t>04</a:t>
            </a:r>
            <a:endParaRPr lang="en-US" sz="8000" dirty="0"/>
          </a:p>
        </p:txBody>
      </p:sp>
      <p:sp>
        <p:nvSpPr>
          <p:cNvPr id="3" name="Text 0"/>
          <p:cNvSpPr>
            <a:spLocks noGrp="1"/>
          </p:cNvSpPr>
          <p:nvPr>
            <p:ph type="title" idx="101" hasCustomPrompt="1"/>
          </p:nvPr>
        </p:nvSpPr>
        <p:spPr>
          <a:xfrm>
            <a:off x="548640" y="1600200"/>
            <a:ext cx="5212080" cy="1143000"/>
          </a:xfrm>
          <a:prstGeom prst="rect">
            <a:avLst/>
          </a:prstGeom>
          <a:noFill/>
          <a:ln/>
        </p:spPr>
        <p:txBody>
          <a:bodyPr wrap="square" lIns="0" tIns="0" rIns="0" bIns="0" rtlCol="0" anchor="t"/>
          <a:lstStyle/>
          <a:p>
            <a:pPr marL="0" indent="0" algn="l">
              <a:buNone/>
            </a:pPr>
            <a:r>
              <a:rPr lang="en-US" sz="4000" dirty="0">
                <a:solidFill>
                  <a:schemeClr val="bg1"/>
                </a:solidFill>
                <a:latin typeface="Clash Grotesk Medium" pitchFamily="34" charset="0"/>
                <a:ea typeface="Clash Grotesk Medium" pitchFamily="34" charset="-122"/>
                <a:cs typeface="Clash Grotesk Medium" pitchFamily="34" charset="-120"/>
              </a:rPr>
              <a:t>Opportunity Solution Tree</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marL="0" indent="0">
              <a:buNone/>
            </a:pPr>
            <a:r>
              <a:rPr lang="en-US" sz="2200" dirty="0">
                <a:solidFill>
                  <a:schemeClr val="bg1"/>
                </a:solidFill>
                <a:latin typeface="PP Mori" pitchFamily="34" charset="0"/>
                <a:ea typeface="PP Mori" pitchFamily="34" charset="-122"/>
                <a:cs typeface="PP Mori" pitchFamily="34" charset="-120"/>
              </a:rPr>
              <a:t>Which needs are worth pursuing, and which solutions and cheap experiments hang off them?</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OPPORTUNITY SOLUTION TREE</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800" dirty="0">
                <a:solidFill>
                  <a:schemeClr val="accent1"/>
                </a:solidFill>
                <a:latin typeface="PP Mori" pitchFamily="34" charset="0"/>
                <a:ea typeface="PP Mori" pitchFamily="34" charset="-122"/>
                <a:cs typeface="PP Mori" pitchFamily="34" charset="-120"/>
              </a:rPr>
              <a:t>A dashboard is a solution candidate, not a need.</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txBody>
          <a:bodyPr/>
          <a:lstStyle/>
          <a:p>
            <a:endParaRPr lang="en-GB"/>
          </a:p>
        </p:txBody>
      </p:sp>
      <p:sp>
        <p:nvSpPr>
          <p:cNvPr id="8" name="Text 6"/>
          <p:cNvSpPr txBox="1"/>
          <p:nvPr/>
        </p:nvSpPr>
        <p:spPr>
          <a:xfrm>
            <a:off x="6492240" y="777240"/>
            <a:ext cx="1737360" cy="274320"/>
          </a:xfrm>
          <a:prstGeom prst="rect">
            <a:avLst/>
          </a:prstGeom>
          <a:noFill/>
          <a:ln/>
        </p:spPr>
        <p:txBody>
          <a:bodyPr wrap="square" lIns="0" tIns="0" rIns="0" bIns="0" rtlCol="0" anchor="t"/>
          <a:lstStyle/>
          <a:p>
            <a:pPr marL="0" indent="0">
              <a:buNone/>
            </a:pPr>
            <a:r>
              <a:rPr lang="en-US" sz="1400" kern="0" spc="100" dirty="0">
                <a:solidFill>
                  <a:schemeClr val="accent1"/>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9" name="Text 7"/>
          <p:cNvSpPr txBox="1"/>
          <p:nvPr/>
        </p:nvSpPr>
        <p:spPr>
          <a:xfrm>
            <a:off x="8092440" y="777240"/>
            <a:ext cx="1737360" cy="274320"/>
          </a:xfrm>
          <a:prstGeom prst="rect">
            <a:avLst/>
          </a:prstGeom>
          <a:noFill/>
          <a:ln/>
        </p:spPr>
        <p:txBody>
          <a:bodyPr wrap="square" lIns="0" tIns="0" rIns="0" bIns="0" rtlCol="0" anchor="t"/>
          <a:lstStyle/>
          <a:p>
            <a:pPr marL="0" indent="0">
              <a:buNone/>
            </a:pPr>
            <a:r>
              <a:rPr lang="en-US" sz="1400" kern="0" spc="100" dirty="0">
                <a:solidFill>
                  <a:schemeClr val="accent1"/>
                </a:solidFill>
                <a:latin typeface="Clash Display Semibold" pitchFamily="34" charset="0"/>
                <a:ea typeface="Clash Display Semibold" pitchFamily="34" charset="-122"/>
                <a:cs typeface="Clash Display Semibold" pitchFamily="34" charset="-120"/>
              </a:rPr>
              <a:t>NEEDS</a:t>
            </a:r>
            <a:endParaRPr lang="en-US" sz="1400" dirty="0"/>
          </a:p>
        </p:txBody>
      </p:sp>
      <p:sp>
        <p:nvSpPr>
          <p:cNvPr id="10" name="Text 8"/>
          <p:cNvSpPr txBox="1"/>
          <p:nvPr/>
        </p:nvSpPr>
        <p:spPr>
          <a:xfrm>
            <a:off x="9875520" y="777240"/>
            <a:ext cx="1737360" cy="274320"/>
          </a:xfrm>
          <a:prstGeom prst="rect">
            <a:avLst/>
          </a:prstGeom>
          <a:noFill/>
          <a:ln/>
        </p:spPr>
        <p:txBody>
          <a:bodyPr wrap="square" lIns="0" tIns="0" rIns="0" bIns="0" rtlCol="0" anchor="t"/>
          <a:lstStyle/>
          <a:p>
            <a:pPr marL="0" indent="0">
              <a:buNone/>
            </a:pPr>
            <a:r>
              <a:rPr lang="en-US" sz="1400" kern="0" spc="100" dirty="0">
                <a:solidFill>
                  <a:schemeClr val="accent1"/>
                </a:solidFill>
                <a:latin typeface="Clash Display Semibold" pitchFamily="34" charset="0"/>
                <a:ea typeface="Clash Display Semibold" pitchFamily="34" charset="-122"/>
                <a:cs typeface="Clash Display Semibold" pitchFamily="34" charset="-120"/>
              </a:rPr>
              <a:t>SOLUTIONS</a:t>
            </a:r>
            <a:endParaRPr lang="en-US" sz="1400" dirty="0"/>
          </a:p>
        </p:txBody>
      </p:sp>
      <p:sp>
        <p:nvSpPr>
          <p:cNvPr id="11" name="Outcome"/>
          <p:cNvSpPr/>
          <p:nvPr/>
        </p:nvSpPr>
        <p:spPr>
          <a:xfrm>
            <a:off x="6492240" y="2377440"/>
            <a:ext cx="137160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Decrease Downtime</a:t>
            </a:r>
            <a:endParaRPr lang="en-US" sz="1600" dirty="0"/>
          </a:p>
        </p:txBody>
      </p:sp>
      <p:sp>
        <p:nvSpPr>
          <p:cNvPr id="12" name="Opportunity 1"/>
          <p:cNvSpPr/>
          <p:nvPr/>
        </p:nvSpPr>
        <p:spPr>
          <a:xfrm>
            <a:off x="8092440" y="1463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Reduce </a:t>
            </a:r>
            <a:br>
              <a:rPr lang="en-US" sz="1600" dirty="0">
                <a:solidFill>
                  <a:schemeClr val="tx1"/>
                </a:solidFill>
                <a:latin typeface="PP Mori" pitchFamily="34" charset="0"/>
                <a:ea typeface="PP Mori" pitchFamily="34" charset="-122"/>
                <a:cs typeface="PP Mori" pitchFamily="34" charset="-120"/>
              </a:rPr>
            </a:br>
            <a:r>
              <a:rPr lang="en-US" sz="1600" dirty="0">
                <a:solidFill>
                  <a:schemeClr val="tx1"/>
                </a:solidFill>
                <a:latin typeface="PP Mori" pitchFamily="34" charset="0"/>
                <a:ea typeface="PP Mori" pitchFamily="34" charset="-122"/>
                <a:cs typeface="PP Mori" pitchFamily="34" charset="-120"/>
              </a:rPr>
              <a:t>ad-hoc equipment incidents</a:t>
            </a:r>
            <a:endParaRPr lang="en-US" sz="1600" dirty="0"/>
          </a:p>
        </p:txBody>
      </p:sp>
      <p:sp>
        <p:nvSpPr>
          <p:cNvPr id="13" name="Opportunity 2"/>
          <p:cNvSpPr/>
          <p:nvPr/>
        </p:nvSpPr>
        <p:spPr>
          <a:xfrm>
            <a:off x="8092440" y="3749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Automated permission and coordination</a:t>
            </a:r>
            <a:endParaRPr lang="en-US" sz="1600" dirty="0"/>
          </a:p>
        </p:txBody>
      </p:sp>
      <p:sp>
        <p:nvSpPr>
          <p:cNvPr id="14" name="Solution process"/>
          <p:cNvSpPr/>
          <p:nvPr/>
        </p:nvSpPr>
        <p:spPr>
          <a:xfrm>
            <a:off x="9875520" y="233172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r>
              <a:rPr lang="en-US" sz="1600" dirty="0">
                <a:solidFill>
                  <a:schemeClr val="bg1"/>
                </a:solidFill>
                <a:latin typeface="PP Mori" pitchFamily="34" charset="0"/>
                <a:ea typeface="PP Mori" pitchFamily="34" charset="-122"/>
                <a:cs typeface="PP Mori" pitchFamily="34" charset="-120"/>
              </a:rPr>
              <a:t>Predictive dashboard</a:t>
            </a:r>
            <a:endParaRPr lang="en-US" sz="1600" dirty="0"/>
          </a:p>
        </p:txBody>
      </p:sp>
      <p:sp>
        <p:nvSpPr>
          <p:cNvPr id="15" name="Solution dashboard"/>
          <p:cNvSpPr/>
          <p:nvPr/>
        </p:nvSpPr>
        <p:spPr>
          <a:xfrm>
            <a:off x="9875520" y="128016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marL="0" indent="0" algn="l">
              <a:buNone/>
            </a:pPr>
            <a:r>
              <a:rPr lang="en-US" sz="1600" dirty="0">
                <a:solidFill>
                  <a:schemeClr val="bg1"/>
                </a:solidFill>
                <a:latin typeface="PP Mori" pitchFamily="34" charset="0"/>
                <a:ea typeface="PP Mori" pitchFamily="34" charset="-122"/>
                <a:cs typeface="PP Mori" pitchFamily="34" charset="-120"/>
              </a:rPr>
              <a:t>Incident router</a:t>
            </a:r>
            <a:endParaRPr lang="en-US" sz="1600" dirty="0"/>
          </a:p>
        </p:txBody>
      </p:sp>
      <p:sp>
        <p:nvSpPr>
          <p:cNvPr id="16" name="Experiment"/>
          <p:cNvSpPr/>
          <p:nvPr/>
        </p:nvSpPr>
        <p:spPr>
          <a:xfrm>
            <a:off x="9875520" y="3474720"/>
            <a:ext cx="1600200" cy="822960"/>
          </a:xfrm>
          <a:prstGeom prst="roundRect">
            <a:avLst>
              <a:gd name="adj" fmla="val 13333"/>
            </a:avLst>
          </a:prstGeom>
          <a:solidFill>
            <a:schemeClr val="accent1"/>
          </a:solidFill>
          <a:ln w="15875">
            <a:solidFill>
              <a:schemeClr val="accent1"/>
            </a:solidFill>
          </a:ln>
        </p:spPr>
        <p:txBody>
          <a:bodyPr wrap="square" lIns="50800" tIns="101600" rIns="101600" bIns="50800" rtlCol="0" anchor="ctr"/>
          <a:lstStyle/>
          <a:p>
            <a:pPr marL="0" indent="0" algn="l">
              <a:buNone/>
            </a:pPr>
            <a:r>
              <a:rPr lang="en-US" sz="1600" dirty="0">
                <a:solidFill>
                  <a:schemeClr val="tx1"/>
                </a:solidFill>
                <a:latin typeface="PP Mori" pitchFamily="34" charset="0"/>
                <a:ea typeface="PP Mori" pitchFamily="34" charset="-122"/>
                <a:cs typeface="PP Mori" pitchFamily="34" charset="-120"/>
              </a:rPr>
              <a:t>Test: storyboard</a:t>
            </a:r>
            <a:endParaRPr lang="en-US" sz="1600" dirty="0"/>
          </a:p>
        </p:txBody>
      </p:sp>
      <p:sp>
        <p:nvSpPr>
          <p:cNvPr id="17" name="Link outcome to opportunity 1"/>
          <p:cNvSpPr/>
          <p:nvPr/>
        </p:nvSpPr>
        <p:spPr>
          <a:xfrm flipV="1">
            <a:off x="7863840" y="2148840"/>
            <a:ext cx="228600" cy="914400"/>
          </a:xfrm>
          <a:prstGeom prst="line">
            <a:avLst/>
          </a:prstGeom>
          <a:noFill/>
          <a:ln w="25400">
            <a:solidFill>
              <a:schemeClr val="bg1"/>
            </a:solidFill>
            <a:prstDash val="solid"/>
            <a:tailEnd type="triangle"/>
          </a:ln>
        </p:spPr>
        <p:txBody>
          <a:bodyPr/>
          <a:lstStyle/>
          <a:p>
            <a:endParaRPr lang="en-GB"/>
          </a:p>
        </p:txBody>
      </p:sp>
      <p:sp>
        <p:nvSpPr>
          <p:cNvPr id="18" name="Link outcome to opportunity 2"/>
          <p:cNvSpPr/>
          <p:nvPr/>
        </p:nvSpPr>
        <p:spPr>
          <a:xfrm>
            <a:off x="7863840" y="3063240"/>
            <a:ext cx="228600" cy="1371600"/>
          </a:xfrm>
          <a:prstGeom prst="line">
            <a:avLst/>
          </a:prstGeom>
          <a:noFill/>
          <a:ln w="25400">
            <a:solidFill>
              <a:schemeClr val="bg1"/>
            </a:solidFill>
            <a:prstDash val="solid"/>
            <a:tailEnd type="triangle"/>
          </a:ln>
        </p:spPr>
        <p:txBody>
          <a:bodyPr/>
          <a:lstStyle/>
          <a:p>
            <a:endParaRPr lang="en-GB"/>
          </a:p>
        </p:txBody>
      </p:sp>
      <p:sp>
        <p:nvSpPr>
          <p:cNvPr id="19" name="Link opportunity to process"/>
          <p:cNvSpPr/>
          <p:nvPr/>
        </p:nvSpPr>
        <p:spPr>
          <a:xfrm>
            <a:off x="9646920" y="2148840"/>
            <a:ext cx="228600" cy="594360"/>
          </a:xfrm>
          <a:prstGeom prst="line">
            <a:avLst/>
          </a:prstGeom>
          <a:noFill/>
          <a:ln w="25400">
            <a:solidFill>
              <a:schemeClr val="bg1"/>
            </a:solidFill>
            <a:prstDash val="solid"/>
            <a:tailEnd type="triangle"/>
          </a:ln>
        </p:spPr>
        <p:txBody>
          <a:bodyPr/>
          <a:lstStyle/>
          <a:p>
            <a:endParaRPr lang="en-GB"/>
          </a:p>
        </p:txBody>
      </p:sp>
      <p:sp>
        <p:nvSpPr>
          <p:cNvPr id="20" name="Link opportunity to dashboard"/>
          <p:cNvSpPr/>
          <p:nvPr/>
        </p:nvSpPr>
        <p:spPr>
          <a:xfrm flipV="1">
            <a:off x="9646920" y="1691640"/>
            <a:ext cx="228600" cy="457200"/>
          </a:xfrm>
          <a:prstGeom prst="line">
            <a:avLst/>
          </a:prstGeom>
          <a:noFill/>
          <a:ln w="25400">
            <a:solidFill>
              <a:schemeClr val="bg1"/>
            </a:solidFill>
            <a:prstDash val="solid"/>
            <a:tailEnd type="triangle"/>
          </a:ln>
        </p:spPr>
        <p:txBody>
          <a:bodyPr/>
          <a:lstStyle/>
          <a:p>
            <a:endParaRPr lang="en-GB"/>
          </a:p>
        </p:txBody>
      </p:sp>
      <p:sp>
        <p:nvSpPr>
          <p:cNvPr id="21" name="Link process to experiment"/>
          <p:cNvSpPr/>
          <p:nvPr/>
        </p:nvSpPr>
        <p:spPr>
          <a:xfrm>
            <a:off x="10675620" y="3154680"/>
            <a:ext cx="0" cy="320040"/>
          </a:xfrm>
          <a:prstGeom prst="line">
            <a:avLst/>
          </a:prstGeom>
          <a:noFill/>
          <a:ln w="25400">
            <a:solidFill>
              <a:schemeClr val="accent1"/>
            </a:solidFill>
            <a:prstDash val="solid"/>
            <a:tailEnd type="triangle"/>
          </a:ln>
        </p:spPr>
        <p:txBody>
          <a:bodyPr/>
          <a:lstStyle/>
          <a:p>
            <a:endParaRPr lang="en-GB"/>
          </a:p>
        </p:txBody>
      </p:sp>
      <p:sp>
        <p:nvSpPr>
          <p:cNvPr id="22" name="Text 20"/>
          <p:cNvSpPr txBox="1"/>
          <p:nvPr/>
        </p:nvSpPr>
        <p:spPr>
          <a:xfrm>
            <a:off x="6492240" y="5486400"/>
            <a:ext cx="4937760" cy="36576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Synthetic. A person picks at the gate.</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marL="0" indent="0">
              <a:buNone/>
            </a:pPr>
            <a:r>
              <a:rPr lang="en-US" sz="8000" dirty="0">
                <a:solidFill>
                  <a:schemeClr val="accent1"/>
                </a:solidFill>
                <a:latin typeface="Clash Display Semibold" pitchFamily="34" charset="0"/>
                <a:ea typeface="Clash Display Semibold" pitchFamily="34" charset="-122"/>
                <a:cs typeface="Clash Display Semibold" pitchFamily="34" charset="-120"/>
              </a:rPr>
              <a:t>05</a:t>
            </a:r>
            <a:endParaRPr lang="en-US" sz="8000" dirty="0"/>
          </a:p>
        </p:txBody>
      </p:sp>
      <p:sp>
        <p:nvSpPr>
          <p:cNvPr id="3" name="Text 0"/>
          <p:cNvSpPr>
            <a:spLocks noGrp="1"/>
          </p:cNvSpPr>
          <p:nvPr>
            <p:ph type="title" idx="101" hasCustomPrompt="1"/>
          </p:nvPr>
        </p:nvSpPr>
        <p:spPr>
          <a:xfrm>
            <a:off x="548640" y="1600200"/>
            <a:ext cx="5212080" cy="1143000"/>
          </a:xfrm>
          <a:prstGeom prst="rect">
            <a:avLst/>
          </a:prstGeom>
          <a:noFill/>
          <a:ln/>
        </p:spPr>
        <p:txBody>
          <a:bodyPr wrap="square" lIns="0" tIns="0" rIns="0" bIns="0" rtlCol="0" anchor="t"/>
          <a:lstStyle/>
          <a:p>
            <a:pPr marL="0" indent="0" algn="l">
              <a:buNone/>
            </a:pPr>
            <a:r>
              <a:rPr lang="en-US" sz="4000" dirty="0">
                <a:solidFill>
                  <a:schemeClr val="bg1"/>
                </a:solidFill>
                <a:latin typeface="Clash Grotesk Medium" pitchFamily="34" charset="0"/>
                <a:ea typeface="Clash Grotesk Medium" pitchFamily="34" charset="-122"/>
                <a:cs typeface="Clash Grotesk Medium" pitchFamily="34" charset="-120"/>
              </a:rPr>
              <a:t>Value Prop vs. Differentiation 2x2</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marL="0" indent="0">
              <a:buNone/>
            </a:pPr>
            <a:r>
              <a:rPr lang="en-US" sz="2200" dirty="0">
                <a:solidFill>
                  <a:schemeClr val="bg1"/>
                </a:solidFill>
                <a:latin typeface="PP Mori" pitchFamily="34" charset="0"/>
                <a:ea typeface="PP Mori" pitchFamily="34" charset="-122"/>
                <a:cs typeface="PP Mori" pitchFamily="34" charset="-120"/>
              </a:rPr>
              <a:t>Where does each solution from the tree sit? Does the value matter, and is the difference meaningful?</a:t>
            </a:r>
            <a:endParaRPr lang="en-US" sz="2200" dirty="0"/>
          </a:p>
        </p:txBody>
      </p:sp>
      <p:sp>
        <p:nvSpPr>
          <p:cNvPr id="5" name="Artifact pill"/>
          <p:cNvSpPr/>
          <p:nvPr/>
        </p:nvSpPr>
        <p:spPr>
          <a:xfrm>
            <a:off x="548640" y="4572000"/>
            <a:ext cx="200253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2X2</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800" dirty="0">
                <a:solidFill>
                  <a:schemeClr val="accent1"/>
                </a:solidFill>
                <a:latin typeface="PP Mori" pitchFamily="34" charset="0"/>
                <a:ea typeface="PP Mori" pitchFamily="34" charset="-122"/>
                <a:cs typeface="PP Mori" pitchFamily="34" charset="-120"/>
              </a:rPr>
              <a:t>Different is not the same as valuable. AI novelty is evidence of neither.</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txBody>
          <a:bodyPr/>
          <a:lstStyle/>
          <a:p>
            <a:endParaRPr lang="en-GB"/>
          </a:p>
        </p:txBody>
      </p:sp>
      <p:sp>
        <p:nvSpPr>
          <p:cNvPr id="8" name="Value axis"/>
          <p:cNvSpPr/>
          <p:nvPr/>
        </p:nvSpPr>
        <p:spPr>
          <a:xfrm>
            <a:off x="7086600" y="5120640"/>
            <a:ext cx="4206240" cy="0"/>
          </a:xfrm>
          <a:prstGeom prst="line">
            <a:avLst/>
          </a:prstGeom>
          <a:noFill/>
          <a:ln w="38100">
            <a:solidFill>
              <a:schemeClr val="bg1"/>
            </a:solidFill>
            <a:prstDash val="solid"/>
            <a:tailEnd type="triangle"/>
          </a:ln>
        </p:spPr>
        <p:txBody>
          <a:bodyPr/>
          <a:lstStyle/>
          <a:p>
            <a:endParaRPr lang="en-GB"/>
          </a:p>
        </p:txBody>
      </p:sp>
      <p:sp>
        <p:nvSpPr>
          <p:cNvPr id="9" name="Difference axis"/>
          <p:cNvSpPr/>
          <p:nvPr/>
        </p:nvSpPr>
        <p:spPr>
          <a:xfrm flipV="1">
            <a:off x="7086600" y="1280160"/>
            <a:ext cx="0" cy="3840480"/>
          </a:xfrm>
          <a:prstGeom prst="line">
            <a:avLst/>
          </a:prstGeom>
          <a:noFill/>
          <a:ln w="38100">
            <a:solidFill>
              <a:schemeClr val="bg1"/>
            </a:solidFill>
            <a:prstDash val="solid"/>
            <a:headEnd type="triangle"/>
          </a:ln>
        </p:spPr>
        <p:txBody>
          <a:bodyPr/>
          <a:lstStyle/>
          <a:p>
            <a:endParaRPr lang="en-GB"/>
          </a:p>
        </p:txBody>
      </p:sp>
      <p:sp>
        <p:nvSpPr>
          <p:cNvPr id="10" name="Midline vertical"/>
          <p:cNvSpPr/>
          <p:nvPr/>
        </p:nvSpPr>
        <p:spPr>
          <a:xfrm>
            <a:off x="9189720" y="1280160"/>
            <a:ext cx="0" cy="3840480"/>
          </a:xfrm>
          <a:prstGeom prst="line">
            <a:avLst/>
          </a:prstGeom>
          <a:noFill/>
          <a:ln w="19050">
            <a:solidFill>
              <a:srgbClr val="3A3A3A"/>
            </a:solidFill>
            <a:prstDash val="solid"/>
          </a:ln>
        </p:spPr>
        <p:txBody>
          <a:bodyPr/>
          <a:lstStyle/>
          <a:p>
            <a:endParaRPr lang="en-GB"/>
          </a:p>
        </p:txBody>
      </p:sp>
      <p:sp>
        <p:nvSpPr>
          <p:cNvPr id="11" name="Midline horizontal"/>
          <p:cNvSpPr/>
          <p:nvPr/>
        </p:nvSpPr>
        <p:spPr>
          <a:xfrm>
            <a:off x="7086600" y="3200400"/>
            <a:ext cx="4206240" cy="0"/>
          </a:xfrm>
          <a:prstGeom prst="line">
            <a:avLst/>
          </a:prstGeom>
          <a:noFill/>
          <a:ln w="19050">
            <a:solidFill>
              <a:srgbClr val="3A3A3A"/>
            </a:solidFill>
            <a:prstDash val="solid"/>
          </a:ln>
        </p:spPr>
        <p:txBody>
          <a:bodyPr/>
          <a:lstStyle/>
          <a:p>
            <a:endParaRPr lang="en-GB"/>
          </a:p>
        </p:txBody>
      </p:sp>
      <p:sp>
        <p:nvSpPr>
          <p:cNvPr id="12" name="Value axis label"/>
          <p:cNvSpPr txBox="1"/>
          <p:nvPr/>
        </p:nvSpPr>
        <p:spPr>
          <a:xfrm>
            <a:off x="7086600" y="5230368"/>
            <a:ext cx="4206240" cy="274320"/>
          </a:xfrm>
          <a:prstGeom prst="rect">
            <a:avLst/>
          </a:prstGeom>
          <a:noFill/>
          <a:ln/>
        </p:spPr>
        <p:txBody>
          <a:bodyPr wrap="square" lIns="0" tIns="0" rIns="0" bIns="0" rtlCol="0" anchor="t"/>
          <a:lstStyle/>
          <a:p>
            <a:pPr marL="0" indent="0" algn="ctr">
              <a:buNone/>
            </a:pPr>
            <a:r>
              <a:rPr lang="en-US" sz="1600" dirty="0">
                <a:solidFill>
                  <a:schemeClr val="bg1"/>
                </a:solidFill>
                <a:latin typeface="PP Mori" pitchFamily="34" charset="0"/>
                <a:ea typeface="PP Mori" pitchFamily="34" charset="-122"/>
                <a:cs typeface="PP Mori" pitchFamily="34" charset="-120"/>
              </a:rPr>
              <a:t>Value to the persona</a:t>
            </a:r>
            <a:endParaRPr lang="en-US" sz="1600" dirty="0"/>
          </a:p>
        </p:txBody>
      </p:sp>
      <p:sp>
        <p:nvSpPr>
          <p:cNvPr id="13" name="Difference axis label"/>
          <p:cNvSpPr txBox="1"/>
          <p:nvPr/>
        </p:nvSpPr>
        <p:spPr>
          <a:xfrm rot="16200000">
            <a:off x="4892040" y="3040380"/>
            <a:ext cx="3840480" cy="320040"/>
          </a:xfrm>
          <a:prstGeom prst="rect">
            <a:avLst/>
          </a:prstGeom>
          <a:noFill/>
          <a:ln/>
        </p:spPr>
        <p:txBody>
          <a:bodyPr wrap="square" lIns="0" tIns="0" rIns="0" bIns="0" rtlCol="0" anchor="t"/>
          <a:lstStyle/>
          <a:p>
            <a:pPr marL="0" indent="0" algn="ctr">
              <a:buNone/>
            </a:pPr>
            <a:r>
              <a:rPr lang="en-US" sz="1600" dirty="0">
                <a:solidFill>
                  <a:schemeClr val="bg1"/>
                </a:solidFill>
                <a:latin typeface="PP Mori" pitchFamily="34" charset="0"/>
                <a:ea typeface="PP Mori" pitchFamily="34" charset="-122"/>
                <a:cs typeface="PP Mori" pitchFamily="34" charset="-120"/>
              </a:rPr>
              <a:t>Meaningful difference</a:t>
            </a:r>
            <a:endParaRPr lang="en-US" sz="1600" dirty="0"/>
          </a:p>
        </p:txBody>
      </p:sp>
      <p:sp>
        <p:nvSpPr>
          <p:cNvPr id="14" name="Text 12"/>
          <p:cNvSpPr txBox="1"/>
          <p:nvPr/>
        </p:nvSpPr>
        <p:spPr>
          <a:xfrm>
            <a:off x="7223760" y="1417320"/>
            <a:ext cx="1828800" cy="54864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Different, not valuable</a:t>
            </a:r>
            <a:endParaRPr lang="en-US" sz="1400" dirty="0"/>
          </a:p>
        </p:txBody>
      </p:sp>
      <p:sp>
        <p:nvSpPr>
          <p:cNvPr id="15" name="Text 13"/>
          <p:cNvSpPr txBox="1"/>
          <p:nvPr/>
        </p:nvSpPr>
        <p:spPr>
          <a:xfrm>
            <a:off x="9326880" y="1417320"/>
            <a:ext cx="1828800" cy="54864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Valuable and different</a:t>
            </a:r>
            <a:endParaRPr lang="en-US" sz="1400" dirty="0"/>
          </a:p>
        </p:txBody>
      </p:sp>
      <p:sp>
        <p:nvSpPr>
          <p:cNvPr id="16" name="Text 14"/>
          <p:cNvSpPr txBox="1"/>
          <p:nvPr/>
        </p:nvSpPr>
        <p:spPr>
          <a:xfrm>
            <a:off x="7223760" y="3337560"/>
            <a:ext cx="1828800" cy="54864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Neither</a:t>
            </a:r>
            <a:endParaRPr lang="en-US" sz="1400" dirty="0"/>
          </a:p>
        </p:txBody>
      </p:sp>
      <p:sp>
        <p:nvSpPr>
          <p:cNvPr id="17" name="Text 15"/>
          <p:cNvSpPr txBox="1"/>
          <p:nvPr/>
        </p:nvSpPr>
        <p:spPr>
          <a:xfrm>
            <a:off x="9326880" y="3337560"/>
            <a:ext cx="1828800" cy="54864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Valuable, not different</a:t>
            </a:r>
            <a:endParaRPr lang="en-US" sz="1400" dirty="0"/>
          </a:p>
        </p:txBody>
      </p:sp>
      <p:sp>
        <p:nvSpPr>
          <p:cNvPr id="18" name="Solution A"/>
          <p:cNvSpPr/>
          <p:nvPr/>
        </p:nvSpPr>
        <p:spPr>
          <a:xfrm>
            <a:off x="7882128" y="2121408"/>
            <a:ext cx="512064" cy="512064"/>
          </a:xfrm>
          <a:prstGeom prst="ellipse">
            <a:avLst/>
          </a:prstGeom>
          <a:solidFill>
            <a:schemeClr val="accent1"/>
          </a:solidFill>
          <a:ln w="25400">
            <a:solidFill>
              <a:schemeClr val="accent1"/>
            </a:solidFill>
          </a:ln>
        </p:spPr>
        <p:txBody>
          <a:bodyPr wrap="square" lIns="0" tIns="0" rIns="0" bIns="0" rtlCol="0" anchor="ctr"/>
          <a:lstStyle/>
          <a:p>
            <a:pPr marL="0" indent="0" algn="ctr">
              <a:buNone/>
            </a:pPr>
            <a:r>
              <a:rPr lang="en-US" sz="1600" dirty="0">
                <a:solidFill>
                  <a:schemeClr val="tx1"/>
                </a:solidFill>
                <a:latin typeface="Clash Grotesk Medium" pitchFamily="34" charset="0"/>
                <a:ea typeface="Clash Grotesk Medium" pitchFamily="34" charset="-122"/>
                <a:cs typeface="Clash Grotesk Medium" pitchFamily="34" charset="-120"/>
              </a:rPr>
              <a:t>A</a:t>
            </a:r>
            <a:endParaRPr lang="en-US" sz="1600" dirty="0"/>
          </a:p>
        </p:txBody>
      </p:sp>
      <p:sp>
        <p:nvSpPr>
          <p:cNvPr id="19" name="Solution A label"/>
          <p:cNvSpPr txBox="1"/>
          <p:nvPr/>
        </p:nvSpPr>
        <p:spPr>
          <a:xfrm>
            <a:off x="7223760" y="2697480"/>
            <a:ext cx="1828800" cy="274320"/>
          </a:xfrm>
          <a:prstGeom prst="rect">
            <a:avLst/>
          </a:prstGeom>
          <a:noFill/>
          <a:ln/>
        </p:spPr>
        <p:txBody>
          <a:bodyPr wrap="square" lIns="0" tIns="0" rIns="0" bIns="0" rtlCol="0" anchor="t"/>
          <a:lstStyle/>
          <a:p>
            <a:pPr marL="0" indent="0" algn="ctr">
              <a:buNone/>
            </a:pPr>
            <a:r>
              <a:rPr lang="en-US" sz="1500" dirty="0">
                <a:solidFill>
                  <a:schemeClr val="bg1"/>
                </a:solidFill>
                <a:latin typeface="PP Mori" pitchFamily="34" charset="0"/>
                <a:ea typeface="PP Mori" pitchFamily="34" charset="-122"/>
                <a:cs typeface="PP Mori" pitchFamily="34" charset="-120"/>
              </a:rPr>
              <a:t>Predictive dashboard</a:t>
            </a:r>
            <a:endParaRPr lang="en-US" sz="1500" dirty="0"/>
          </a:p>
        </p:txBody>
      </p:sp>
      <p:sp>
        <p:nvSpPr>
          <p:cNvPr id="20" name="Solution B"/>
          <p:cNvSpPr/>
          <p:nvPr/>
        </p:nvSpPr>
        <p:spPr>
          <a:xfrm>
            <a:off x="9939528" y="3767328"/>
            <a:ext cx="512064" cy="512064"/>
          </a:xfrm>
          <a:prstGeom prst="ellipse">
            <a:avLst/>
          </a:prstGeom>
          <a:solidFill>
            <a:schemeClr val="accent1"/>
          </a:solidFill>
          <a:ln w="25400">
            <a:solidFill>
              <a:schemeClr val="accent1"/>
            </a:solidFill>
          </a:ln>
        </p:spPr>
        <p:txBody>
          <a:bodyPr wrap="square" lIns="0" tIns="0" rIns="0" bIns="0" rtlCol="0" anchor="ctr"/>
          <a:lstStyle/>
          <a:p>
            <a:pPr marL="0" indent="0" algn="ctr">
              <a:buNone/>
            </a:pPr>
            <a:r>
              <a:rPr lang="en-US" sz="1600" dirty="0">
                <a:solidFill>
                  <a:schemeClr val="tx1"/>
                </a:solidFill>
                <a:latin typeface="Clash Grotesk Medium" pitchFamily="34" charset="0"/>
                <a:ea typeface="Clash Grotesk Medium" pitchFamily="34" charset="-122"/>
                <a:cs typeface="Clash Grotesk Medium" pitchFamily="34" charset="-120"/>
              </a:rPr>
              <a:t>B</a:t>
            </a:r>
            <a:endParaRPr lang="en-US" sz="1600" dirty="0"/>
          </a:p>
        </p:txBody>
      </p:sp>
      <p:sp>
        <p:nvSpPr>
          <p:cNvPr id="21" name="Solution B label"/>
          <p:cNvSpPr txBox="1"/>
          <p:nvPr/>
        </p:nvSpPr>
        <p:spPr>
          <a:xfrm>
            <a:off x="9281160" y="4343400"/>
            <a:ext cx="1828800" cy="274320"/>
          </a:xfrm>
          <a:prstGeom prst="rect">
            <a:avLst/>
          </a:prstGeom>
          <a:noFill/>
          <a:ln/>
        </p:spPr>
        <p:txBody>
          <a:bodyPr wrap="square" lIns="0" tIns="0" rIns="0" bIns="0" rtlCol="0" anchor="t"/>
          <a:lstStyle/>
          <a:p>
            <a:pPr marL="0" indent="0" algn="ctr">
              <a:buNone/>
            </a:pPr>
            <a:r>
              <a:rPr lang="en-US" sz="1500" dirty="0">
                <a:solidFill>
                  <a:schemeClr val="bg1"/>
                </a:solidFill>
                <a:latin typeface="PP Mori" pitchFamily="34" charset="0"/>
                <a:ea typeface="PP Mori" pitchFamily="34" charset="-122"/>
                <a:cs typeface="PP Mori" pitchFamily="34" charset="-120"/>
              </a:rPr>
              <a:t>Incident router</a:t>
            </a:r>
            <a:endParaRPr lang="en-US" sz="1500" dirty="0"/>
          </a:p>
        </p:txBody>
      </p:sp>
      <p:sp>
        <p:nvSpPr>
          <p:cNvPr id="22" name="Competitor marker"/>
          <p:cNvSpPr/>
          <p:nvPr/>
        </p:nvSpPr>
        <p:spPr>
          <a:xfrm>
            <a:off x="9957816" y="1956816"/>
            <a:ext cx="475488" cy="475488"/>
          </a:xfrm>
          <a:prstGeom prst="roundRect">
            <a:avLst>
              <a:gd name="adj" fmla="val 15385"/>
            </a:avLst>
          </a:prstGeom>
          <a:solidFill>
            <a:schemeClr val="tx2"/>
          </a:solidFill>
          <a:ln w="31750">
            <a:solidFill>
              <a:schemeClr val="bg1"/>
            </a:solidFill>
            <a:prstDash val="solid"/>
          </a:ln>
        </p:spPr>
        <p:txBody>
          <a:bodyPr/>
          <a:lstStyle/>
          <a:p>
            <a:endParaRPr lang="en-GB"/>
          </a:p>
        </p:txBody>
      </p:sp>
      <p:sp>
        <p:nvSpPr>
          <p:cNvPr id="23" name="Competitor label"/>
          <p:cNvSpPr txBox="1"/>
          <p:nvPr/>
        </p:nvSpPr>
        <p:spPr>
          <a:xfrm>
            <a:off x="9281160" y="2514600"/>
            <a:ext cx="1828800" cy="274320"/>
          </a:xfrm>
          <a:prstGeom prst="rect">
            <a:avLst/>
          </a:prstGeom>
          <a:noFill/>
          <a:ln/>
        </p:spPr>
        <p:txBody>
          <a:bodyPr wrap="square" lIns="0" tIns="0" rIns="0" bIns="0" rtlCol="0" anchor="t"/>
          <a:lstStyle/>
          <a:p>
            <a:pPr marL="0" indent="0" algn="ctr">
              <a:buNone/>
            </a:pPr>
            <a:r>
              <a:rPr lang="en-US" sz="1500" dirty="0">
                <a:solidFill>
                  <a:schemeClr val="bg1"/>
                </a:solidFill>
                <a:latin typeface="PP Mori" pitchFamily="34" charset="0"/>
                <a:ea typeface="PP Mori" pitchFamily="34" charset="-122"/>
                <a:cs typeface="PP Mori" pitchFamily="34" charset="-120"/>
              </a:rPr>
              <a:t>Incumbent</a:t>
            </a:r>
            <a:endParaRPr lang="en-US" sz="1500" dirty="0"/>
          </a:p>
        </p:txBody>
      </p:sp>
      <p:sp>
        <p:nvSpPr>
          <p:cNvPr id="24" name="Workaround marker"/>
          <p:cNvSpPr/>
          <p:nvPr/>
        </p:nvSpPr>
        <p:spPr>
          <a:xfrm>
            <a:off x="7900416" y="4059936"/>
            <a:ext cx="475488" cy="475488"/>
          </a:xfrm>
          <a:prstGeom prst="ellipse">
            <a:avLst/>
          </a:prstGeom>
          <a:ln w="31750">
            <a:solidFill>
              <a:schemeClr val="bg1"/>
            </a:solidFill>
            <a:prstDash val="dash"/>
          </a:ln>
        </p:spPr>
        <p:txBody>
          <a:bodyPr/>
          <a:lstStyle/>
          <a:p>
            <a:endParaRPr lang="en-GB"/>
          </a:p>
        </p:txBody>
      </p:sp>
      <p:sp>
        <p:nvSpPr>
          <p:cNvPr id="25" name="Workaround label"/>
          <p:cNvSpPr txBox="1"/>
          <p:nvPr/>
        </p:nvSpPr>
        <p:spPr>
          <a:xfrm>
            <a:off x="7223760" y="4617720"/>
            <a:ext cx="1828800" cy="274320"/>
          </a:xfrm>
          <a:prstGeom prst="rect">
            <a:avLst/>
          </a:prstGeom>
          <a:noFill/>
          <a:ln/>
        </p:spPr>
        <p:txBody>
          <a:bodyPr wrap="square" lIns="0" tIns="0" rIns="0" bIns="0" rtlCol="0" anchor="t"/>
          <a:lstStyle/>
          <a:p>
            <a:pPr marL="0" indent="0" algn="ctr">
              <a:buNone/>
            </a:pPr>
            <a:r>
              <a:rPr lang="en-US" sz="1500" dirty="0">
                <a:solidFill>
                  <a:schemeClr val="bg1"/>
                </a:solidFill>
                <a:latin typeface="PP Mori" pitchFamily="34" charset="0"/>
                <a:ea typeface="PP Mori" pitchFamily="34" charset="-122"/>
                <a:cs typeface="PP Mori" pitchFamily="34" charset="-120"/>
              </a:rPr>
              <a:t>Current workaround</a:t>
            </a:r>
            <a:endParaRPr lang="en-US" sz="1500" dirty="0"/>
          </a:p>
        </p:txBody>
      </p:sp>
      <p:sp>
        <p:nvSpPr>
          <p:cNvPr id="26" name="Legend solution"/>
          <p:cNvSpPr/>
          <p:nvPr/>
        </p:nvSpPr>
        <p:spPr>
          <a:xfrm>
            <a:off x="6583680" y="5650992"/>
            <a:ext cx="182880" cy="182880"/>
          </a:xfrm>
          <a:prstGeom prst="ellipse">
            <a:avLst/>
          </a:prstGeom>
          <a:solidFill>
            <a:schemeClr val="accent1"/>
          </a:solidFill>
          <a:ln w="12700">
            <a:solidFill>
              <a:schemeClr val="accent1"/>
            </a:solidFill>
            <a:prstDash val="solid"/>
          </a:ln>
        </p:spPr>
        <p:txBody>
          <a:bodyPr/>
          <a:lstStyle/>
          <a:p>
            <a:endParaRPr lang="en-GB"/>
          </a:p>
        </p:txBody>
      </p:sp>
      <p:sp>
        <p:nvSpPr>
          <p:cNvPr id="27" name="Legend solution text"/>
          <p:cNvSpPr txBox="1"/>
          <p:nvPr/>
        </p:nvSpPr>
        <p:spPr>
          <a:xfrm>
            <a:off x="6812280" y="5596128"/>
            <a:ext cx="914400" cy="27432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Solution</a:t>
            </a:r>
            <a:endParaRPr lang="en-US" sz="1400" dirty="0"/>
          </a:p>
        </p:txBody>
      </p:sp>
      <p:sp>
        <p:nvSpPr>
          <p:cNvPr id="28" name="Legend competitor"/>
          <p:cNvSpPr/>
          <p:nvPr/>
        </p:nvSpPr>
        <p:spPr>
          <a:xfrm>
            <a:off x="8001000" y="5650992"/>
            <a:ext cx="182880" cy="182880"/>
          </a:xfrm>
          <a:prstGeom prst="roundRect">
            <a:avLst>
              <a:gd name="adj" fmla="val 20000"/>
            </a:avLst>
          </a:prstGeom>
          <a:solidFill>
            <a:schemeClr val="tx2"/>
          </a:solidFill>
          <a:ln w="19050">
            <a:solidFill>
              <a:schemeClr val="bg1"/>
            </a:solidFill>
            <a:prstDash val="solid"/>
          </a:ln>
        </p:spPr>
        <p:txBody>
          <a:bodyPr/>
          <a:lstStyle/>
          <a:p>
            <a:endParaRPr lang="en-GB"/>
          </a:p>
        </p:txBody>
      </p:sp>
      <p:sp>
        <p:nvSpPr>
          <p:cNvPr id="29" name="Legend competitor text"/>
          <p:cNvSpPr txBox="1"/>
          <p:nvPr/>
        </p:nvSpPr>
        <p:spPr>
          <a:xfrm>
            <a:off x="8257032" y="5596128"/>
            <a:ext cx="1005840" cy="27432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Competitor</a:t>
            </a:r>
            <a:endParaRPr lang="en-US" sz="1400" dirty="0"/>
          </a:p>
        </p:txBody>
      </p:sp>
      <p:sp>
        <p:nvSpPr>
          <p:cNvPr id="30" name="Legend workaround"/>
          <p:cNvSpPr/>
          <p:nvPr/>
        </p:nvSpPr>
        <p:spPr>
          <a:xfrm>
            <a:off x="9418320" y="5650992"/>
            <a:ext cx="182880" cy="182880"/>
          </a:xfrm>
          <a:prstGeom prst="ellipse">
            <a:avLst/>
          </a:prstGeom>
          <a:ln w="19050">
            <a:solidFill>
              <a:schemeClr val="bg1"/>
            </a:solidFill>
            <a:prstDash val="dash"/>
          </a:ln>
        </p:spPr>
        <p:txBody>
          <a:bodyPr/>
          <a:lstStyle/>
          <a:p>
            <a:endParaRPr lang="en-GB"/>
          </a:p>
        </p:txBody>
      </p:sp>
      <p:sp>
        <p:nvSpPr>
          <p:cNvPr id="31" name="Legend workaround text"/>
          <p:cNvSpPr txBox="1"/>
          <p:nvPr/>
        </p:nvSpPr>
        <p:spPr>
          <a:xfrm>
            <a:off x="9674352" y="5596128"/>
            <a:ext cx="1737360" cy="274320"/>
          </a:xfrm>
          <a:prstGeom prst="rect">
            <a:avLst/>
          </a:prstGeom>
          <a:noFill/>
          <a:ln/>
        </p:spPr>
        <p:txBody>
          <a:bodyPr wrap="square" lIns="0" tIns="0" rIns="0" bIns="0" rtlCol="0" anchor="t"/>
          <a:lstStyle/>
          <a:p>
            <a:pPr marL="0" indent="0">
              <a:buNone/>
            </a:pPr>
            <a:r>
              <a:rPr lang="en-US" sz="1400" dirty="0">
                <a:solidFill>
                  <a:srgbClr val="B3B3B3"/>
                </a:solidFill>
                <a:latin typeface="PP Mori" pitchFamily="34" charset="0"/>
                <a:ea typeface="PP Mori" pitchFamily="34" charset="-122"/>
                <a:cs typeface="PP Mori" pitchFamily="34" charset="-120"/>
              </a:rPr>
              <a:t>Workaround</a:t>
            </a:r>
            <a:endParaRPr lang="en-US" sz="1400" dirty="0"/>
          </a:p>
        </p:txBody>
      </p:sp>
      <p:sp>
        <p:nvSpPr>
          <p:cNvPr id="32" name="Evidence label ESTIMATE"/>
          <p:cNvSpPr/>
          <p:nvPr/>
        </p:nvSpPr>
        <p:spPr>
          <a:xfrm>
            <a:off x="8366760" y="731520"/>
            <a:ext cx="3017520" cy="329184"/>
          </a:xfrm>
          <a:prstGeom prst="roundRect">
            <a:avLst>
              <a:gd name="adj" fmla="val 50000"/>
            </a:avLst>
          </a:prstGeom>
          <a:solidFill>
            <a:schemeClr val="accent3"/>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ESTIMATE: ILLUSTRATIVE</a:t>
            </a:r>
            <a:endParaRPr lang="en-US" sz="1400" dirty="0"/>
          </a:p>
        </p:txBody>
      </p:sp>
      <p:sp>
        <p:nvSpPr>
          <p:cNvPr id="33"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marL="0" indent="0">
              <a:buNone/>
            </a:pPr>
            <a:r>
              <a:rPr lang="en-US" sz="4400" dirty="0">
                <a:solidFill>
                  <a:schemeClr val="accent1"/>
                </a:solidFill>
                <a:latin typeface="Clash Display Semibold" pitchFamily="34" charset="0"/>
                <a:ea typeface="Clash Display Semibold" pitchFamily="34" charset="-122"/>
                <a:cs typeface="Clash Display Semibold" pitchFamily="34" charset="-120"/>
              </a:rPr>
              <a:t>06</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Positioning Statement</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marL="0" indent="0">
              <a:buNone/>
            </a:pPr>
            <a:r>
              <a:rPr lang="en-US" sz="1800" dirty="0">
                <a:solidFill>
                  <a:srgbClr val="B3B3B3"/>
                </a:solidFill>
                <a:latin typeface="PP Mori" pitchFamily="34" charset="0"/>
                <a:ea typeface="PP Mori" pitchFamily="34" charset="-122"/>
                <a:cs typeface="PP Mori" pitchFamily="34" charset="-120"/>
              </a:rPr>
              <a:t>Why is this for this persona, and why would they choose it over today's workaround?</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txBody>
          <a:bodyPr/>
          <a:lstStyle/>
          <a:p>
            <a:endParaRPr lang="en-GB"/>
          </a:p>
        </p:txBody>
      </p:sp>
      <p:sp>
        <p:nvSpPr>
          <p:cNvPr id="6" name="Artifact pill"/>
          <p:cNvSpPr/>
          <p:nvPr/>
        </p:nvSpPr>
        <p:spPr>
          <a:xfrm>
            <a:off x="548640" y="5943600"/>
            <a:ext cx="414223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POSITIONING STATEMENT</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600" dirty="0">
                <a:solidFill>
                  <a:schemeClr val="accent1"/>
                </a:solidFill>
                <a:latin typeface="PP Mori" pitchFamily="34" charset="0"/>
                <a:ea typeface="PP Mori" pitchFamily="34" charset="-122"/>
                <a:cs typeface="PP Mori" pitchFamily="34" charset="-120"/>
              </a:rPr>
              <a:t>A proposed difference is not a reason to believe.</a:t>
            </a:r>
            <a:endParaRPr lang="en-US" sz="1600" dirty="0"/>
          </a:p>
        </p:txBody>
      </p:sp>
      <p:sp>
        <p:nvSpPr>
          <p:cNvPr id="9" name="Row For label"/>
          <p:cNvSpPr txBox="1"/>
          <p:nvPr/>
        </p:nvSpPr>
        <p:spPr>
          <a:xfrm>
            <a:off x="822960" y="1572768"/>
            <a:ext cx="2743200" cy="502920"/>
          </a:xfrm>
          <a:prstGeom prst="rect">
            <a:avLst/>
          </a:prstGeom>
          <a:noFill/>
          <a:ln/>
        </p:spPr>
        <p:txBody>
          <a:bodyPr wrap="square" lIns="0" tIns="0" rIns="0" bIns="0" rtlCol="0" anchor="ctr"/>
          <a:lstStyle/>
          <a:p>
            <a:pPr marL="0" indent="0" algn="r">
              <a:buNone/>
            </a:pPr>
            <a:r>
              <a:rPr lang="en-US" sz="2200" dirty="0">
                <a:solidFill>
                  <a:schemeClr val="accent1"/>
                </a:solidFill>
                <a:latin typeface="Clash Grotesk Medium" pitchFamily="34" charset="0"/>
                <a:ea typeface="Clash Grotesk Medium" pitchFamily="34" charset="-122"/>
                <a:cs typeface="Clash Grotesk Medium" pitchFamily="34" charset="-120"/>
              </a:rPr>
              <a:t>For</a:t>
            </a:r>
            <a:endParaRPr lang="en-US" sz="2200" dirty="0"/>
          </a:p>
        </p:txBody>
      </p:sp>
      <p:sp>
        <p:nvSpPr>
          <p:cNvPr id="10" name="Row For text"/>
          <p:cNvSpPr txBox="1"/>
          <p:nvPr/>
        </p:nvSpPr>
        <p:spPr>
          <a:xfrm>
            <a:off x="3840480" y="1572768"/>
            <a:ext cx="7498080" cy="502920"/>
          </a:xfrm>
          <a:prstGeom prst="rect">
            <a:avLst/>
          </a:prstGeom>
          <a:noFill/>
          <a:ln/>
        </p:spPr>
        <p:txBody>
          <a:bodyPr wrap="square" lIns="0" tIns="0" rIns="0" bIns="0" rtlCol="0" anchor="ctr"/>
          <a:lstStyle/>
          <a:p>
            <a:pPr marL="0" indent="0">
              <a:buNone/>
            </a:pPr>
            <a:r>
              <a:rPr lang="en-US" sz="2600" dirty="0">
                <a:solidFill>
                  <a:schemeClr val="bg1"/>
                </a:solidFill>
                <a:latin typeface="PP Mori" pitchFamily="34" charset="0"/>
                <a:ea typeface="PP Mori" pitchFamily="34" charset="-122"/>
                <a:cs typeface="PP Mori" pitchFamily="34" charset="-120"/>
              </a:rPr>
              <a:t>maintenance managers</a:t>
            </a:r>
            <a:endParaRPr lang="en-US" sz="2600" dirty="0"/>
          </a:p>
        </p:txBody>
      </p:sp>
      <p:sp>
        <p:nvSpPr>
          <p:cNvPr id="11" name="Row For rule"/>
          <p:cNvSpPr/>
          <p:nvPr/>
        </p:nvSpPr>
        <p:spPr>
          <a:xfrm>
            <a:off x="3840480" y="2103120"/>
            <a:ext cx="7498080" cy="0"/>
          </a:xfrm>
          <a:prstGeom prst="line">
            <a:avLst/>
          </a:prstGeom>
          <a:noFill/>
          <a:ln w="12700">
            <a:solidFill>
              <a:srgbClr val="3A3A3A"/>
            </a:solidFill>
            <a:prstDash val="solid"/>
          </a:ln>
        </p:spPr>
        <p:txBody>
          <a:bodyPr/>
          <a:lstStyle/>
          <a:p>
            <a:endParaRPr lang="en-GB"/>
          </a:p>
        </p:txBody>
      </p:sp>
      <p:sp>
        <p:nvSpPr>
          <p:cNvPr id="12" name="Row Who label"/>
          <p:cNvSpPr txBox="1"/>
          <p:nvPr/>
        </p:nvSpPr>
        <p:spPr>
          <a:xfrm>
            <a:off x="822960" y="2157984"/>
            <a:ext cx="2743200" cy="502920"/>
          </a:xfrm>
          <a:prstGeom prst="rect">
            <a:avLst/>
          </a:prstGeom>
          <a:noFill/>
          <a:ln/>
        </p:spPr>
        <p:txBody>
          <a:bodyPr wrap="square" lIns="0" tIns="0" rIns="0" bIns="0" rtlCol="0" anchor="ctr"/>
          <a:lstStyle/>
          <a:p>
            <a:pPr marL="0" indent="0" algn="r">
              <a:buNone/>
            </a:pPr>
            <a:r>
              <a:rPr lang="en-US" sz="2200" dirty="0">
                <a:solidFill>
                  <a:schemeClr val="accent1"/>
                </a:solidFill>
                <a:latin typeface="Clash Grotesk Medium" pitchFamily="34" charset="0"/>
                <a:ea typeface="Clash Grotesk Medium" pitchFamily="34" charset="-122"/>
                <a:cs typeface="Clash Grotesk Medium" pitchFamily="34" charset="-120"/>
              </a:rPr>
              <a:t>Who</a:t>
            </a:r>
            <a:endParaRPr lang="en-US" sz="2200" dirty="0"/>
          </a:p>
        </p:txBody>
      </p:sp>
      <p:sp>
        <p:nvSpPr>
          <p:cNvPr id="13" name="Row Who text"/>
          <p:cNvSpPr txBox="1"/>
          <p:nvPr/>
        </p:nvSpPr>
        <p:spPr>
          <a:xfrm>
            <a:off x="3840480" y="2157984"/>
            <a:ext cx="7498080" cy="502920"/>
          </a:xfrm>
          <a:prstGeom prst="rect">
            <a:avLst/>
          </a:prstGeom>
          <a:noFill/>
          <a:ln/>
        </p:spPr>
        <p:txBody>
          <a:bodyPr wrap="square" lIns="0" tIns="0" rIns="0" bIns="0" rtlCol="0" anchor="ctr"/>
          <a:lstStyle/>
          <a:p>
            <a:pPr marL="0" indent="0">
              <a:buNone/>
            </a:pPr>
            <a:r>
              <a:rPr lang="en-US" sz="2600" dirty="0">
                <a:solidFill>
                  <a:schemeClr val="bg1"/>
                </a:solidFill>
                <a:latin typeface="PP Mori" pitchFamily="34" charset="0"/>
              </a:rPr>
              <a:t>want to get out in front of common issues </a:t>
            </a:r>
            <a:endParaRPr lang="en-US" sz="2600" dirty="0"/>
          </a:p>
        </p:txBody>
      </p:sp>
      <p:sp>
        <p:nvSpPr>
          <p:cNvPr id="14" name="Row Who rule"/>
          <p:cNvSpPr/>
          <p:nvPr/>
        </p:nvSpPr>
        <p:spPr>
          <a:xfrm>
            <a:off x="3840480" y="2688336"/>
            <a:ext cx="7498080" cy="0"/>
          </a:xfrm>
          <a:prstGeom prst="line">
            <a:avLst/>
          </a:prstGeom>
          <a:noFill/>
          <a:ln w="12700">
            <a:solidFill>
              <a:srgbClr val="3A3A3A"/>
            </a:solidFill>
            <a:prstDash val="solid"/>
          </a:ln>
        </p:spPr>
        <p:txBody>
          <a:bodyPr/>
          <a:lstStyle/>
          <a:p>
            <a:endParaRPr lang="en-GB"/>
          </a:p>
        </p:txBody>
      </p:sp>
      <p:sp>
        <p:nvSpPr>
          <p:cNvPr id="15" name="Row The label"/>
          <p:cNvSpPr txBox="1"/>
          <p:nvPr/>
        </p:nvSpPr>
        <p:spPr>
          <a:xfrm>
            <a:off x="822960" y="2743200"/>
            <a:ext cx="2743200" cy="502920"/>
          </a:xfrm>
          <a:prstGeom prst="rect">
            <a:avLst/>
          </a:prstGeom>
          <a:noFill/>
          <a:ln/>
        </p:spPr>
        <p:txBody>
          <a:bodyPr wrap="square" lIns="0" tIns="0" rIns="0" bIns="0" rtlCol="0" anchor="ctr"/>
          <a:lstStyle/>
          <a:p>
            <a:pPr marL="0" indent="0" algn="r">
              <a:buNone/>
            </a:pPr>
            <a:r>
              <a:rPr lang="en-US" sz="2200" dirty="0">
                <a:solidFill>
                  <a:schemeClr val="accent1"/>
                </a:solidFill>
                <a:latin typeface="Clash Grotesk Medium" pitchFamily="34" charset="0"/>
                <a:ea typeface="Clash Grotesk Medium" pitchFamily="34" charset="-122"/>
                <a:cs typeface="Clash Grotesk Medium" pitchFamily="34" charset="-120"/>
              </a:rPr>
              <a:t>The</a:t>
            </a:r>
            <a:endParaRPr lang="en-US" sz="2200" dirty="0"/>
          </a:p>
        </p:txBody>
      </p:sp>
      <p:sp>
        <p:nvSpPr>
          <p:cNvPr id="16" name="Row The text"/>
          <p:cNvSpPr txBox="1"/>
          <p:nvPr/>
        </p:nvSpPr>
        <p:spPr>
          <a:xfrm>
            <a:off x="3840480" y="2743200"/>
            <a:ext cx="7498080" cy="502920"/>
          </a:xfrm>
          <a:prstGeom prst="rect">
            <a:avLst/>
          </a:prstGeom>
          <a:noFill/>
          <a:ln/>
        </p:spPr>
        <p:txBody>
          <a:bodyPr wrap="square" lIns="0" tIns="0" rIns="0" bIns="0" rtlCol="0" anchor="ctr"/>
          <a:lstStyle/>
          <a:p>
            <a:pPr marL="0" indent="0">
              <a:buNone/>
            </a:pPr>
            <a:r>
              <a:rPr lang="en-US" sz="2600" dirty="0">
                <a:solidFill>
                  <a:schemeClr val="bg1"/>
                </a:solidFill>
                <a:latin typeface="PP Mori" pitchFamily="34" charset="0"/>
              </a:rPr>
              <a:t>predictive trends dashboard</a:t>
            </a:r>
            <a:endParaRPr lang="en-US" sz="2600" dirty="0"/>
          </a:p>
        </p:txBody>
      </p:sp>
      <p:sp>
        <p:nvSpPr>
          <p:cNvPr id="17" name="Row The rule"/>
          <p:cNvSpPr/>
          <p:nvPr/>
        </p:nvSpPr>
        <p:spPr>
          <a:xfrm>
            <a:off x="3840480" y="3273552"/>
            <a:ext cx="7498080" cy="0"/>
          </a:xfrm>
          <a:prstGeom prst="line">
            <a:avLst/>
          </a:prstGeom>
          <a:noFill/>
          <a:ln w="12700">
            <a:solidFill>
              <a:srgbClr val="3A3A3A"/>
            </a:solidFill>
            <a:prstDash val="solid"/>
          </a:ln>
        </p:spPr>
        <p:txBody>
          <a:bodyPr/>
          <a:lstStyle/>
          <a:p>
            <a:endParaRPr lang="en-GB"/>
          </a:p>
        </p:txBody>
      </p:sp>
      <p:sp>
        <p:nvSpPr>
          <p:cNvPr id="18" name="Row Is a label"/>
          <p:cNvSpPr txBox="1"/>
          <p:nvPr/>
        </p:nvSpPr>
        <p:spPr>
          <a:xfrm>
            <a:off x="822960" y="3328416"/>
            <a:ext cx="2743200" cy="502920"/>
          </a:xfrm>
          <a:prstGeom prst="rect">
            <a:avLst/>
          </a:prstGeom>
          <a:noFill/>
          <a:ln/>
        </p:spPr>
        <p:txBody>
          <a:bodyPr wrap="square" lIns="0" tIns="0" rIns="0" bIns="0" rtlCol="0" anchor="ctr"/>
          <a:lstStyle/>
          <a:p>
            <a:pPr marL="0" indent="0" algn="r">
              <a:buNone/>
            </a:pPr>
            <a:r>
              <a:rPr lang="en-US" sz="2200" dirty="0">
                <a:solidFill>
                  <a:schemeClr val="accent1"/>
                </a:solidFill>
                <a:latin typeface="Clash Grotesk Medium" pitchFamily="34" charset="0"/>
                <a:ea typeface="Clash Grotesk Medium" pitchFamily="34" charset="-122"/>
                <a:cs typeface="Clash Grotesk Medium" pitchFamily="34" charset="-120"/>
              </a:rPr>
              <a:t>Is a</a:t>
            </a:r>
            <a:endParaRPr lang="en-US" sz="2200" dirty="0"/>
          </a:p>
        </p:txBody>
      </p:sp>
      <p:sp>
        <p:nvSpPr>
          <p:cNvPr id="19" name="Row Is a text"/>
          <p:cNvSpPr txBox="1"/>
          <p:nvPr/>
        </p:nvSpPr>
        <p:spPr>
          <a:xfrm>
            <a:off x="3840480" y="3328416"/>
            <a:ext cx="7498080" cy="502920"/>
          </a:xfrm>
          <a:prstGeom prst="rect">
            <a:avLst/>
          </a:prstGeom>
          <a:noFill/>
          <a:ln/>
        </p:spPr>
        <p:txBody>
          <a:bodyPr wrap="square" lIns="0" tIns="0" rIns="0" bIns="0" rtlCol="0" anchor="ctr"/>
          <a:lstStyle/>
          <a:p>
            <a:pPr marL="0" indent="0">
              <a:buNone/>
            </a:pPr>
            <a:r>
              <a:rPr lang="en-US" sz="2600" dirty="0">
                <a:solidFill>
                  <a:schemeClr val="bg1"/>
                </a:solidFill>
                <a:latin typeface="PP Mori" pitchFamily="34" charset="0"/>
                <a:ea typeface="PP Mori" pitchFamily="34" charset="-122"/>
                <a:cs typeface="PP Mori" pitchFamily="34" charset="-120"/>
              </a:rPr>
              <a:t>decision aid</a:t>
            </a:r>
            <a:endParaRPr lang="en-US" sz="2600" dirty="0"/>
          </a:p>
        </p:txBody>
      </p:sp>
      <p:sp>
        <p:nvSpPr>
          <p:cNvPr id="20" name="Row Is a rule"/>
          <p:cNvSpPr/>
          <p:nvPr/>
        </p:nvSpPr>
        <p:spPr>
          <a:xfrm>
            <a:off x="3840480" y="3858768"/>
            <a:ext cx="7498080" cy="0"/>
          </a:xfrm>
          <a:prstGeom prst="line">
            <a:avLst/>
          </a:prstGeom>
          <a:noFill/>
          <a:ln w="12700">
            <a:solidFill>
              <a:srgbClr val="3A3A3A"/>
            </a:solidFill>
            <a:prstDash val="solid"/>
          </a:ln>
        </p:spPr>
        <p:txBody>
          <a:bodyPr/>
          <a:lstStyle/>
          <a:p>
            <a:endParaRPr lang="en-GB"/>
          </a:p>
        </p:txBody>
      </p:sp>
      <p:sp>
        <p:nvSpPr>
          <p:cNvPr id="21" name="Row That label"/>
          <p:cNvSpPr txBox="1"/>
          <p:nvPr/>
        </p:nvSpPr>
        <p:spPr>
          <a:xfrm>
            <a:off x="822960" y="3913632"/>
            <a:ext cx="2743200" cy="502920"/>
          </a:xfrm>
          <a:prstGeom prst="rect">
            <a:avLst/>
          </a:prstGeom>
          <a:noFill/>
          <a:ln/>
        </p:spPr>
        <p:txBody>
          <a:bodyPr wrap="square" lIns="0" tIns="0" rIns="0" bIns="0" rtlCol="0" anchor="ctr"/>
          <a:lstStyle/>
          <a:p>
            <a:pPr marL="0" indent="0" algn="r">
              <a:buNone/>
            </a:pPr>
            <a:r>
              <a:rPr lang="en-US" sz="2200" dirty="0">
                <a:solidFill>
                  <a:schemeClr val="accent1"/>
                </a:solidFill>
                <a:latin typeface="Clash Grotesk Medium" pitchFamily="34" charset="0"/>
                <a:ea typeface="Clash Grotesk Medium" pitchFamily="34" charset="-122"/>
                <a:cs typeface="Clash Grotesk Medium" pitchFamily="34" charset="-120"/>
              </a:rPr>
              <a:t>That</a:t>
            </a:r>
            <a:endParaRPr lang="en-US" sz="2200" dirty="0"/>
          </a:p>
        </p:txBody>
      </p:sp>
      <p:sp>
        <p:nvSpPr>
          <p:cNvPr id="22" name="Row That text"/>
          <p:cNvSpPr txBox="1"/>
          <p:nvPr/>
        </p:nvSpPr>
        <p:spPr>
          <a:xfrm>
            <a:off x="3840480" y="3913632"/>
            <a:ext cx="7498080" cy="502920"/>
          </a:xfrm>
          <a:prstGeom prst="rect">
            <a:avLst/>
          </a:prstGeom>
          <a:noFill/>
          <a:ln/>
        </p:spPr>
        <p:txBody>
          <a:bodyPr wrap="square" lIns="0" tIns="0" rIns="0" bIns="0" rtlCol="0" anchor="ctr"/>
          <a:lstStyle/>
          <a:p>
            <a:pPr marL="0" indent="0">
              <a:buNone/>
            </a:pPr>
            <a:r>
              <a:rPr lang="en-US" sz="2600" dirty="0">
                <a:solidFill>
                  <a:schemeClr val="bg1"/>
                </a:solidFill>
                <a:latin typeface="PP Mori" pitchFamily="34" charset="0"/>
              </a:rPr>
              <a:t>offers proactive interventions</a:t>
            </a:r>
            <a:endParaRPr lang="en-US" sz="2600" dirty="0"/>
          </a:p>
        </p:txBody>
      </p:sp>
      <p:sp>
        <p:nvSpPr>
          <p:cNvPr id="23" name="Row That rule"/>
          <p:cNvSpPr/>
          <p:nvPr/>
        </p:nvSpPr>
        <p:spPr>
          <a:xfrm>
            <a:off x="3840480" y="4443984"/>
            <a:ext cx="7498080" cy="0"/>
          </a:xfrm>
          <a:prstGeom prst="line">
            <a:avLst/>
          </a:prstGeom>
          <a:noFill/>
          <a:ln w="12700">
            <a:solidFill>
              <a:srgbClr val="3A3A3A"/>
            </a:solidFill>
            <a:prstDash val="solid"/>
          </a:ln>
        </p:spPr>
        <p:txBody>
          <a:bodyPr/>
          <a:lstStyle/>
          <a:p>
            <a:endParaRPr lang="en-GB"/>
          </a:p>
        </p:txBody>
      </p:sp>
      <p:sp>
        <p:nvSpPr>
          <p:cNvPr id="24" name="Row Unlike label"/>
          <p:cNvSpPr txBox="1"/>
          <p:nvPr/>
        </p:nvSpPr>
        <p:spPr>
          <a:xfrm>
            <a:off x="822960" y="4498848"/>
            <a:ext cx="2743200" cy="502920"/>
          </a:xfrm>
          <a:prstGeom prst="rect">
            <a:avLst/>
          </a:prstGeom>
          <a:noFill/>
          <a:ln/>
        </p:spPr>
        <p:txBody>
          <a:bodyPr wrap="square" lIns="0" tIns="0" rIns="0" bIns="0" rtlCol="0" anchor="ctr"/>
          <a:lstStyle/>
          <a:p>
            <a:pPr marL="0" indent="0" algn="r">
              <a:buNone/>
            </a:pPr>
            <a:r>
              <a:rPr lang="en-US" sz="2200" dirty="0">
                <a:solidFill>
                  <a:schemeClr val="accent1"/>
                </a:solidFill>
                <a:latin typeface="Clash Grotesk Medium" pitchFamily="34" charset="0"/>
                <a:ea typeface="Clash Grotesk Medium" pitchFamily="34" charset="-122"/>
                <a:cs typeface="Clash Grotesk Medium" pitchFamily="34" charset="-120"/>
              </a:rPr>
              <a:t>Unlike</a:t>
            </a:r>
            <a:endParaRPr lang="en-US" sz="2200" dirty="0"/>
          </a:p>
        </p:txBody>
      </p:sp>
      <p:sp>
        <p:nvSpPr>
          <p:cNvPr id="25" name="Row Unlike text"/>
          <p:cNvSpPr txBox="1"/>
          <p:nvPr/>
        </p:nvSpPr>
        <p:spPr>
          <a:xfrm>
            <a:off x="3840480" y="4498848"/>
            <a:ext cx="7498080" cy="502920"/>
          </a:xfrm>
          <a:prstGeom prst="rect">
            <a:avLst/>
          </a:prstGeom>
          <a:noFill/>
          <a:ln/>
        </p:spPr>
        <p:txBody>
          <a:bodyPr wrap="square" lIns="0" tIns="0" rIns="0" bIns="0" rtlCol="0" anchor="ctr"/>
          <a:lstStyle/>
          <a:p>
            <a:pPr marL="0" indent="0">
              <a:buNone/>
            </a:pPr>
            <a:r>
              <a:rPr lang="en-US" sz="2600" dirty="0">
                <a:solidFill>
                  <a:schemeClr val="bg1"/>
                </a:solidFill>
                <a:latin typeface="PP Mori" pitchFamily="34" charset="0"/>
                <a:ea typeface="PP Mori" pitchFamily="34" charset="-122"/>
                <a:cs typeface="PP Mori" pitchFamily="34" charset="-120"/>
              </a:rPr>
              <a:t>reacting to exceptions</a:t>
            </a:r>
            <a:endParaRPr lang="en-US" sz="2600" dirty="0"/>
          </a:p>
        </p:txBody>
      </p:sp>
      <p:sp>
        <p:nvSpPr>
          <p:cNvPr id="26" name="Row Unlike rule"/>
          <p:cNvSpPr/>
          <p:nvPr/>
        </p:nvSpPr>
        <p:spPr>
          <a:xfrm>
            <a:off x="3840480" y="5029200"/>
            <a:ext cx="7498080" cy="0"/>
          </a:xfrm>
          <a:prstGeom prst="line">
            <a:avLst/>
          </a:prstGeom>
          <a:noFill/>
          <a:ln w="12700">
            <a:solidFill>
              <a:srgbClr val="3A3A3A"/>
            </a:solidFill>
            <a:prstDash val="solid"/>
          </a:ln>
        </p:spPr>
        <p:txBody>
          <a:bodyPr/>
          <a:lstStyle/>
          <a:p>
            <a:endParaRPr lang="en-GB"/>
          </a:p>
        </p:txBody>
      </p:sp>
      <p:sp>
        <p:nvSpPr>
          <p:cNvPr id="27" name="Row Our product gives label"/>
          <p:cNvSpPr txBox="1"/>
          <p:nvPr/>
        </p:nvSpPr>
        <p:spPr>
          <a:xfrm>
            <a:off x="822960" y="5084064"/>
            <a:ext cx="2743200" cy="502920"/>
          </a:xfrm>
          <a:prstGeom prst="rect">
            <a:avLst/>
          </a:prstGeom>
          <a:noFill/>
          <a:ln/>
        </p:spPr>
        <p:txBody>
          <a:bodyPr wrap="square" lIns="0" tIns="0" rIns="0" bIns="0" rtlCol="0" anchor="ctr"/>
          <a:lstStyle/>
          <a:p>
            <a:pPr marL="0" indent="0" algn="r">
              <a:buNone/>
            </a:pPr>
            <a:r>
              <a:rPr lang="en-US" sz="2200" dirty="0">
                <a:solidFill>
                  <a:schemeClr val="accent1"/>
                </a:solidFill>
                <a:latin typeface="Clash Grotesk Medium" pitchFamily="34" charset="0"/>
                <a:ea typeface="Clash Grotesk Medium" pitchFamily="34" charset="-122"/>
                <a:cs typeface="Clash Grotesk Medium" pitchFamily="34" charset="-120"/>
              </a:rPr>
              <a:t>Our product gives</a:t>
            </a:r>
            <a:endParaRPr lang="en-US" sz="2200" dirty="0"/>
          </a:p>
        </p:txBody>
      </p:sp>
      <p:sp>
        <p:nvSpPr>
          <p:cNvPr id="28" name="Row Our product gives text"/>
          <p:cNvSpPr txBox="1"/>
          <p:nvPr/>
        </p:nvSpPr>
        <p:spPr>
          <a:xfrm>
            <a:off x="3840480" y="5084064"/>
            <a:ext cx="7498080" cy="502920"/>
          </a:xfrm>
          <a:prstGeom prst="rect">
            <a:avLst/>
          </a:prstGeom>
          <a:noFill/>
          <a:ln/>
        </p:spPr>
        <p:txBody>
          <a:bodyPr wrap="square" lIns="0" tIns="0" rIns="0" bIns="0" rtlCol="0" anchor="ctr"/>
          <a:lstStyle/>
          <a:p>
            <a:pPr marL="0" indent="0">
              <a:buNone/>
            </a:pPr>
            <a:r>
              <a:rPr lang="en-US" sz="2600" dirty="0">
                <a:solidFill>
                  <a:schemeClr val="bg1"/>
                </a:solidFill>
                <a:latin typeface="PP Mori" pitchFamily="34" charset="0"/>
              </a:rPr>
              <a:t>recommendations based on history &amp; telemetry </a:t>
            </a:r>
            <a:endParaRPr lang="en-US" sz="2600" dirty="0"/>
          </a:p>
        </p:txBody>
      </p:sp>
      <p:sp>
        <p:nvSpPr>
          <p:cNvPr id="29" name="Row Our product gives rule"/>
          <p:cNvSpPr/>
          <p:nvPr/>
        </p:nvSpPr>
        <p:spPr>
          <a:xfrm>
            <a:off x="3840480" y="5614416"/>
            <a:ext cx="7498080" cy="0"/>
          </a:xfrm>
          <a:prstGeom prst="line">
            <a:avLst/>
          </a:prstGeom>
          <a:noFill/>
          <a:ln w="12700">
            <a:solidFill>
              <a:srgbClr val="3A3A3A"/>
            </a:solidFill>
            <a:prstDash val="solid"/>
          </a:ln>
        </p:spPr>
        <p:txBody>
          <a:bodyPr/>
          <a:lstStyle/>
          <a:p>
            <a:endParaRPr lang="en-GB"/>
          </a:p>
        </p:txBody>
      </p:sp>
      <p:sp>
        <p:nvSpPr>
          <p:cNvPr id="8"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marL="0" indent="0">
              <a:buNone/>
            </a:pPr>
            <a:r>
              <a:rPr lang="en-US" sz="6600" dirty="0">
                <a:solidFill>
                  <a:schemeClr val="bg1"/>
                </a:solidFill>
                <a:latin typeface="FR Kraken Slab Medium" pitchFamily="34" charset="0"/>
                <a:ea typeface="FR Kraken Slab Medium" pitchFamily="34" charset="-122"/>
                <a:cs typeface="FR Kraken Slab Medium" pitchFamily="34" charset="-120"/>
              </a:rPr>
              <a:t>What must be true, </a:t>
            </a:r>
            <a:r>
              <a:rPr lang="en-US" sz="6600" dirty="0">
                <a:solidFill>
                  <a:schemeClr val="accent1"/>
                </a:solidFill>
                <a:latin typeface="FR Kraken Slab Medium" pitchFamily="34" charset="0"/>
                <a:ea typeface="FR Kraken Slab Medium" pitchFamily="34" charset="-122"/>
                <a:cs typeface="FR Kraken Slab Medium" pitchFamily="34" charset="-120"/>
              </a:rPr>
              <a:t>how do we learn?</a:t>
            </a:r>
            <a:endParaRPr lang="en-US" sz="6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marL="0" indent="0">
              <a:buNone/>
            </a:pPr>
            <a:r>
              <a:rPr lang="en-US" sz="4400" dirty="0">
                <a:solidFill>
                  <a:schemeClr val="accent1"/>
                </a:solidFill>
                <a:latin typeface="Clash Display Semibold" pitchFamily="34" charset="0"/>
                <a:ea typeface="Clash Display Semibold" pitchFamily="34" charset="-122"/>
                <a:cs typeface="Clash Display Semibold" pitchFamily="34" charset="-120"/>
              </a:rPr>
              <a:t>07</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Solution Hypothesis</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marL="0" indent="0">
              <a:buNone/>
            </a:pPr>
            <a:r>
              <a:rPr lang="en-US" sz="1800" dirty="0">
                <a:solidFill>
                  <a:srgbClr val="B3B3B3"/>
                </a:solidFill>
                <a:latin typeface="PP Mori" pitchFamily="34" charset="0"/>
                <a:ea typeface="PP Mori" pitchFamily="34" charset="-122"/>
                <a:cs typeface="PP Mori" pitchFamily="34" charset="-120"/>
              </a:rPr>
              <a:t>What do we believe will change, and what would make us revise or stop?</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txBody>
          <a:bodyPr/>
          <a:lstStyle/>
          <a:p>
            <a:endParaRPr lang="en-GB"/>
          </a:p>
        </p:txBody>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SOLUTION HYPOTHESIS</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600" dirty="0">
                <a:solidFill>
                  <a:schemeClr val="accent1"/>
                </a:solidFill>
                <a:latin typeface="PP Mori" pitchFamily="34" charset="0"/>
                <a:ea typeface="PP Mori" pitchFamily="34" charset="-122"/>
                <a:cs typeface="PP Mori" pitchFamily="34" charset="-120"/>
              </a:rPr>
              <a:t>Write the rule before the result exists.</a:t>
            </a:r>
            <a:endParaRPr lang="en-US" sz="1600" dirty="0"/>
          </a:p>
        </p:txBody>
      </p:sp>
      <p:sp>
        <p:nvSpPr>
          <p:cNvPr id="9" name="Label IF / THEN"/>
          <p:cNvSpPr txBox="1"/>
          <p:nvPr/>
        </p:nvSpPr>
        <p:spPr>
          <a:xfrm>
            <a:off x="822960" y="1536192"/>
            <a:ext cx="457200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IF / THEN</a:t>
            </a:r>
            <a:endParaRPr lang="en-US" sz="1400" dirty="0"/>
          </a:p>
        </p:txBody>
      </p:sp>
      <p:sp>
        <p:nvSpPr>
          <p:cNvPr id="10" name="If then card"/>
          <p:cNvSpPr/>
          <p:nvPr/>
        </p:nvSpPr>
        <p:spPr>
          <a:xfrm>
            <a:off x="822960" y="1828800"/>
            <a:ext cx="10515600" cy="1097280"/>
          </a:xfrm>
          <a:prstGeom prst="roundRect">
            <a:avLst>
              <a:gd name="adj" fmla="val 10000"/>
            </a:avLst>
          </a:prstGeom>
          <a:solidFill>
            <a:schemeClr val="bg1"/>
          </a:solidFill>
          <a:ln w="12700">
            <a:solidFill>
              <a:schemeClr val="bg1"/>
            </a:solidFill>
            <a:prstDash val="solid"/>
          </a:ln>
        </p:spPr>
        <p:txBody>
          <a:bodyPr/>
          <a:lstStyle/>
          <a:p>
            <a:endParaRPr lang="en-GB"/>
          </a:p>
        </p:txBody>
      </p:sp>
      <p:sp>
        <p:nvSpPr>
          <p:cNvPr id="11" name="If then statement"/>
          <p:cNvSpPr txBox="1"/>
          <p:nvPr/>
        </p:nvSpPr>
        <p:spPr>
          <a:xfrm>
            <a:off x="1051560" y="1874520"/>
            <a:ext cx="10058400" cy="1005840"/>
          </a:xfrm>
          <a:prstGeom prst="rect">
            <a:avLst/>
          </a:prstGeom>
          <a:noFill/>
          <a:ln/>
        </p:spPr>
        <p:txBody>
          <a:bodyPr wrap="square" lIns="0" tIns="0" rIns="0" bIns="0" rtlCol="0" anchor="ctr"/>
          <a:lstStyle/>
          <a:p>
            <a:pPr>
              <a:lnSpc>
                <a:spcPct val="110000"/>
              </a:lnSpc>
            </a:pPr>
            <a:r>
              <a:rPr lang="en-US" b="1" dirty="0"/>
              <a:t>If we</a:t>
            </a:r>
            <a:r>
              <a:rPr lang="en-US" dirty="0"/>
              <a:t> flag emerging equipment risks and explain why they matter, </a:t>
            </a:r>
            <a:br>
              <a:rPr lang="en-US" dirty="0"/>
            </a:br>
            <a:r>
              <a:rPr lang="en-US" b="1" dirty="0"/>
              <a:t>for</a:t>
            </a:r>
            <a:r>
              <a:rPr lang="en-US" dirty="0"/>
              <a:t> maintenance managers, </a:t>
            </a:r>
            <a:br>
              <a:rPr lang="en-US" dirty="0"/>
            </a:br>
            <a:r>
              <a:rPr lang="en-US" b="1" dirty="0"/>
              <a:t>then we will</a:t>
            </a:r>
            <a:r>
              <a:rPr lang="en-US" dirty="0"/>
              <a:t> help them decide what to inspect or intervene on before failure. </a:t>
            </a:r>
          </a:p>
        </p:txBody>
      </p:sp>
      <p:sp>
        <p:nvSpPr>
          <p:cNvPr id="12" name="Label 2 TINY ACTS OF DISCOVERY"/>
          <p:cNvSpPr txBox="1"/>
          <p:nvPr/>
        </p:nvSpPr>
        <p:spPr>
          <a:xfrm>
            <a:off x="822960" y="3017520"/>
            <a:ext cx="502920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2 TINY ACTS OF DISCOVERY</a:t>
            </a:r>
            <a:endParaRPr lang="en-US" sz="1400" dirty="0"/>
          </a:p>
        </p:txBody>
      </p:sp>
      <p:sp>
        <p:nvSpPr>
          <p:cNvPr id="13" name="Tiny acts card"/>
          <p:cNvSpPr/>
          <p:nvPr/>
        </p:nvSpPr>
        <p:spPr>
          <a:xfrm>
            <a:off x="822960" y="3310128"/>
            <a:ext cx="5166360" cy="1417320"/>
          </a:xfrm>
          <a:prstGeom prst="roundRect">
            <a:avLst>
              <a:gd name="adj" fmla="val 7742"/>
            </a:avLst>
          </a:prstGeom>
          <a:solidFill>
            <a:schemeClr val="tx2"/>
          </a:solidFill>
          <a:ln w="15875">
            <a:solidFill>
              <a:schemeClr val="bg1"/>
            </a:solidFill>
            <a:prstDash val="solid"/>
          </a:ln>
        </p:spPr>
        <p:txBody>
          <a:bodyPr/>
          <a:lstStyle/>
          <a:p>
            <a:endParaRPr lang="en-GB"/>
          </a:p>
        </p:txBody>
      </p:sp>
      <p:sp>
        <p:nvSpPr>
          <p:cNvPr id="14" name="Tiny acts text"/>
          <p:cNvSpPr txBox="1"/>
          <p:nvPr/>
        </p:nvSpPr>
        <p:spPr>
          <a:xfrm>
            <a:off x="1005840" y="3429000"/>
            <a:ext cx="4846320" cy="1188720"/>
          </a:xfrm>
          <a:prstGeom prst="rect">
            <a:avLst/>
          </a:prstGeom>
          <a:noFill/>
          <a:ln/>
        </p:spPr>
        <p:txBody>
          <a:bodyPr wrap="square" lIns="0" tIns="0" rIns="0" bIns="0" rtlCol="0" anchor="ctr"/>
          <a:lstStyle/>
          <a:p>
            <a:pPr marL="342900" indent="-342900">
              <a:lnSpc>
                <a:spcPct val="110000"/>
              </a:lnSpc>
              <a:spcAft>
                <a:spcPts val="600"/>
              </a:spcAft>
              <a:buSzPct val="100000"/>
              <a:buFont typeface="+mj-lt"/>
              <a:buAutoNum type="arabicPeriod"/>
            </a:pPr>
            <a:r>
              <a:rPr lang="en-US" dirty="0">
                <a:solidFill>
                  <a:schemeClr val="bg1"/>
                </a:solidFill>
                <a:latin typeface="PP Mori" pitchFamily="34" charset="0"/>
                <a:ea typeface="PP Mori" pitchFamily="34" charset="-122"/>
                <a:cs typeface="PP Mori" pitchFamily="34" charset="-120"/>
              </a:rPr>
              <a:t>Review recent failures to identify causes</a:t>
            </a:r>
          </a:p>
          <a:p>
            <a:pPr marL="342900" indent="-342900">
              <a:lnSpc>
                <a:spcPct val="110000"/>
              </a:lnSpc>
              <a:spcAft>
                <a:spcPts val="600"/>
              </a:spcAft>
              <a:buSzPct val="100000"/>
              <a:buFont typeface="+mj-lt"/>
              <a:buAutoNum type="arabicPeriod"/>
            </a:pPr>
            <a:r>
              <a:rPr lang="en-US" dirty="0">
                <a:solidFill>
                  <a:schemeClr val="bg1"/>
                </a:solidFill>
                <a:latin typeface="PP Mori" pitchFamily="34" charset="0"/>
                <a:ea typeface="PP Mori" pitchFamily="34" charset="-122"/>
                <a:cs typeface="PP Mori" pitchFamily="34" charset="-120"/>
              </a:rPr>
              <a:t>Simulate equipment failures using synthetic </a:t>
            </a:r>
            <a:r>
              <a:rPr lang="en-US" dirty="0" err="1">
                <a:solidFill>
                  <a:schemeClr val="bg1"/>
                </a:solidFill>
                <a:latin typeface="PP Mori" pitchFamily="34" charset="0"/>
                <a:ea typeface="PP Mori" pitchFamily="34" charset="-122"/>
                <a:cs typeface="PP Mori" pitchFamily="34" charset="-120"/>
              </a:rPr>
              <a:t>IIoT</a:t>
            </a:r>
            <a:r>
              <a:rPr lang="en-US" dirty="0">
                <a:solidFill>
                  <a:schemeClr val="bg1"/>
                </a:solidFill>
                <a:latin typeface="PP Mori" pitchFamily="34" charset="0"/>
                <a:ea typeface="PP Mori" pitchFamily="34" charset="-122"/>
                <a:cs typeface="PP Mori" pitchFamily="34" charset="-120"/>
              </a:rPr>
              <a:t> data</a:t>
            </a:r>
            <a:endParaRPr lang="en-US" dirty="0"/>
          </a:p>
        </p:txBody>
      </p:sp>
      <p:sp>
        <p:nvSpPr>
          <p:cNvPr id="15" name="Label 1 QUANT + 1 QUAL METRIC"/>
          <p:cNvSpPr txBox="1"/>
          <p:nvPr/>
        </p:nvSpPr>
        <p:spPr>
          <a:xfrm>
            <a:off x="6172200" y="3017520"/>
            <a:ext cx="521208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QUANTITATIVE + QUALITATIVE METRIC</a:t>
            </a:r>
            <a:endParaRPr lang="en-US" sz="1400" dirty="0"/>
          </a:p>
        </p:txBody>
      </p:sp>
      <p:sp>
        <p:nvSpPr>
          <p:cNvPr id="16" name="Metrics card"/>
          <p:cNvSpPr/>
          <p:nvPr/>
        </p:nvSpPr>
        <p:spPr>
          <a:xfrm>
            <a:off x="6172200" y="3310128"/>
            <a:ext cx="5166360" cy="1417320"/>
          </a:xfrm>
          <a:prstGeom prst="roundRect">
            <a:avLst>
              <a:gd name="adj" fmla="val 7742"/>
            </a:avLst>
          </a:prstGeom>
          <a:solidFill>
            <a:schemeClr val="tx2"/>
          </a:solidFill>
          <a:ln w="15875">
            <a:solidFill>
              <a:schemeClr val="bg1"/>
            </a:solidFill>
            <a:prstDash val="solid"/>
          </a:ln>
        </p:spPr>
        <p:txBody>
          <a:bodyPr/>
          <a:lstStyle/>
          <a:p>
            <a:endParaRPr lang="en-GB"/>
          </a:p>
        </p:txBody>
      </p:sp>
      <p:sp>
        <p:nvSpPr>
          <p:cNvPr id="17" name="Metrics text"/>
          <p:cNvSpPr txBox="1"/>
          <p:nvPr/>
        </p:nvSpPr>
        <p:spPr>
          <a:xfrm>
            <a:off x="6355080" y="3429000"/>
            <a:ext cx="4846320" cy="1188720"/>
          </a:xfrm>
          <a:prstGeom prst="rect">
            <a:avLst/>
          </a:prstGeom>
          <a:noFill/>
          <a:ln/>
        </p:spPr>
        <p:txBody>
          <a:bodyPr wrap="square" lIns="0" tIns="0" rIns="0" bIns="0" rtlCol="0" anchor="ctr"/>
          <a:lstStyle/>
          <a:p>
            <a:pPr marL="342900" indent="-342900">
              <a:lnSpc>
                <a:spcPct val="110000"/>
              </a:lnSpc>
              <a:spcAft>
                <a:spcPts val="600"/>
              </a:spcAft>
              <a:buSzPct val="100000"/>
              <a:buFont typeface="+mj-lt"/>
              <a:buAutoNum type="arabicPeriod"/>
            </a:pPr>
            <a:r>
              <a:rPr lang="en-US" dirty="0">
                <a:solidFill>
                  <a:schemeClr val="bg1"/>
                </a:solidFill>
                <a:latin typeface="PP Mori" pitchFamily="2" charset="77"/>
                <a:ea typeface="PP Mori" pitchFamily="34" charset="-122"/>
                <a:cs typeface="PP Mori" pitchFamily="34" charset="-120"/>
              </a:rPr>
              <a:t>Reduce % of failures via interventions</a:t>
            </a:r>
          </a:p>
          <a:p>
            <a:pPr marL="342900" indent="-342900">
              <a:lnSpc>
                <a:spcPct val="110000"/>
              </a:lnSpc>
              <a:spcAft>
                <a:spcPts val="600"/>
              </a:spcAft>
              <a:buSzPct val="100000"/>
              <a:buFont typeface="+mj-lt"/>
              <a:buAutoNum type="arabicPeriod"/>
            </a:pPr>
            <a:r>
              <a:rPr lang="en-US" dirty="0">
                <a:solidFill>
                  <a:schemeClr val="bg1"/>
                </a:solidFill>
                <a:latin typeface="PP Mori" pitchFamily="2" charset="77"/>
                <a:ea typeface="PP Mori" pitchFamily="34" charset="-122"/>
                <a:cs typeface="PP Mori" pitchFamily="34" charset="-120"/>
              </a:rPr>
              <a:t>Increase manager confidence in identifying emerging issues</a:t>
            </a:r>
          </a:p>
        </p:txBody>
      </p:sp>
      <p:sp>
        <p:nvSpPr>
          <p:cNvPr id="18" name="Label REVISE OR STOP IF"/>
          <p:cNvSpPr txBox="1"/>
          <p:nvPr/>
        </p:nvSpPr>
        <p:spPr>
          <a:xfrm>
            <a:off x="822960" y="4846320"/>
            <a:ext cx="548640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REVISE OR STOP IF</a:t>
            </a:r>
            <a:endParaRPr lang="en-US" sz="1400" dirty="0"/>
          </a:p>
        </p:txBody>
      </p:sp>
      <p:sp>
        <p:nvSpPr>
          <p:cNvPr id="19" name="Revise or stop rule"/>
          <p:cNvSpPr/>
          <p:nvPr/>
        </p:nvSpPr>
        <p:spPr>
          <a:xfrm>
            <a:off x="822960" y="5138928"/>
            <a:ext cx="10515600" cy="502920"/>
          </a:xfrm>
          <a:prstGeom prst="roundRect">
            <a:avLst>
              <a:gd name="adj" fmla="val 18182"/>
            </a:avLst>
          </a:prstGeom>
          <a:solidFill>
            <a:schemeClr val="tx2"/>
          </a:solidFill>
          <a:ln w="15875">
            <a:solidFill>
              <a:schemeClr val="accent1"/>
            </a:solidFill>
          </a:ln>
        </p:spPr>
        <p:txBody>
          <a:bodyPr wrap="square" lIns="25400" tIns="177800" rIns="177800" bIns="25400" rtlCol="0" anchor="ctr"/>
          <a:lstStyle/>
          <a:p>
            <a:pPr marL="0" indent="0" algn="l">
              <a:buNone/>
            </a:pPr>
            <a:r>
              <a:rPr lang="en-US" dirty="0">
                <a:solidFill>
                  <a:schemeClr val="bg1"/>
                </a:solidFill>
                <a:latin typeface="PP Mori" pitchFamily="34" charset="0"/>
                <a:ea typeface="PP Mori" pitchFamily="34" charset="-122"/>
                <a:cs typeface="PP Mori" pitchFamily="34" charset="-120"/>
              </a:rPr>
              <a:t>Revise or stop if predictions fail to change maintenance outcomes.</a:t>
            </a:r>
            <a:endParaRPr lang="en-US" dirty="0"/>
          </a:p>
        </p:txBody>
      </p:sp>
      <p:sp>
        <p:nvSpPr>
          <p:cNvPr id="20" name="Pill NOT RUN"/>
          <p:cNvSpPr/>
          <p:nvPr/>
        </p:nvSpPr>
        <p:spPr>
          <a:xfrm>
            <a:off x="10058400" y="1463040"/>
            <a:ext cx="1280160"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NOT RUN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marL="0" indent="0">
              <a:buNone/>
            </a:pPr>
            <a:r>
              <a:rPr lang="en-US" sz="4400" dirty="0">
                <a:solidFill>
                  <a:schemeClr val="accent1"/>
                </a:solidFill>
                <a:latin typeface="Clash Display Semibold" pitchFamily="34" charset="0"/>
                <a:ea typeface="Clash Display Semibold" pitchFamily="34" charset="-122"/>
                <a:cs typeface="Clash Display Semibold" pitchFamily="34" charset="-120"/>
              </a:rPr>
              <a:t>08</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Storyboard</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marL="0" indent="0">
              <a:buNone/>
            </a:pPr>
            <a:r>
              <a:rPr lang="en-US" sz="1800" dirty="0">
                <a:solidFill>
                  <a:srgbClr val="B3B3B3"/>
                </a:solidFill>
                <a:latin typeface="PP Mori" pitchFamily="34" charset="0"/>
                <a:ea typeface="PP Mori" pitchFamily="34" charset="-122"/>
                <a:cs typeface="PP Mori" pitchFamily="34" charset="-120"/>
              </a:rPr>
              <a:t>What does the story look like, from who has the problem to who else gets the win?</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txBody>
          <a:bodyPr/>
          <a:lstStyle/>
          <a:p>
            <a:endParaRPr lang="en-GB"/>
          </a:p>
        </p:txBody>
      </p:sp>
      <p:sp>
        <p:nvSpPr>
          <p:cNvPr id="6" name="Artifact pill"/>
          <p:cNvSpPr/>
          <p:nvPr/>
        </p:nvSpPr>
        <p:spPr>
          <a:xfrm>
            <a:off x="548640" y="5943600"/>
            <a:ext cx="283464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STORYBOARD</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600" dirty="0">
                <a:solidFill>
                  <a:schemeClr val="accent1"/>
                </a:solidFill>
                <a:latin typeface="PP Mori" pitchFamily="34" charset="0"/>
                <a:ea typeface="PP Mori" pitchFamily="34" charset="-122"/>
                <a:cs typeface="PP Mori" pitchFamily="34" charset="-120"/>
              </a:rPr>
              <a:t>Aim for authenticity, simplicity and emotion.</a:t>
            </a:r>
            <a:endParaRPr lang="en-US" sz="1600" dirty="0"/>
          </a:p>
        </p:txBody>
      </p:sp>
      <p:sp>
        <p:nvSpPr>
          <p:cNvPr id="9" name="Summary label"/>
          <p:cNvSpPr txBox="1"/>
          <p:nvPr/>
        </p:nvSpPr>
        <p:spPr>
          <a:xfrm>
            <a:off x="822960" y="1536192"/>
            <a:ext cx="3657600" cy="274320"/>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SOLUTION SUMMARY</a:t>
            </a:r>
            <a:endParaRPr lang="en-US" sz="1400" dirty="0"/>
          </a:p>
        </p:txBody>
      </p:sp>
      <p:sp>
        <p:nvSpPr>
          <p:cNvPr id="10" name="Status note"/>
          <p:cNvSpPr txBox="1"/>
          <p:nvPr/>
        </p:nvSpPr>
        <p:spPr>
          <a:xfrm>
            <a:off x="7498080" y="1536192"/>
            <a:ext cx="3840480" cy="274320"/>
          </a:xfrm>
          <a:prstGeom prst="rect">
            <a:avLst/>
          </a:prstGeom>
          <a:noFill/>
          <a:ln/>
        </p:spPr>
        <p:txBody>
          <a:bodyPr wrap="square" lIns="0" tIns="0" rIns="0" bIns="0" rtlCol="0" anchor="t"/>
          <a:lstStyle/>
          <a:p>
            <a:pPr marL="0" indent="0" algn="r">
              <a:buNone/>
            </a:pPr>
            <a:r>
              <a:rPr lang="en-US" sz="1400" kern="0" spc="120" dirty="0">
                <a:solidFill>
                  <a:schemeClr val="accent4"/>
                </a:solidFill>
                <a:latin typeface="Clash Display Semibold" pitchFamily="34" charset="0"/>
                <a:ea typeface="Clash Display Semibold" pitchFamily="34" charset="-122"/>
                <a:cs typeface="Clash Display Semibold" pitchFamily="34" charset="-120"/>
              </a:rPr>
              <a:t>NOT RENDERED  |  SYNTHETIC</a:t>
            </a:r>
            <a:endParaRPr lang="en-US" sz="1400" dirty="0"/>
          </a:p>
        </p:txBody>
      </p:sp>
      <p:sp>
        <p:nvSpPr>
          <p:cNvPr id="11" name="Solution summary"/>
          <p:cNvSpPr/>
          <p:nvPr/>
        </p:nvSpPr>
        <p:spPr>
          <a:xfrm>
            <a:off x="822960" y="1874520"/>
            <a:ext cx="10515600" cy="640080"/>
          </a:xfrm>
          <a:prstGeom prst="roundRect">
            <a:avLst>
              <a:gd name="adj" fmla="val 17143"/>
            </a:avLst>
          </a:prstGeom>
          <a:solidFill>
            <a:schemeClr val="tx2"/>
          </a:solidFill>
          <a:ln w="15875">
            <a:solidFill>
              <a:schemeClr val="bg1"/>
            </a:solidFill>
          </a:ln>
        </p:spPr>
        <p:txBody>
          <a:bodyPr wrap="square" lIns="50800" tIns="177800" rIns="177800" bIns="50800" rtlCol="0" anchor="ctr"/>
          <a:lstStyle/>
          <a:p>
            <a:pPr marL="0" indent="0" algn="l">
              <a:buNone/>
            </a:pPr>
            <a:r>
              <a:rPr lang="en-US" sz="2000" dirty="0">
                <a:solidFill>
                  <a:schemeClr val="bg1"/>
                </a:solidFill>
                <a:latin typeface="PP Mori" pitchFamily="34" charset="0"/>
                <a:ea typeface="PP Mori" pitchFamily="34" charset="-122"/>
                <a:cs typeface="PP Mori" pitchFamily="34" charset="-120"/>
              </a:rPr>
              <a:t>If we surface the highest-risk equipment early, managers can intervene before failure.</a:t>
            </a:r>
            <a:endParaRPr lang="en-US" sz="2000" dirty="0"/>
          </a:p>
        </p:txBody>
      </p:sp>
      <p:sp>
        <p:nvSpPr>
          <p:cNvPr id="12" name="Frame 1"/>
          <p:cNvSpPr/>
          <p:nvPr/>
        </p:nvSpPr>
        <p:spPr>
          <a:xfrm>
            <a:off x="822960" y="2697480"/>
            <a:ext cx="1645920" cy="1234440"/>
          </a:xfrm>
          <a:prstGeom prst="roundRect">
            <a:avLst>
              <a:gd name="adj" fmla="val 7407"/>
            </a:avLst>
          </a:prstGeom>
          <a:solidFill>
            <a:schemeClr val="bg1"/>
          </a:solidFill>
          <a:ln w="25400">
            <a:solidFill>
              <a:schemeClr val="accent1"/>
            </a:solidFill>
            <a:prstDash val="solid"/>
          </a:ln>
        </p:spPr>
        <p:txBody>
          <a:bodyPr/>
          <a:lstStyle/>
          <a:p>
            <a:endParaRPr lang="en-GB"/>
          </a:p>
        </p:txBody>
      </p:sp>
      <p:sp>
        <p:nvSpPr>
          <p:cNvPr id="13" name="Frame 1 number"/>
          <p:cNvSpPr txBox="1"/>
          <p:nvPr/>
        </p:nvSpPr>
        <p:spPr>
          <a:xfrm>
            <a:off x="914400" y="2743200"/>
            <a:ext cx="365760" cy="320040"/>
          </a:xfrm>
          <a:prstGeom prst="rect">
            <a:avLst/>
          </a:prstGeom>
          <a:noFill/>
          <a:ln/>
        </p:spPr>
        <p:txBody>
          <a:bodyPr wrap="square" lIns="0" tIns="0" rIns="0" bIns="0" rtlCol="0" anchor="t"/>
          <a:lstStyle/>
          <a:p>
            <a:pPr marL="0" indent="0">
              <a:buNone/>
            </a:pPr>
            <a:r>
              <a:rPr lang="en-US" sz="1600" dirty="0">
                <a:solidFill>
                  <a:srgbClr val="007A3D"/>
                </a:solidFill>
                <a:latin typeface="Clash Display Semibold" pitchFamily="34" charset="0"/>
                <a:ea typeface="Clash Display Semibold" pitchFamily="34" charset="-122"/>
                <a:cs typeface="Clash Display Semibold" pitchFamily="34" charset="-120"/>
              </a:rPr>
              <a:t>1</a:t>
            </a:r>
            <a:endParaRPr lang="en-US" sz="1600" dirty="0"/>
          </a:p>
        </p:txBody>
      </p:sp>
      <p:sp>
        <p:nvSpPr>
          <p:cNvPr id="14" name="Frame 1 label"/>
          <p:cNvSpPr txBox="1"/>
          <p:nvPr/>
        </p:nvSpPr>
        <p:spPr>
          <a:xfrm>
            <a:off x="822960" y="4023360"/>
            <a:ext cx="1645920" cy="594360"/>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Who has the problem?</a:t>
            </a:r>
            <a:endParaRPr lang="en-US" sz="1600" dirty="0"/>
          </a:p>
        </p:txBody>
      </p:sp>
      <p:sp>
        <p:nvSpPr>
          <p:cNvPr id="15" name="Frame 1 caption"/>
          <p:cNvSpPr txBox="1"/>
          <p:nvPr/>
        </p:nvSpPr>
        <p:spPr>
          <a:xfrm>
            <a:off x="822960" y="4663440"/>
            <a:ext cx="1645920" cy="91440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A maintenance manager</a:t>
            </a:r>
            <a:endParaRPr lang="en-US" sz="1600" dirty="0"/>
          </a:p>
        </p:txBody>
      </p:sp>
      <p:sp>
        <p:nvSpPr>
          <p:cNvPr id="16" name="Arrow 1"/>
          <p:cNvSpPr/>
          <p:nvPr/>
        </p:nvSpPr>
        <p:spPr>
          <a:xfrm>
            <a:off x="2478024" y="3310128"/>
            <a:ext cx="109728" cy="0"/>
          </a:xfrm>
          <a:prstGeom prst="line">
            <a:avLst/>
          </a:prstGeom>
          <a:noFill/>
          <a:ln w="25400">
            <a:solidFill>
              <a:schemeClr val="accent1"/>
            </a:solidFill>
            <a:prstDash val="solid"/>
            <a:tailEnd type="triangle"/>
          </a:ln>
        </p:spPr>
        <p:txBody>
          <a:bodyPr/>
          <a:lstStyle/>
          <a:p>
            <a:endParaRPr lang="en-GB"/>
          </a:p>
        </p:txBody>
      </p:sp>
      <p:sp>
        <p:nvSpPr>
          <p:cNvPr id="17" name="Frame 2"/>
          <p:cNvSpPr/>
          <p:nvPr/>
        </p:nvSpPr>
        <p:spPr>
          <a:xfrm>
            <a:off x="2596896" y="2697480"/>
            <a:ext cx="1645920" cy="1234440"/>
          </a:xfrm>
          <a:prstGeom prst="roundRect">
            <a:avLst>
              <a:gd name="adj" fmla="val 7407"/>
            </a:avLst>
          </a:prstGeom>
          <a:solidFill>
            <a:schemeClr val="bg1"/>
          </a:solidFill>
          <a:ln w="25400">
            <a:solidFill>
              <a:schemeClr val="accent1"/>
            </a:solidFill>
            <a:prstDash val="solid"/>
          </a:ln>
        </p:spPr>
        <p:txBody>
          <a:bodyPr/>
          <a:lstStyle/>
          <a:p>
            <a:endParaRPr lang="en-GB"/>
          </a:p>
        </p:txBody>
      </p:sp>
      <p:sp>
        <p:nvSpPr>
          <p:cNvPr id="18" name="Frame 2 number"/>
          <p:cNvSpPr txBox="1"/>
          <p:nvPr/>
        </p:nvSpPr>
        <p:spPr>
          <a:xfrm>
            <a:off x="2688336" y="2743200"/>
            <a:ext cx="365760" cy="320040"/>
          </a:xfrm>
          <a:prstGeom prst="rect">
            <a:avLst/>
          </a:prstGeom>
          <a:noFill/>
          <a:ln/>
        </p:spPr>
        <p:txBody>
          <a:bodyPr wrap="square" lIns="0" tIns="0" rIns="0" bIns="0" rtlCol="0" anchor="t"/>
          <a:lstStyle/>
          <a:p>
            <a:pPr marL="0" indent="0">
              <a:buNone/>
            </a:pPr>
            <a:r>
              <a:rPr lang="en-US" sz="1600" dirty="0">
                <a:solidFill>
                  <a:srgbClr val="007A3D"/>
                </a:solidFill>
                <a:latin typeface="Clash Display Semibold" pitchFamily="34" charset="0"/>
                <a:ea typeface="Clash Display Semibold" pitchFamily="34" charset="-122"/>
                <a:cs typeface="Clash Display Semibold" pitchFamily="34" charset="-120"/>
              </a:rPr>
              <a:t>2</a:t>
            </a:r>
            <a:endParaRPr lang="en-US" sz="1600" dirty="0"/>
          </a:p>
        </p:txBody>
      </p:sp>
      <p:sp>
        <p:nvSpPr>
          <p:cNvPr id="19" name="Frame 2 label"/>
          <p:cNvSpPr txBox="1"/>
          <p:nvPr/>
        </p:nvSpPr>
        <p:spPr>
          <a:xfrm>
            <a:off x="2596896" y="4023360"/>
            <a:ext cx="1645920" cy="594360"/>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What is the problem?</a:t>
            </a:r>
            <a:endParaRPr lang="en-US" sz="1600" dirty="0"/>
          </a:p>
        </p:txBody>
      </p:sp>
      <p:sp>
        <p:nvSpPr>
          <p:cNvPr id="20" name="Frame 2 caption"/>
          <p:cNvSpPr txBox="1"/>
          <p:nvPr/>
        </p:nvSpPr>
        <p:spPr>
          <a:xfrm>
            <a:off x="2596896" y="4663440"/>
            <a:ext cx="1645920" cy="91440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Flood of early warning signals</a:t>
            </a:r>
            <a:endParaRPr lang="en-US" sz="1600" dirty="0"/>
          </a:p>
        </p:txBody>
      </p:sp>
      <p:sp>
        <p:nvSpPr>
          <p:cNvPr id="21" name="Arrow 2"/>
          <p:cNvSpPr/>
          <p:nvPr/>
        </p:nvSpPr>
        <p:spPr>
          <a:xfrm>
            <a:off x="4251960" y="3310128"/>
            <a:ext cx="109728" cy="0"/>
          </a:xfrm>
          <a:prstGeom prst="line">
            <a:avLst/>
          </a:prstGeom>
          <a:noFill/>
          <a:ln w="25400">
            <a:solidFill>
              <a:schemeClr val="accent1"/>
            </a:solidFill>
            <a:prstDash val="solid"/>
            <a:tailEnd type="triangle"/>
          </a:ln>
        </p:spPr>
        <p:txBody>
          <a:bodyPr/>
          <a:lstStyle/>
          <a:p>
            <a:endParaRPr lang="en-GB"/>
          </a:p>
        </p:txBody>
      </p:sp>
      <p:sp>
        <p:nvSpPr>
          <p:cNvPr id="22" name="Frame 3"/>
          <p:cNvSpPr/>
          <p:nvPr/>
        </p:nvSpPr>
        <p:spPr>
          <a:xfrm>
            <a:off x="4370832" y="2697480"/>
            <a:ext cx="1645920" cy="1234440"/>
          </a:xfrm>
          <a:prstGeom prst="roundRect">
            <a:avLst>
              <a:gd name="adj" fmla="val 7407"/>
            </a:avLst>
          </a:prstGeom>
          <a:solidFill>
            <a:schemeClr val="bg1"/>
          </a:solidFill>
          <a:ln w="25400">
            <a:solidFill>
              <a:schemeClr val="accent1"/>
            </a:solidFill>
            <a:prstDash val="solid"/>
          </a:ln>
        </p:spPr>
        <p:txBody>
          <a:bodyPr/>
          <a:lstStyle/>
          <a:p>
            <a:endParaRPr lang="en-GB"/>
          </a:p>
        </p:txBody>
      </p:sp>
      <p:sp>
        <p:nvSpPr>
          <p:cNvPr id="23" name="Frame 3 number"/>
          <p:cNvSpPr txBox="1"/>
          <p:nvPr/>
        </p:nvSpPr>
        <p:spPr>
          <a:xfrm>
            <a:off x="4462272" y="2743200"/>
            <a:ext cx="365760" cy="320040"/>
          </a:xfrm>
          <a:prstGeom prst="rect">
            <a:avLst/>
          </a:prstGeom>
          <a:noFill/>
          <a:ln/>
        </p:spPr>
        <p:txBody>
          <a:bodyPr wrap="square" lIns="0" tIns="0" rIns="0" bIns="0" rtlCol="0" anchor="t"/>
          <a:lstStyle/>
          <a:p>
            <a:pPr marL="0" indent="0">
              <a:buNone/>
            </a:pPr>
            <a:r>
              <a:rPr lang="en-US" sz="1600" dirty="0">
                <a:solidFill>
                  <a:srgbClr val="007A3D"/>
                </a:solidFill>
                <a:latin typeface="Clash Display Semibold" pitchFamily="34" charset="0"/>
                <a:ea typeface="Clash Display Semibold" pitchFamily="34" charset="-122"/>
                <a:cs typeface="Clash Display Semibold" pitchFamily="34" charset="-120"/>
              </a:rPr>
              <a:t>3</a:t>
            </a:r>
            <a:endParaRPr lang="en-US" sz="1600" dirty="0"/>
          </a:p>
        </p:txBody>
      </p:sp>
      <p:sp>
        <p:nvSpPr>
          <p:cNvPr id="24" name="Frame 3 label"/>
          <p:cNvSpPr txBox="1"/>
          <p:nvPr/>
        </p:nvSpPr>
        <p:spPr>
          <a:xfrm>
            <a:off x="4370832" y="4023360"/>
            <a:ext cx="1645920" cy="594360"/>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Oh crap </a:t>
            </a:r>
            <a:br>
              <a:rPr lang="en-US" sz="1600" dirty="0">
                <a:solidFill>
                  <a:schemeClr val="bg1"/>
                </a:solidFill>
                <a:latin typeface="Clash Grotesk Medium" pitchFamily="34" charset="0"/>
                <a:ea typeface="Clash Grotesk Medium" pitchFamily="34" charset="-122"/>
                <a:cs typeface="Clash Grotesk Medium" pitchFamily="34" charset="-120"/>
              </a:rPr>
            </a:br>
            <a:r>
              <a:rPr lang="en-US" sz="1600" dirty="0">
                <a:solidFill>
                  <a:schemeClr val="bg1"/>
                </a:solidFill>
                <a:latin typeface="Clash Grotesk Medium" pitchFamily="34" charset="0"/>
                <a:ea typeface="Clash Grotesk Medium" pitchFamily="34" charset="-122"/>
                <a:cs typeface="Clash Grotesk Medium" pitchFamily="34" charset="-120"/>
              </a:rPr>
              <a:t>moment</a:t>
            </a:r>
            <a:endParaRPr lang="en-US" sz="1600" dirty="0"/>
          </a:p>
        </p:txBody>
      </p:sp>
      <p:sp>
        <p:nvSpPr>
          <p:cNvPr id="25" name="Frame 3 caption"/>
          <p:cNvSpPr txBox="1"/>
          <p:nvPr/>
        </p:nvSpPr>
        <p:spPr>
          <a:xfrm>
            <a:off x="4370832" y="4663440"/>
            <a:ext cx="1645920" cy="91440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Ad-hoc failure incidents are rising</a:t>
            </a:r>
            <a:endParaRPr lang="en-US" sz="1600" dirty="0"/>
          </a:p>
        </p:txBody>
      </p:sp>
      <p:sp>
        <p:nvSpPr>
          <p:cNvPr id="26" name="Arrow 3"/>
          <p:cNvSpPr/>
          <p:nvPr/>
        </p:nvSpPr>
        <p:spPr>
          <a:xfrm>
            <a:off x="6025896" y="3310128"/>
            <a:ext cx="109728" cy="0"/>
          </a:xfrm>
          <a:prstGeom prst="line">
            <a:avLst/>
          </a:prstGeom>
          <a:noFill/>
          <a:ln w="25400">
            <a:solidFill>
              <a:schemeClr val="accent1"/>
            </a:solidFill>
            <a:prstDash val="solid"/>
            <a:tailEnd type="triangle"/>
          </a:ln>
        </p:spPr>
        <p:txBody>
          <a:bodyPr/>
          <a:lstStyle/>
          <a:p>
            <a:endParaRPr lang="en-GB"/>
          </a:p>
        </p:txBody>
      </p:sp>
      <p:sp>
        <p:nvSpPr>
          <p:cNvPr id="27" name="Frame 4"/>
          <p:cNvSpPr/>
          <p:nvPr/>
        </p:nvSpPr>
        <p:spPr>
          <a:xfrm>
            <a:off x="6144768" y="2697480"/>
            <a:ext cx="1645920" cy="1234440"/>
          </a:xfrm>
          <a:prstGeom prst="roundRect">
            <a:avLst>
              <a:gd name="adj" fmla="val 7407"/>
            </a:avLst>
          </a:prstGeom>
          <a:solidFill>
            <a:schemeClr val="bg1"/>
          </a:solidFill>
          <a:ln w="25400">
            <a:solidFill>
              <a:schemeClr val="accent1"/>
            </a:solidFill>
            <a:prstDash val="solid"/>
          </a:ln>
        </p:spPr>
        <p:txBody>
          <a:bodyPr/>
          <a:lstStyle/>
          <a:p>
            <a:endParaRPr lang="en-GB"/>
          </a:p>
        </p:txBody>
      </p:sp>
      <p:sp>
        <p:nvSpPr>
          <p:cNvPr id="28" name="Frame 4 number"/>
          <p:cNvSpPr txBox="1"/>
          <p:nvPr/>
        </p:nvSpPr>
        <p:spPr>
          <a:xfrm>
            <a:off x="6236208" y="2743200"/>
            <a:ext cx="365760" cy="320040"/>
          </a:xfrm>
          <a:prstGeom prst="rect">
            <a:avLst/>
          </a:prstGeom>
          <a:noFill/>
          <a:ln/>
        </p:spPr>
        <p:txBody>
          <a:bodyPr wrap="square" lIns="0" tIns="0" rIns="0" bIns="0" rtlCol="0" anchor="t"/>
          <a:lstStyle/>
          <a:p>
            <a:pPr marL="0" indent="0">
              <a:buNone/>
            </a:pPr>
            <a:r>
              <a:rPr lang="en-US" sz="1600" dirty="0">
                <a:solidFill>
                  <a:srgbClr val="007A3D"/>
                </a:solidFill>
                <a:latin typeface="Clash Display Semibold" pitchFamily="34" charset="0"/>
                <a:ea typeface="Clash Display Semibold" pitchFamily="34" charset="-122"/>
                <a:cs typeface="Clash Display Semibold" pitchFamily="34" charset="-120"/>
              </a:rPr>
              <a:t>4</a:t>
            </a:r>
            <a:endParaRPr lang="en-US" sz="1600" dirty="0"/>
          </a:p>
        </p:txBody>
      </p:sp>
      <p:sp>
        <p:nvSpPr>
          <p:cNvPr id="29" name="Frame 4 label"/>
          <p:cNvSpPr txBox="1"/>
          <p:nvPr/>
        </p:nvSpPr>
        <p:spPr>
          <a:xfrm>
            <a:off x="6144768" y="4023360"/>
            <a:ext cx="1645920" cy="594360"/>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Solution arrives to help</a:t>
            </a:r>
            <a:endParaRPr lang="en-US" sz="1600" dirty="0"/>
          </a:p>
        </p:txBody>
      </p:sp>
      <p:sp>
        <p:nvSpPr>
          <p:cNvPr id="30" name="Frame 4 caption"/>
          <p:cNvSpPr txBox="1"/>
          <p:nvPr/>
        </p:nvSpPr>
        <p:spPr>
          <a:xfrm>
            <a:off x="6144768" y="4663440"/>
            <a:ext cx="1645920" cy="91440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Dashboard surfaces highest-risk issues</a:t>
            </a:r>
            <a:endParaRPr lang="en-US" sz="1600" dirty="0"/>
          </a:p>
        </p:txBody>
      </p:sp>
      <p:sp>
        <p:nvSpPr>
          <p:cNvPr id="31" name="Arrow 4"/>
          <p:cNvSpPr/>
          <p:nvPr/>
        </p:nvSpPr>
        <p:spPr>
          <a:xfrm>
            <a:off x="7799832" y="3310128"/>
            <a:ext cx="109728" cy="0"/>
          </a:xfrm>
          <a:prstGeom prst="line">
            <a:avLst/>
          </a:prstGeom>
          <a:noFill/>
          <a:ln w="25400">
            <a:solidFill>
              <a:schemeClr val="accent1"/>
            </a:solidFill>
            <a:prstDash val="solid"/>
            <a:tailEnd type="triangle"/>
          </a:ln>
        </p:spPr>
        <p:txBody>
          <a:bodyPr/>
          <a:lstStyle/>
          <a:p>
            <a:endParaRPr lang="en-GB"/>
          </a:p>
        </p:txBody>
      </p:sp>
      <p:sp>
        <p:nvSpPr>
          <p:cNvPr id="32" name="Frame 5"/>
          <p:cNvSpPr/>
          <p:nvPr/>
        </p:nvSpPr>
        <p:spPr>
          <a:xfrm>
            <a:off x="7918704" y="2697480"/>
            <a:ext cx="1645920" cy="1234440"/>
          </a:xfrm>
          <a:prstGeom prst="roundRect">
            <a:avLst>
              <a:gd name="adj" fmla="val 7407"/>
            </a:avLst>
          </a:prstGeom>
          <a:solidFill>
            <a:schemeClr val="bg1"/>
          </a:solidFill>
          <a:ln w="25400">
            <a:solidFill>
              <a:schemeClr val="accent1"/>
            </a:solidFill>
            <a:prstDash val="solid"/>
          </a:ln>
        </p:spPr>
        <p:txBody>
          <a:bodyPr/>
          <a:lstStyle/>
          <a:p>
            <a:endParaRPr lang="en-GB"/>
          </a:p>
        </p:txBody>
      </p:sp>
      <p:sp>
        <p:nvSpPr>
          <p:cNvPr id="33" name="Frame 5 number"/>
          <p:cNvSpPr txBox="1"/>
          <p:nvPr/>
        </p:nvSpPr>
        <p:spPr>
          <a:xfrm>
            <a:off x="8010144" y="2743200"/>
            <a:ext cx="365760" cy="320040"/>
          </a:xfrm>
          <a:prstGeom prst="rect">
            <a:avLst/>
          </a:prstGeom>
          <a:noFill/>
          <a:ln/>
        </p:spPr>
        <p:txBody>
          <a:bodyPr wrap="square" lIns="0" tIns="0" rIns="0" bIns="0" rtlCol="0" anchor="t"/>
          <a:lstStyle/>
          <a:p>
            <a:pPr marL="0" indent="0">
              <a:buNone/>
            </a:pPr>
            <a:r>
              <a:rPr lang="en-US" sz="1600" dirty="0">
                <a:solidFill>
                  <a:srgbClr val="007A3D"/>
                </a:solidFill>
                <a:latin typeface="Clash Display Semibold" pitchFamily="34" charset="0"/>
                <a:ea typeface="Clash Display Semibold" pitchFamily="34" charset="-122"/>
                <a:cs typeface="Clash Display Semibold" pitchFamily="34" charset="-120"/>
              </a:rPr>
              <a:t>5</a:t>
            </a:r>
            <a:endParaRPr lang="en-US" sz="1600" dirty="0"/>
          </a:p>
        </p:txBody>
      </p:sp>
      <p:sp>
        <p:nvSpPr>
          <p:cNvPr id="34" name="Frame 5 label"/>
          <p:cNvSpPr txBox="1"/>
          <p:nvPr/>
        </p:nvSpPr>
        <p:spPr>
          <a:xfrm>
            <a:off x="7918704" y="4023360"/>
            <a:ext cx="1645920" cy="594360"/>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Aha moment</a:t>
            </a:r>
          </a:p>
          <a:p>
            <a:pPr marL="0" indent="0">
              <a:buNone/>
            </a:pPr>
            <a:r>
              <a:rPr lang="en-US" sz="1600" dirty="0">
                <a:solidFill>
                  <a:schemeClr val="bg1"/>
                </a:solidFill>
                <a:latin typeface="Clash Grotesk Medium" pitchFamily="34" charset="0"/>
              </a:rPr>
              <a:t>with solution</a:t>
            </a:r>
            <a:endParaRPr lang="en-US" sz="1600" dirty="0"/>
          </a:p>
        </p:txBody>
      </p:sp>
      <p:sp>
        <p:nvSpPr>
          <p:cNvPr id="35" name="Frame 5 caption"/>
          <p:cNvSpPr txBox="1"/>
          <p:nvPr/>
        </p:nvSpPr>
        <p:spPr>
          <a:xfrm>
            <a:off x="7918704" y="4663440"/>
            <a:ext cx="1645920" cy="91440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rPr>
              <a:t>Manager proactively averts failures</a:t>
            </a:r>
            <a:endParaRPr lang="en-US" sz="1600" dirty="0"/>
          </a:p>
        </p:txBody>
      </p:sp>
      <p:sp>
        <p:nvSpPr>
          <p:cNvPr id="36" name="Arrow 5"/>
          <p:cNvSpPr/>
          <p:nvPr/>
        </p:nvSpPr>
        <p:spPr>
          <a:xfrm>
            <a:off x="9573768" y="3310128"/>
            <a:ext cx="109728" cy="0"/>
          </a:xfrm>
          <a:prstGeom prst="line">
            <a:avLst/>
          </a:prstGeom>
          <a:noFill/>
          <a:ln w="25400">
            <a:solidFill>
              <a:schemeClr val="accent1"/>
            </a:solidFill>
            <a:prstDash val="solid"/>
            <a:tailEnd type="triangle"/>
          </a:ln>
        </p:spPr>
        <p:txBody>
          <a:bodyPr/>
          <a:lstStyle/>
          <a:p>
            <a:endParaRPr lang="en-GB"/>
          </a:p>
        </p:txBody>
      </p:sp>
      <p:sp>
        <p:nvSpPr>
          <p:cNvPr id="37" name="Frame 6"/>
          <p:cNvSpPr/>
          <p:nvPr/>
        </p:nvSpPr>
        <p:spPr>
          <a:xfrm>
            <a:off x="9692640" y="2697480"/>
            <a:ext cx="1645920" cy="1234440"/>
          </a:xfrm>
          <a:prstGeom prst="roundRect">
            <a:avLst>
              <a:gd name="adj" fmla="val 7407"/>
            </a:avLst>
          </a:prstGeom>
          <a:solidFill>
            <a:schemeClr val="bg1"/>
          </a:solidFill>
          <a:ln w="25400">
            <a:solidFill>
              <a:schemeClr val="accent1"/>
            </a:solidFill>
            <a:prstDash val="solid"/>
          </a:ln>
        </p:spPr>
        <p:txBody>
          <a:bodyPr/>
          <a:lstStyle/>
          <a:p>
            <a:endParaRPr lang="en-GB"/>
          </a:p>
        </p:txBody>
      </p:sp>
      <p:sp>
        <p:nvSpPr>
          <p:cNvPr id="38" name="Frame 6 number"/>
          <p:cNvSpPr txBox="1"/>
          <p:nvPr/>
        </p:nvSpPr>
        <p:spPr>
          <a:xfrm>
            <a:off x="9784080" y="2743200"/>
            <a:ext cx="365760" cy="320040"/>
          </a:xfrm>
          <a:prstGeom prst="rect">
            <a:avLst/>
          </a:prstGeom>
          <a:noFill/>
          <a:ln/>
        </p:spPr>
        <p:txBody>
          <a:bodyPr wrap="square" lIns="0" tIns="0" rIns="0" bIns="0" rtlCol="0" anchor="t"/>
          <a:lstStyle/>
          <a:p>
            <a:pPr marL="0" indent="0">
              <a:buNone/>
            </a:pPr>
            <a:r>
              <a:rPr lang="en-US" sz="1600" dirty="0">
                <a:solidFill>
                  <a:srgbClr val="007A3D"/>
                </a:solidFill>
                <a:latin typeface="Clash Display Semibold" pitchFamily="34" charset="0"/>
                <a:ea typeface="Clash Display Semibold" pitchFamily="34" charset="-122"/>
                <a:cs typeface="Clash Display Semibold" pitchFamily="34" charset="-120"/>
              </a:rPr>
              <a:t>6</a:t>
            </a:r>
            <a:endParaRPr lang="en-US" sz="1600" dirty="0"/>
          </a:p>
        </p:txBody>
      </p:sp>
      <p:sp>
        <p:nvSpPr>
          <p:cNvPr id="39" name="Frame 6 label"/>
          <p:cNvSpPr txBox="1"/>
          <p:nvPr/>
        </p:nvSpPr>
        <p:spPr>
          <a:xfrm>
            <a:off x="9692640" y="4023360"/>
            <a:ext cx="1645920" cy="594360"/>
          </a:xfrm>
          <a:prstGeom prst="rect">
            <a:avLst/>
          </a:prstGeom>
          <a:noFill/>
          <a:ln/>
        </p:spPr>
        <p:txBody>
          <a:bodyPr wrap="square" lIns="0" tIns="0" rIns="0" bIns="0" rtlCol="0" anchor="t"/>
          <a:lstStyle/>
          <a:p>
            <a:pPr marL="0" indent="0">
              <a:buNone/>
            </a:pPr>
            <a:r>
              <a:rPr lang="en-US" sz="1600" dirty="0">
                <a:solidFill>
                  <a:schemeClr val="bg1"/>
                </a:solidFill>
                <a:latin typeface="Clash Grotesk Medium" pitchFamily="34" charset="0"/>
                <a:ea typeface="Clash Grotesk Medium" pitchFamily="34" charset="-122"/>
                <a:cs typeface="Clash Grotesk Medium" pitchFamily="34" charset="-120"/>
              </a:rPr>
              <a:t>Sharing the love with coworkers</a:t>
            </a:r>
            <a:endParaRPr lang="en-US" sz="1600" dirty="0"/>
          </a:p>
        </p:txBody>
      </p:sp>
      <p:sp>
        <p:nvSpPr>
          <p:cNvPr id="40" name="Frame 6 caption"/>
          <p:cNvSpPr txBox="1"/>
          <p:nvPr/>
        </p:nvSpPr>
        <p:spPr>
          <a:xfrm>
            <a:off x="9692640" y="4663440"/>
            <a:ext cx="1645920" cy="91440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Fewer failures, more planned maintenance</a:t>
            </a:r>
            <a:endParaRPr lang="en-US" sz="1600" dirty="0"/>
          </a:p>
        </p:txBody>
      </p:sp>
      <p:sp>
        <p:nvSpPr>
          <p:cNvPr id="8"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marL="0" indent="0">
              <a:buNone/>
            </a:pPr>
            <a:r>
              <a:rPr lang="en-US" sz="4400" dirty="0">
                <a:solidFill>
                  <a:schemeClr val="accent1"/>
                </a:solidFill>
                <a:latin typeface="Clash Display Semibold" pitchFamily="34" charset="0"/>
                <a:ea typeface="Clash Display Semibold" pitchFamily="34" charset="-122"/>
                <a:cs typeface="Clash Display Semibold" pitchFamily="34" charset="-120"/>
              </a:rPr>
              <a:t>09</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Minimum Viable Narrative</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marL="0" indent="0">
              <a:buNone/>
            </a:pPr>
            <a:r>
              <a:rPr lang="en-US" sz="1800" dirty="0">
                <a:solidFill>
                  <a:srgbClr val="B3B3B3"/>
                </a:solidFill>
                <a:latin typeface="PP Mori" pitchFamily="34" charset="0"/>
                <a:ea typeface="PP Mori" pitchFamily="34" charset="-122"/>
                <a:cs typeface="PP Mori" pitchFamily="34" charset="-120"/>
              </a:rPr>
              <a:t>What is the smallest story worth testing?</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txBody>
          <a:bodyPr/>
          <a:lstStyle/>
          <a:p>
            <a:endParaRPr lang="en-GB"/>
          </a:p>
        </p:txBody>
      </p:sp>
      <p:sp>
        <p:nvSpPr>
          <p:cNvPr id="6" name="Artifact pill"/>
          <p:cNvSpPr/>
          <p:nvPr/>
        </p:nvSpPr>
        <p:spPr>
          <a:xfrm>
            <a:off x="548640" y="5943600"/>
            <a:ext cx="449884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MINIMUM VIABLE NARRATIVE</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600" dirty="0">
                <a:solidFill>
                  <a:schemeClr val="accent1"/>
                </a:solidFill>
                <a:latin typeface="PP Mori" pitchFamily="34" charset="0"/>
                <a:ea typeface="PP Mori" pitchFamily="34" charset="-122"/>
                <a:cs typeface="PP Mori" pitchFamily="34" charset="-120"/>
              </a:rPr>
              <a:t>The smallest story worth testing.</a:t>
            </a:r>
            <a:endParaRPr lang="en-US" sz="1600" dirty="0"/>
          </a:p>
        </p:txBody>
      </p:sp>
      <p:sp>
        <p:nvSpPr>
          <p:cNvPr id="9" name="Prototype hypothesis card"/>
          <p:cNvSpPr/>
          <p:nvPr/>
        </p:nvSpPr>
        <p:spPr>
          <a:xfrm>
            <a:off x="822960" y="1554480"/>
            <a:ext cx="10515600" cy="868680"/>
          </a:xfrm>
          <a:prstGeom prst="roundRect">
            <a:avLst>
              <a:gd name="adj" fmla="val 10526"/>
            </a:avLst>
          </a:prstGeom>
          <a:solidFill>
            <a:schemeClr val="tx2"/>
          </a:solidFill>
          <a:ln w="15875">
            <a:solidFill>
              <a:schemeClr val="bg1"/>
            </a:solidFill>
            <a:prstDash val="solid"/>
          </a:ln>
        </p:spPr>
        <p:txBody>
          <a:bodyPr/>
          <a:lstStyle/>
          <a:p>
            <a:endParaRPr lang="en-GB"/>
          </a:p>
        </p:txBody>
      </p:sp>
      <p:sp>
        <p:nvSpPr>
          <p:cNvPr id="10" name="Label PROTOTYPE HYPOTHESIS"/>
          <p:cNvSpPr txBox="1"/>
          <p:nvPr/>
        </p:nvSpPr>
        <p:spPr>
          <a:xfrm>
            <a:off x="960120" y="1627632"/>
            <a:ext cx="1024128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PROTOTYPE HYPOTHESIS</a:t>
            </a:r>
            <a:endParaRPr lang="en-US" sz="1400" dirty="0"/>
          </a:p>
        </p:txBody>
      </p:sp>
      <p:sp>
        <p:nvSpPr>
          <p:cNvPr id="11" name="Prototype hypothesis text"/>
          <p:cNvSpPr txBox="1"/>
          <p:nvPr/>
        </p:nvSpPr>
        <p:spPr>
          <a:xfrm>
            <a:off x="960120" y="1938528"/>
            <a:ext cx="10241280" cy="411480"/>
          </a:xfrm>
          <a:prstGeom prst="rect">
            <a:avLst/>
          </a:prstGeom>
          <a:noFill/>
          <a:ln/>
        </p:spPr>
        <p:txBody>
          <a:bodyPr wrap="square" lIns="0" tIns="0" rIns="0" bIns="0" rtlCol="0" anchor="t"/>
          <a:lstStyle/>
          <a:p>
            <a:r>
              <a:rPr lang="en-US" dirty="0">
                <a:solidFill>
                  <a:schemeClr val="bg1"/>
                </a:solidFill>
              </a:rPr>
              <a:t>Surface the highest-risk equipment so managers can intervene before failure.</a:t>
            </a:r>
          </a:p>
        </p:txBody>
      </p:sp>
      <p:sp>
        <p:nvSpPr>
          <p:cNvPr id="12" name="Target audience card"/>
          <p:cNvSpPr/>
          <p:nvPr/>
        </p:nvSpPr>
        <p:spPr>
          <a:xfrm>
            <a:off x="822960" y="2514600"/>
            <a:ext cx="10515600" cy="868680"/>
          </a:xfrm>
          <a:prstGeom prst="roundRect">
            <a:avLst>
              <a:gd name="adj" fmla="val 10526"/>
            </a:avLst>
          </a:prstGeom>
          <a:solidFill>
            <a:schemeClr val="tx2"/>
          </a:solidFill>
          <a:ln w="15875">
            <a:solidFill>
              <a:schemeClr val="bg1"/>
            </a:solidFill>
            <a:prstDash val="solid"/>
          </a:ln>
        </p:spPr>
        <p:txBody>
          <a:bodyPr/>
          <a:lstStyle/>
          <a:p>
            <a:endParaRPr lang="en-GB"/>
          </a:p>
        </p:txBody>
      </p:sp>
      <p:sp>
        <p:nvSpPr>
          <p:cNvPr id="13" name="Label TARGET AUDIENCE"/>
          <p:cNvSpPr txBox="1"/>
          <p:nvPr/>
        </p:nvSpPr>
        <p:spPr>
          <a:xfrm>
            <a:off x="960120" y="2587752"/>
            <a:ext cx="1024128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TARGET AUDIENCE</a:t>
            </a:r>
            <a:endParaRPr lang="en-US" sz="1400" dirty="0"/>
          </a:p>
        </p:txBody>
      </p:sp>
      <p:sp>
        <p:nvSpPr>
          <p:cNvPr id="14" name="Target audience text"/>
          <p:cNvSpPr txBox="1"/>
          <p:nvPr/>
        </p:nvSpPr>
        <p:spPr>
          <a:xfrm>
            <a:off x="960120" y="2898648"/>
            <a:ext cx="10241280" cy="411480"/>
          </a:xfrm>
          <a:prstGeom prst="rect">
            <a:avLst/>
          </a:prstGeom>
          <a:noFill/>
          <a:ln/>
        </p:spPr>
        <p:txBody>
          <a:bodyPr wrap="square" lIns="0" tIns="0" rIns="0" bIns="0" rtlCol="0" anchor="t"/>
          <a:lstStyle/>
          <a:p>
            <a:r>
              <a:rPr lang="en-US" sz="2000" dirty="0">
                <a:solidFill>
                  <a:schemeClr val="bg1"/>
                </a:solidFill>
                <a:latin typeface="PP Mori" pitchFamily="34" charset="0"/>
                <a:ea typeface="PP Mori" pitchFamily="34" charset="-122"/>
                <a:cs typeface="PP Mori" pitchFamily="34" charset="-120"/>
              </a:rPr>
              <a:t> </a:t>
            </a:r>
            <a:r>
              <a:rPr lang="en-US" dirty="0">
                <a:solidFill>
                  <a:schemeClr val="bg1"/>
                </a:solidFill>
              </a:rPr>
              <a:t>A maintenance manager at a mid-sized manufacturing plant</a:t>
            </a:r>
          </a:p>
        </p:txBody>
      </p:sp>
      <p:sp>
        <p:nvSpPr>
          <p:cNvPr id="15" name="Setup card"/>
          <p:cNvSpPr/>
          <p:nvPr/>
        </p:nvSpPr>
        <p:spPr>
          <a:xfrm>
            <a:off x="822960" y="3520440"/>
            <a:ext cx="2103120" cy="1600200"/>
          </a:xfrm>
          <a:prstGeom prst="roundRect">
            <a:avLst>
              <a:gd name="adj" fmla="val 5714"/>
            </a:avLst>
          </a:prstGeom>
          <a:solidFill>
            <a:schemeClr val="tx2"/>
          </a:solidFill>
          <a:ln w="15875">
            <a:solidFill>
              <a:schemeClr val="bg1"/>
            </a:solidFill>
            <a:prstDash val="solid"/>
          </a:ln>
        </p:spPr>
        <p:txBody>
          <a:bodyPr/>
          <a:lstStyle/>
          <a:p>
            <a:endParaRPr lang="en-GB"/>
          </a:p>
        </p:txBody>
      </p:sp>
      <p:sp>
        <p:nvSpPr>
          <p:cNvPr id="16" name="Label SETUP"/>
          <p:cNvSpPr txBox="1"/>
          <p:nvPr/>
        </p:nvSpPr>
        <p:spPr>
          <a:xfrm>
            <a:off x="960120" y="3593592"/>
            <a:ext cx="182880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SETUP</a:t>
            </a:r>
            <a:endParaRPr lang="en-US" sz="1400" dirty="0"/>
          </a:p>
        </p:txBody>
      </p:sp>
      <p:sp>
        <p:nvSpPr>
          <p:cNvPr id="17" name="Setup text"/>
          <p:cNvSpPr txBox="1"/>
          <p:nvPr/>
        </p:nvSpPr>
        <p:spPr>
          <a:xfrm>
            <a:off x="960120" y="3904488"/>
            <a:ext cx="1828800" cy="1143000"/>
          </a:xfrm>
          <a:prstGeom prst="rect">
            <a:avLst/>
          </a:prstGeom>
          <a:noFill/>
          <a:ln/>
        </p:spPr>
        <p:txBody>
          <a:bodyPr wrap="square" lIns="0" tIns="0" rIns="0" bIns="0" rtlCol="0" anchor="t"/>
          <a:lstStyle/>
          <a:p>
            <a:pPr marL="0" indent="0">
              <a:buNone/>
            </a:pPr>
            <a:r>
              <a:rPr lang="en-US" sz="1600" dirty="0">
                <a:solidFill>
                  <a:schemeClr val="bg1"/>
                </a:solidFill>
                <a:latin typeface="PP Mori" pitchFamily="34" charset="0"/>
                <a:ea typeface="PP Mori" pitchFamily="34" charset="-122"/>
                <a:cs typeface="PP Mori" pitchFamily="34" charset="-120"/>
              </a:rPr>
              <a:t>Overwhelming flood of warning signals</a:t>
            </a:r>
            <a:endParaRPr lang="en-US" sz="1600" dirty="0"/>
          </a:p>
        </p:txBody>
      </p:sp>
      <p:sp>
        <p:nvSpPr>
          <p:cNvPr id="18" name="Encounter card"/>
          <p:cNvSpPr/>
          <p:nvPr/>
        </p:nvSpPr>
        <p:spPr>
          <a:xfrm>
            <a:off x="3044952" y="3520440"/>
            <a:ext cx="2103120" cy="1600200"/>
          </a:xfrm>
          <a:prstGeom prst="roundRect">
            <a:avLst>
              <a:gd name="adj" fmla="val 5714"/>
            </a:avLst>
          </a:prstGeom>
          <a:solidFill>
            <a:schemeClr val="tx2"/>
          </a:solidFill>
          <a:ln w="15875">
            <a:solidFill>
              <a:schemeClr val="bg1"/>
            </a:solidFill>
            <a:prstDash val="solid"/>
          </a:ln>
        </p:spPr>
        <p:txBody>
          <a:bodyPr/>
          <a:lstStyle/>
          <a:p>
            <a:endParaRPr lang="en-GB"/>
          </a:p>
        </p:txBody>
      </p:sp>
      <p:sp>
        <p:nvSpPr>
          <p:cNvPr id="19" name="Label ENCOUNTER"/>
          <p:cNvSpPr txBox="1"/>
          <p:nvPr/>
        </p:nvSpPr>
        <p:spPr>
          <a:xfrm>
            <a:off x="3182112" y="3593592"/>
            <a:ext cx="182880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ENCOUNTER</a:t>
            </a:r>
            <a:endParaRPr lang="en-US" sz="1400" dirty="0"/>
          </a:p>
        </p:txBody>
      </p:sp>
      <p:sp>
        <p:nvSpPr>
          <p:cNvPr id="20" name="Encounter text"/>
          <p:cNvSpPr txBox="1"/>
          <p:nvPr/>
        </p:nvSpPr>
        <p:spPr>
          <a:xfrm>
            <a:off x="3182112" y="3904488"/>
            <a:ext cx="1828800" cy="1143000"/>
          </a:xfrm>
          <a:prstGeom prst="rect">
            <a:avLst/>
          </a:prstGeom>
          <a:noFill/>
          <a:ln/>
        </p:spPr>
        <p:txBody>
          <a:bodyPr wrap="square" lIns="0" tIns="0" rIns="0" bIns="0" rtlCol="0" anchor="t"/>
          <a:lstStyle/>
          <a:p>
            <a:pPr marL="0" indent="0">
              <a:buNone/>
            </a:pPr>
            <a:r>
              <a:rPr lang="en-US" sz="1600" dirty="0">
                <a:solidFill>
                  <a:schemeClr val="bg1"/>
                </a:solidFill>
                <a:latin typeface="PP Mori" pitchFamily="34" charset="0"/>
                <a:ea typeface="PP Mori" pitchFamily="34" charset="-122"/>
                <a:cs typeface="PP Mori" pitchFamily="34" charset="-120"/>
              </a:rPr>
              <a:t>Dashboard highlights highest-risk incidents</a:t>
            </a:r>
            <a:endParaRPr lang="en-US" sz="1600" dirty="0"/>
          </a:p>
        </p:txBody>
      </p:sp>
      <p:sp>
        <p:nvSpPr>
          <p:cNvPr id="21" name="Action Response loop container"/>
          <p:cNvSpPr/>
          <p:nvPr/>
        </p:nvSpPr>
        <p:spPr>
          <a:xfrm>
            <a:off x="5266944" y="3520440"/>
            <a:ext cx="3931920" cy="1600200"/>
          </a:xfrm>
          <a:prstGeom prst="roundRect">
            <a:avLst>
              <a:gd name="adj" fmla="val 5714"/>
            </a:avLst>
          </a:prstGeom>
          <a:ln w="25400">
            <a:solidFill>
              <a:schemeClr val="accent1"/>
            </a:solidFill>
            <a:prstDash val="dash"/>
          </a:ln>
        </p:spPr>
        <p:txBody>
          <a:bodyPr/>
          <a:lstStyle/>
          <a:p>
            <a:endParaRPr lang="en-GB"/>
          </a:p>
        </p:txBody>
      </p:sp>
      <p:sp>
        <p:nvSpPr>
          <p:cNvPr id="22" name="Loop label"/>
          <p:cNvSpPr txBox="1"/>
          <p:nvPr/>
        </p:nvSpPr>
        <p:spPr>
          <a:xfrm>
            <a:off x="5394960" y="3575304"/>
            <a:ext cx="365760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LOOP: 3 TO 6 EXCHANGES</a:t>
            </a:r>
            <a:endParaRPr lang="en-US" sz="1400" dirty="0"/>
          </a:p>
        </p:txBody>
      </p:sp>
      <p:sp>
        <p:nvSpPr>
          <p:cNvPr id="23" name="Action card"/>
          <p:cNvSpPr/>
          <p:nvPr/>
        </p:nvSpPr>
        <p:spPr>
          <a:xfrm>
            <a:off x="5376672" y="3886200"/>
            <a:ext cx="1828800" cy="1143000"/>
          </a:xfrm>
          <a:prstGeom prst="roundRect">
            <a:avLst>
              <a:gd name="adj" fmla="val 8000"/>
            </a:avLst>
          </a:prstGeom>
          <a:solidFill>
            <a:schemeClr val="tx2"/>
          </a:solidFill>
          <a:ln w="15875">
            <a:solidFill>
              <a:schemeClr val="bg1"/>
            </a:solidFill>
            <a:prstDash val="solid"/>
          </a:ln>
        </p:spPr>
        <p:txBody>
          <a:bodyPr/>
          <a:lstStyle/>
          <a:p>
            <a:endParaRPr lang="en-GB"/>
          </a:p>
        </p:txBody>
      </p:sp>
      <p:sp>
        <p:nvSpPr>
          <p:cNvPr id="24" name="Label ACTION"/>
          <p:cNvSpPr txBox="1"/>
          <p:nvPr/>
        </p:nvSpPr>
        <p:spPr>
          <a:xfrm>
            <a:off x="5513832" y="3959352"/>
            <a:ext cx="155448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ACTION</a:t>
            </a:r>
            <a:endParaRPr lang="en-US" sz="1400" dirty="0"/>
          </a:p>
        </p:txBody>
      </p:sp>
      <p:sp>
        <p:nvSpPr>
          <p:cNvPr id="25" name="Action text"/>
          <p:cNvSpPr txBox="1"/>
          <p:nvPr/>
        </p:nvSpPr>
        <p:spPr>
          <a:xfrm>
            <a:off x="5513832" y="4270248"/>
            <a:ext cx="1554480" cy="685800"/>
          </a:xfrm>
          <a:prstGeom prst="rect">
            <a:avLst/>
          </a:prstGeom>
          <a:noFill/>
          <a:ln/>
        </p:spPr>
        <p:txBody>
          <a:bodyPr wrap="square" lIns="0" tIns="0" rIns="0" bIns="0" rtlCol="0" anchor="t"/>
          <a:lstStyle/>
          <a:p>
            <a:pPr marL="0" indent="0">
              <a:buNone/>
            </a:pPr>
            <a:r>
              <a:rPr lang="en-US" sz="1400" dirty="0">
                <a:solidFill>
                  <a:schemeClr val="bg1"/>
                </a:solidFill>
                <a:latin typeface="PP Mori" pitchFamily="34" charset="0"/>
                <a:ea typeface="PP Mori" pitchFamily="34" charset="-122"/>
                <a:cs typeface="PP Mori" pitchFamily="34" charset="-120"/>
              </a:rPr>
              <a:t>Manager picks &amp;  investigates incident details</a:t>
            </a:r>
            <a:endParaRPr lang="en-US" sz="1400" dirty="0"/>
          </a:p>
        </p:txBody>
      </p:sp>
      <p:sp>
        <p:nvSpPr>
          <p:cNvPr id="26" name="Response card"/>
          <p:cNvSpPr/>
          <p:nvPr/>
        </p:nvSpPr>
        <p:spPr>
          <a:xfrm>
            <a:off x="7260336" y="3886200"/>
            <a:ext cx="1828800" cy="1143000"/>
          </a:xfrm>
          <a:prstGeom prst="roundRect">
            <a:avLst>
              <a:gd name="adj" fmla="val 8000"/>
            </a:avLst>
          </a:prstGeom>
          <a:solidFill>
            <a:schemeClr val="tx2"/>
          </a:solidFill>
          <a:ln w="15875">
            <a:solidFill>
              <a:schemeClr val="bg1"/>
            </a:solidFill>
            <a:prstDash val="solid"/>
          </a:ln>
        </p:spPr>
        <p:txBody>
          <a:bodyPr/>
          <a:lstStyle/>
          <a:p>
            <a:endParaRPr lang="en-GB"/>
          </a:p>
        </p:txBody>
      </p:sp>
      <p:sp>
        <p:nvSpPr>
          <p:cNvPr id="27" name="Label RESPONSE"/>
          <p:cNvSpPr txBox="1"/>
          <p:nvPr/>
        </p:nvSpPr>
        <p:spPr>
          <a:xfrm>
            <a:off x="7397496" y="3959352"/>
            <a:ext cx="155448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RESPONSE</a:t>
            </a:r>
            <a:endParaRPr lang="en-US" sz="1400" dirty="0"/>
          </a:p>
        </p:txBody>
      </p:sp>
      <p:sp>
        <p:nvSpPr>
          <p:cNvPr id="28" name="Response text"/>
          <p:cNvSpPr txBox="1"/>
          <p:nvPr/>
        </p:nvSpPr>
        <p:spPr>
          <a:xfrm>
            <a:off x="7397496" y="4270248"/>
            <a:ext cx="1554480" cy="685800"/>
          </a:xfrm>
          <a:prstGeom prst="rect">
            <a:avLst/>
          </a:prstGeom>
          <a:noFill/>
          <a:ln/>
        </p:spPr>
        <p:txBody>
          <a:bodyPr wrap="square" lIns="0" tIns="0" rIns="0" bIns="0" rtlCol="0" anchor="t"/>
          <a:lstStyle/>
          <a:p>
            <a:pPr marL="0" indent="0">
              <a:buNone/>
            </a:pPr>
            <a:r>
              <a:rPr lang="en-US" sz="1400" dirty="0">
                <a:solidFill>
                  <a:schemeClr val="bg1"/>
                </a:solidFill>
                <a:latin typeface="PP Mori" pitchFamily="34" charset="0"/>
                <a:ea typeface="PP Mori" pitchFamily="34" charset="-122"/>
                <a:cs typeface="PP Mori" pitchFamily="34" charset="-120"/>
              </a:rPr>
              <a:t>Risks, evidences, causes, &amp; then recommendation</a:t>
            </a:r>
            <a:endParaRPr lang="en-US" sz="1400" dirty="0"/>
          </a:p>
        </p:txBody>
      </p:sp>
      <p:sp>
        <p:nvSpPr>
          <p:cNvPr id="29" name="Resolution card"/>
          <p:cNvSpPr/>
          <p:nvPr/>
        </p:nvSpPr>
        <p:spPr>
          <a:xfrm>
            <a:off x="9317736" y="3520440"/>
            <a:ext cx="2020824" cy="1600200"/>
          </a:xfrm>
          <a:prstGeom prst="roundRect">
            <a:avLst>
              <a:gd name="adj" fmla="val 5714"/>
            </a:avLst>
          </a:prstGeom>
          <a:solidFill>
            <a:schemeClr val="tx2"/>
          </a:solidFill>
          <a:ln w="15875">
            <a:solidFill>
              <a:schemeClr val="bg1"/>
            </a:solidFill>
            <a:prstDash val="solid"/>
          </a:ln>
        </p:spPr>
        <p:txBody>
          <a:bodyPr/>
          <a:lstStyle/>
          <a:p>
            <a:endParaRPr lang="en-GB"/>
          </a:p>
        </p:txBody>
      </p:sp>
      <p:sp>
        <p:nvSpPr>
          <p:cNvPr id="30" name="Label RESOLUTION"/>
          <p:cNvSpPr txBox="1"/>
          <p:nvPr/>
        </p:nvSpPr>
        <p:spPr>
          <a:xfrm>
            <a:off x="9454896" y="3593592"/>
            <a:ext cx="1746504"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RESOLUTION</a:t>
            </a:r>
            <a:endParaRPr lang="en-US" sz="1400" dirty="0"/>
          </a:p>
        </p:txBody>
      </p:sp>
      <p:sp>
        <p:nvSpPr>
          <p:cNvPr id="31" name="Resolution text"/>
          <p:cNvSpPr txBox="1"/>
          <p:nvPr/>
        </p:nvSpPr>
        <p:spPr>
          <a:xfrm>
            <a:off x="9454896" y="3904488"/>
            <a:ext cx="1746504" cy="1143000"/>
          </a:xfrm>
          <a:prstGeom prst="rect">
            <a:avLst/>
          </a:prstGeom>
          <a:noFill/>
          <a:ln/>
        </p:spPr>
        <p:txBody>
          <a:bodyPr wrap="square" lIns="0" tIns="0" rIns="0" bIns="0" rtlCol="0" anchor="t"/>
          <a:lstStyle/>
          <a:p>
            <a:pPr marL="0" indent="0">
              <a:buNone/>
            </a:pPr>
            <a:r>
              <a:rPr lang="en-US" sz="1600" dirty="0">
                <a:solidFill>
                  <a:schemeClr val="bg1"/>
                </a:solidFill>
                <a:latin typeface="PP Mori" pitchFamily="34" charset="0"/>
                <a:ea typeface="PP Mori" pitchFamily="34" charset="-122"/>
                <a:cs typeface="PP Mori" pitchFamily="34" charset="-120"/>
              </a:rPr>
              <a:t>Manager proactively averts a failure</a:t>
            </a:r>
            <a:endParaRPr lang="en-US" sz="1600" dirty="0"/>
          </a:p>
        </p:txBody>
      </p:sp>
      <p:sp>
        <p:nvSpPr>
          <p:cNvPr id="32" name="Label BUILDER PROMPT"/>
          <p:cNvSpPr txBox="1"/>
          <p:nvPr/>
        </p:nvSpPr>
        <p:spPr>
          <a:xfrm>
            <a:off x="822960" y="5230368"/>
            <a:ext cx="3657600" cy="256032"/>
          </a:xfrm>
          <a:prstGeom prst="rect">
            <a:avLst/>
          </a:prstGeom>
          <a:noFill/>
          <a:ln/>
        </p:spPr>
        <p:txBody>
          <a:bodyPr wrap="square" lIns="0" tIns="0" rIns="0" bIns="0" rtlCol="0" anchor="t"/>
          <a:lstStyle/>
          <a:p>
            <a:pPr marL="0" indent="0">
              <a:buNone/>
            </a:pPr>
            <a:r>
              <a:rPr lang="en-US" sz="1400" kern="0" spc="120" dirty="0">
                <a:solidFill>
                  <a:schemeClr val="accent1"/>
                </a:solidFill>
                <a:latin typeface="Clash Display Semibold" pitchFamily="34" charset="0"/>
                <a:ea typeface="Clash Display Semibold" pitchFamily="34" charset="-122"/>
                <a:cs typeface="Clash Display Semibold" pitchFamily="34" charset="-120"/>
              </a:rPr>
              <a:t>BUILDER PROMPT</a:t>
            </a:r>
            <a:endParaRPr lang="en-US" sz="1400" dirty="0"/>
          </a:p>
        </p:txBody>
      </p:sp>
      <p:sp>
        <p:nvSpPr>
          <p:cNvPr id="33" name="Builder prompt text"/>
          <p:cNvSpPr txBox="1"/>
          <p:nvPr/>
        </p:nvSpPr>
        <p:spPr>
          <a:xfrm>
            <a:off x="822960" y="5468112"/>
            <a:ext cx="7315200" cy="320040"/>
          </a:xfrm>
          <a:prstGeom prst="rect">
            <a:avLst/>
          </a:prstGeom>
          <a:noFill/>
          <a:ln/>
        </p:spPr>
        <p:txBody>
          <a:bodyPr wrap="square" lIns="0" tIns="0" rIns="0" bIns="0" rtlCol="0" anchor="t"/>
          <a:lstStyle/>
          <a:p>
            <a:pPr marL="0" indent="0">
              <a:buNone/>
            </a:pPr>
            <a:r>
              <a:rPr lang="en-US" dirty="0">
                <a:solidFill>
                  <a:schemeClr val="bg1"/>
                </a:solidFill>
                <a:latin typeface="PP Mori" pitchFamily="34" charset="0"/>
                <a:ea typeface="PP Mori" pitchFamily="34" charset="-122"/>
                <a:cs typeface="PP Mori" pitchFamily="34" charset="-120"/>
              </a:rPr>
              <a:t>Be descriptive, not prescriptive.</a:t>
            </a:r>
            <a:endParaRPr lang="en-US" dirty="0"/>
          </a:p>
        </p:txBody>
      </p:sp>
      <p:sp>
        <p:nvSpPr>
          <p:cNvPr id="34" name="Pill NOT BUILT"/>
          <p:cNvSpPr/>
          <p:nvPr/>
        </p:nvSpPr>
        <p:spPr>
          <a:xfrm>
            <a:off x="9921240" y="5440680"/>
            <a:ext cx="1417320"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NOT BUILT</a:t>
            </a:r>
            <a:endParaRPr lang="en-US" sz="1400" dirty="0"/>
          </a:p>
        </p:txBody>
      </p:sp>
      <p:sp>
        <p:nvSpPr>
          <p:cNvPr id="8"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marL="0" indent="0">
              <a:buNone/>
            </a:pPr>
            <a:r>
              <a:rPr lang="en-US" sz="8000" dirty="0">
                <a:solidFill>
                  <a:schemeClr val="accent1"/>
                </a:solidFill>
                <a:latin typeface="Clash Display Semibold" pitchFamily="34" charset="0"/>
                <a:ea typeface="Clash Display Semibold" pitchFamily="34" charset="-122"/>
                <a:cs typeface="Clash Display Semibold" pitchFamily="34" charset="-120"/>
              </a:rPr>
              <a:t>10</a:t>
            </a:r>
            <a:endParaRPr lang="en-US" sz="8000" dirty="0"/>
          </a:p>
        </p:txBody>
      </p:sp>
      <p:sp>
        <p:nvSpPr>
          <p:cNvPr id="3" name="Text 0"/>
          <p:cNvSpPr>
            <a:spLocks noGrp="1"/>
          </p:cNvSpPr>
          <p:nvPr>
            <p:ph type="title" idx="101" hasCustomPrompt="1"/>
          </p:nvPr>
        </p:nvSpPr>
        <p:spPr>
          <a:xfrm>
            <a:off x="548640" y="1600200"/>
            <a:ext cx="5212080" cy="1143000"/>
          </a:xfrm>
          <a:prstGeom prst="rect">
            <a:avLst/>
          </a:prstGeom>
          <a:noFill/>
          <a:ln/>
        </p:spPr>
        <p:txBody>
          <a:bodyPr wrap="square" lIns="0" tIns="0" rIns="0" bIns="0" rtlCol="0" anchor="t"/>
          <a:lstStyle/>
          <a:p>
            <a:pPr marL="0" indent="0" algn="l">
              <a:buNone/>
            </a:pPr>
            <a:r>
              <a:rPr lang="en-US" sz="4000" dirty="0">
                <a:solidFill>
                  <a:schemeClr val="bg1"/>
                </a:solidFill>
                <a:latin typeface="Clash Grotesk Medium" pitchFamily="34" charset="0"/>
                <a:ea typeface="Clash Grotesk Medium" pitchFamily="34" charset="-122"/>
                <a:cs typeface="Clash Grotesk Medium" pitchFamily="34" charset="-120"/>
              </a:rPr>
              <a:t>Prototyping</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marL="0" indent="0">
              <a:lnSpc>
                <a:spcPct val="110000"/>
              </a:lnSpc>
              <a:buNone/>
            </a:pPr>
            <a:r>
              <a:rPr lang="en-US" sz="2200" dirty="0">
                <a:solidFill>
                  <a:schemeClr val="bg1"/>
                </a:solidFill>
                <a:latin typeface="PP Mori" pitchFamily="34" charset="0"/>
                <a:ea typeface="PP Mori" pitchFamily="34" charset="-122"/>
                <a:cs typeface="PP Mori" pitchFamily="34" charset="-120"/>
              </a:rPr>
              <a:t>What is the smallest, cheapest test we can run to learn the most brutal truth?</a:t>
            </a:r>
            <a:endParaRPr lang="en-US" sz="2200" dirty="0"/>
          </a:p>
        </p:txBody>
      </p:sp>
      <p:sp>
        <p:nvSpPr>
          <p:cNvPr id="5" name="Artifact pill"/>
          <p:cNvSpPr/>
          <p:nvPr/>
        </p:nvSpPr>
        <p:spPr>
          <a:xfrm>
            <a:off x="548640" y="4572000"/>
            <a:ext cx="473659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marL="0" indent="0" algn="ctr">
              <a:buNone/>
            </a:pPr>
            <a:r>
              <a:rPr lang="en-US" sz="1200" kern="0" spc="150" dirty="0">
                <a:solidFill>
                  <a:schemeClr val="bg1"/>
                </a:solidFill>
                <a:latin typeface="Clash Display Semibold" pitchFamily="34" charset="0"/>
                <a:ea typeface="Clash Display Semibold" pitchFamily="34" charset="-122"/>
                <a:cs typeface="Clash Display Semibold" pitchFamily="34" charset="-120"/>
              </a:rPr>
              <a:t>ARTIFACT: PROTOTYPE EXPERIMENT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marL="0" indent="0">
              <a:buNone/>
            </a:pPr>
            <a:r>
              <a:rPr lang="en-US" sz="1200" kern="0" spc="150" dirty="0">
                <a:solidFill>
                  <a:schemeClr val="accent1"/>
                </a:solidFill>
                <a:latin typeface="Clash Display Semibold" pitchFamily="34" charset="0"/>
                <a:ea typeface="Clash Display Semibold" pitchFamily="34" charset="-122"/>
                <a:cs typeface="Clash Display Semibold" pitchFamily="34" charset="-120"/>
              </a:rPr>
              <a:t>RULE  </a:t>
            </a:r>
            <a:r>
              <a:rPr lang="en-US" sz="1800" dirty="0">
                <a:solidFill>
                  <a:schemeClr val="accent1"/>
                </a:solidFill>
                <a:latin typeface="PP Mori" pitchFamily="34" charset="0"/>
                <a:ea typeface="PP Mori" pitchFamily="34" charset="-122"/>
                <a:cs typeface="PP Mori" pitchFamily="34" charset="-120"/>
              </a:rPr>
              <a:t>The tiniest act of discovery that gives enough signal to pivot, punt or pursue.</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txBody>
          <a:bodyPr/>
          <a:lstStyle/>
          <a:p>
            <a:endParaRPr lang="en-GB"/>
          </a:p>
        </p:txBody>
      </p:sp>
      <p:sp>
        <p:nvSpPr>
          <p:cNvPr id="8" name="Brief card"/>
          <p:cNvSpPr/>
          <p:nvPr/>
        </p:nvSpPr>
        <p:spPr>
          <a:xfrm>
            <a:off x="6629400" y="1005840"/>
            <a:ext cx="4663440" cy="4663440"/>
          </a:xfrm>
          <a:prstGeom prst="roundRect">
            <a:avLst>
              <a:gd name="adj" fmla="val 3529"/>
            </a:avLst>
          </a:prstGeom>
          <a:solidFill>
            <a:schemeClr val="bg1"/>
          </a:solidFill>
          <a:ln w="12700">
            <a:solidFill>
              <a:schemeClr val="bg1"/>
            </a:solidFill>
            <a:prstDash val="solid"/>
          </a:ln>
        </p:spPr>
        <p:txBody>
          <a:bodyPr/>
          <a:lstStyle/>
          <a:p>
            <a:endParaRPr lang="en-GB"/>
          </a:p>
        </p:txBody>
      </p:sp>
      <p:sp>
        <p:nvSpPr>
          <p:cNvPr id="9" name="Struck request"/>
          <p:cNvSpPr txBox="1"/>
          <p:nvPr/>
        </p:nvSpPr>
        <p:spPr>
          <a:xfrm>
            <a:off x="6995160" y="1463040"/>
            <a:ext cx="3931920" cy="1463040"/>
          </a:xfrm>
          <a:prstGeom prst="rect">
            <a:avLst/>
          </a:prstGeom>
          <a:noFill/>
          <a:ln/>
        </p:spPr>
        <p:txBody>
          <a:bodyPr wrap="square" lIns="0" tIns="0" rIns="0" bIns="0" rtlCol="0" anchor="t"/>
          <a:lstStyle/>
          <a:p>
            <a:pPr marL="0" indent="0">
              <a:buNone/>
            </a:pPr>
            <a:r>
              <a:rPr lang="en-US" sz="3000" strike="sngStrike" dirty="0">
                <a:solidFill>
                  <a:srgbClr val="7A7A7A"/>
                </a:solidFill>
                <a:latin typeface="Clash Grotesk Medium" pitchFamily="34" charset="0"/>
                <a:ea typeface="Clash Grotesk Medium" pitchFamily="34" charset="-122"/>
                <a:cs typeface="Clash Grotesk Medium" pitchFamily="34" charset="-120"/>
              </a:rPr>
              <a:t>Build an AI-enhanced maintenance dashboard for managers at mid-sized manufacturers.</a:t>
            </a:r>
          </a:p>
          <a:p>
            <a:pPr marL="0" indent="0">
              <a:buNone/>
            </a:pPr>
            <a:endParaRPr lang="en-US" sz="3000" strike="sngStrike" dirty="0">
              <a:solidFill>
                <a:srgbClr val="7A7A7A"/>
              </a:solidFill>
              <a:latin typeface="Clash Grotesk Medium" pitchFamily="34" charset="0"/>
              <a:ea typeface="Clash Grotesk Medium" pitchFamily="34" charset="-122"/>
              <a:cs typeface="Clash Grotesk Medium" pitchFamily="34" charset="-120"/>
            </a:endParaRPr>
          </a:p>
          <a:p>
            <a:pPr marL="0" indent="0">
              <a:buNone/>
            </a:pPr>
            <a:r>
              <a:rPr lang="en-US" sz="3000" strike="sngStrike" dirty="0">
                <a:solidFill>
                  <a:srgbClr val="7A7A7A"/>
                </a:solidFill>
                <a:latin typeface="Clash Grotesk Medium" pitchFamily="34" charset="0"/>
                <a:ea typeface="Clash Grotesk Medium" pitchFamily="34" charset="-122"/>
                <a:cs typeface="Clash Grotesk Medium" pitchFamily="34" charset="-120"/>
              </a:rPr>
              <a:t>.</a:t>
            </a:r>
            <a:endParaRPr lang="en-US" sz="3000" dirty="0"/>
          </a:p>
        </p:txBody>
      </p:sp>
      <p:sp>
        <p:nvSpPr>
          <p:cNvPr id="10" name="Just enough signal stamp"/>
          <p:cNvSpPr/>
          <p:nvPr/>
        </p:nvSpPr>
        <p:spPr>
          <a:xfrm rot="21300000">
            <a:off x="7047449" y="3960210"/>
            <a:ext cx="3931920" cy="1371600"/>
          </a:xfrm>
          <a:prstGeom prst="roundRect">
            <a:avLst>
              <a:gd name="adj" fmla="val 6667"/>
            </a:avLst>
          </a:prstGeom>
          <a:ln w="63500">
            <a:solidFill>
              <a:schemeClr val="accent1"/>
            </a:solidFill>
          </a:ln>
        </p:spPr>
        <p:txBody>
          <a:bodyPr wrap="square" lIns="0" tIns="0" rIns="0" bIns="0" rtlCol="0" anchor="ctr"/>
          <a:lstStyle/>
          <a:p>
            <a:pPr marL="0" indent="0" algn="ctr">
              <a:buNone/>
            </a:pPr>
            <a:r>
              <a:rPr lang="en-US" sz="2600" dirty="0">
                <a:solidFill>
                  <a:srgbClr val="00C765"/>
                </a:solidFill>
                <a:latin typeface="Clash Grotesk Medium" pitchFamily="34" charset="0"/>
                <a:ea typeface="Clash Grotesk Medium" pitchFamily="34" charset="-122"/>
                <a:cs typeface="Clash Grotesk Medium" pitchFamily="34" charset="-120"/>
              </a:rPr>
              <a:t>TEST THE PREDICTION, NOT THE DASHBOARD</a:t>
            </a:r>
            <a:endParaRPr lang="en-US" sz="2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640080"/>
            <a:ext cx="7315200" cy="822960"/>
          </a:xfrm>
          <a:prstGeom prst="rect">
            <a:avLst/>
          </a:prstGeom>
          <a:noFill/>
          <a:ln/>
        </p:spPr>
        <p:txBody>
          <a:bodyPr wrap="square" lIns="0" tIns="0" rIns="0" bIns="0" rtlCol="0" anchor="t"/>
          <a:lstStyle/>
          <a:p>
            <a:pPr marL="0" indent="0">
              <a:buNone/>
            </a:pPr>
            <a:r>
              <a:rPr lang="en-US" sz="4400" dirty="0">
                <a:solidFill>
                  <a:schemeClr val="bg1"/>
                </a:solidFill>
                <a:latin typeface="Clash Grotesk Medium" pitchFamily="34" charset="0"/>
                <a:ea typeface="Clash Grotesk Medium" pitchFamily="34" charset="-122"/>
                <a:cs typeface="Clash Grotesk Medium" pitchFamily="34" charset="-120"/>
              </a:rPr>
              <a:t>The fidelity ladder</a:t>
            </a:r>
            <a:endParaRPr lang="en-US" sz="4400" dirty="0"/>
          </a:p>
        </p:txBody>
      </p:sp>
      <p:sp>
        <p:nvSpPr>
          <p:cNvPr id="3" name="Ladder question"/>
          <p:cNvSpPr txBox="1"/>
          <p:nvPr/>
        </p:nvSpPr>
        <p:spPr>
          <a:xfrm>
            <a:off x="548640" y="1463040"/>
            <a:ext cx="7772400" cy="457200"/>
          </a:xfrm>
          <a:prstGeom prst="rect">
            <a:avLst/>
          </a:prstGeom>
          <a:noFill/>
          <a:ln/>
        </p:spPr>
        <p:txBody>
          <a:bodyPr wrap="square" lIns="0" tIns="0" rIns="0" bIns="0" rtlCol="0" anchor="t"/>
          <a:lstStyle/>
          <a:p>
            <a:pPr marL="0" indent="0">
              <a:buNone/>
            </a:pPr>
            <a:r>
              <a:rPr lang="en-US" sz="2200" dirty="0">
                <a:solidFill>
                  <a:srgbClr val="B3B3B3"/>
                </a:solidFill>
                <a:latin typeface="PP Mori" pitchFamily="34" charset="0"/>
                <a:ea typeface="PP Mori" pitchFamily="34" charset="-122"/>
                <a:cs typeface="PP Mori" pitchFamily="34" charset="-120"/>
              </a:rPr>
              <a:t>What can we learn at this fidelity that we could not learn more cheaply?</a:t>
            </a:r>
            <a:endParaRPr lang="en-US" sz="2200" dirty="0"/>
          </a:p>
        </p:txBody>
      </p:sp>
      <p:sp>
        <p:nvSpPr>
          <p:cNvPr id="4" name="Step Conversation"/>
          <p:cNvSpPr/>
          <p:nvPr/>
        </p:nvSpPr>
        <p:spPr>
          <a:xfrm>
            <a:off x="548640" y="4754880"/>
            <a:ext cx="2651760" cy="1097280"/>
          </a:xfrm>
          <a:prstGeom prst="roundRect">
            <a:avLst>
              <a:gd name="adj" fmla="val 8333"/>
            </a:avLst>
          </a:prstGeom>
          <a:solidFill>
            <a:schemeClr val="accent1"/>
          </a:solidFill>
          <a:ln w="15875">
            <a:solidFill>
              <a:schemeClr val="accent1"/>
            </a:solidFill>
          </a:ln>
        </p:spPr>
        <p:txBody>
          <a:bodyPr wrap="square" lIns="50800" tIns="101600" rIns="101600" bIns="50800" rtlCol="0" anchor="ctr"/>
          <a:lstStyle/>
          <a:p>
            <a:pPr marL="0" indent="0" algn="l">
              <a:buNone/>
            </a:pPr>
            <a:endParaRPr lang="en-US" sz="1300" dirty="0"/>
          </a:p>
        </p:txBody>
      </p:sp>
      <p:sp>
        <p:nvSpPr>
          <p:cNvPr id="5" name="Step label Conversation"/>
          <p:cNvSpPr txBox="1"/>
          <p:nvPr/>
        </p:nvSpPr>
        <p:spPr>
          <a:xfrm>
            <a:off x="731520" y="4864608"/>
            <a:ext cx="2377440" cy="640080"/>
          </a:xfrm>
          <a:prstGeom prst="rect">
            <a:avLst/>
          </a:prstGeom>
          <a:noFill/>
          <a:ln/>
        </p:spPr>
        <p:txBody>
          <a:bodyPr wrap="square" lIns="0" tIns="0" rIns="0" bIns="0" rtlCol="0" anchor="t"/>
          <a:lstStyle/>
          <a:p>
            <a:pPr marL="0" indent="0">
              <a:buNone/>
            </a:pPr>
            <a:r>
              <a:rPr lang="en-US" sz="1800" dirty="0">
                <a:solidFill>
                  <a:schemeClr val="tx1"/>
                </a:solidFill>
                <a:latin typeface="Clash Grotesk Medium" pitchFamily="34" charset="0"/>
                <a:ea typeface="Clash Grotesk Medium" pitchFamily="34" charset="-122"/>
                <a:cs typeface="Clash Grotesk Medium" pitchFamily="34" charset="-120"/>
              </a:rPr>
              <a:t>Conversation</a:t>
            </a:r>
            <a:endParaRPr lang="en-US" sz="1800" dirty="0"/>
          </a:p>
        </p:txBody>
      </p:sp>
      <p:sp>
        <p:nvSpPr>
          <p:cNvPr id="6" name="Step cost Conversation"/>
          <p:cNvSpPr txBox="1"/>
          <p:nvPr/>
        </p:nvSpPr>
        <p:spPr>
          <a:xfrm>
            <a:off x="731520" y="5486400"/>
            <a:ext cx="2286000" cy="274320"/>
          </a:xfrm>
          <a:prstGeom prst="rect">
            <a:avLst/>
          </a:prstGeom>
          <a:noFill/>
          <a:ln/>
        </p:spPr>
        <p:txBody>
          <a:bodyPr wrap="square" lIns="0" tIns="0" rIns="0" bIns="0" rtlCol="0" anchor="t"/>
          <a:lstStyle/>
          <a:p>
            <a:pPr marL="0" indent="0">
              <a:buNone/>
            </a:pPr>
            <a:r>
              <a:rPr lang="en-US" sz="1600" dirty="0">
                <a:solidFill>
                  <a:schemeClr val="tx1"/>
                </a:solidFill>
                <a:latin typeface="PP Mori" pitchFamily="34" charset="0"/>
                <a:ea typeface="PP Mori" pitchFamily="34" charset="-122"/>
                <a:cs typeface="PP Mori" pitchFamily="34" charset="-120"/>
              </a:rPr>
              <a:t>Lowest cost</a:t>
            </a:r>
            <a:endParaRPr lang="en-US" sz="1600" dirty="0"/>
          </a:p>
        </p:txBody>
      </p:sp>
      <p:sp>
        <p:nvSpPr>
          <p:cNvPr id="7" name="Step Storyboard / wireframe"/>
          <p:cNvSpPr/>
          <p:nvPr/>
        </p:nvSpPr>
        <p:spPr>
          <a:xfrm>
            <a:off x="3337560" y="3931920"/>
            <a:ext cx="2651760" cy="1920240"/>
          </a:xfrm>
          <a:prstGeom prst="roundRect">
            <a:avLst>
              <a:gd name="adj" fmla="val 4762"/>
            </a:avLst>
          </a:prstGeom>
          <a:solidFill>
            <a:schemeClr val="tx2"/>
          </a:solidFill>
          <a:ln w="15875">
            <a:solidFill>
              <a:schemeClr val="bg1"/>
            </a:solidFill>
          </a:ln>
        </p:spPr>
        <p:txBody>
          <a:bodyPr wrap="square" lIns="50800" tIns="101600" rIns="101600" bIns="50800" rtlCol="0" anchor="ctr"/>
          <a:lstStyle/>
          <a:p>
            <a:pPr marL="0" indent="0" algn="l">
              <a:buNone/>
            </a:pPr>
            <a:endParaRPr lang="en-US" sz="1300" dirty="0"/>
          </a:p>
        </p:txBody>
      </p:sp>
      <p:sp>
        <p:nvSpPr>
          <p:cNvPr id="8" name="Step label Storyboard / wireframe"/>
          <p:cNvSpPr txBox="1"/>
          <p:nvPr/>
        </p:nvSpPr>
        <p:spPr>
          <a:xfrm>
            <a:off x="3520440" y="4041648"/>
            <a:ext cx="2377440" cy="640080"/>
          </a:xfrm>
          <a:prstGeom prst="rect">
            <a:avLst/>
          </a:prstGeom>
          <a:noFill/>
          <a:ln/>
        </p:spPr>
        <p:txBody>
          <a:bodyPr wrap="square" lIns="0" tIns="0" rIns="0" bIns="0" rtlCol="0" anchor="t"/>
          <a:lstStyle/>
          <a:p>
            <a:pPr marL="0" indent="0">
              <a:buNone/>
            </a:pPr>
            <a:r>
              <a:rPr lang="en-US" sz="1800" dirty="0">
                <a:solidFill>
                  <a:schemeClr val="bg1"/>
                </a:solidFill>
                <a:latin typeface="Clash Grotesk Medium" pitchFamily="34" charset="0"/>
                <a:ea typeface="Clash Grotesk Medium" pitchFamily="34" charset="-122"/>
                <a:cs typeface="Clash Grotesk Medium" pitchFamily="34" charset="-120"/>
              </a:rPr>
              <a:t>Storyboard / wireframe</a:t>
            </a:r>
            <a:endParaRPr lang="en-US" sz="1800" dirty="0"/>
          </a:p>
        </p:txBody>
      </p:sp>
      <p:sp>
        <p:nvSpPr>
          <p:cNvPr id="9" name="Step cost Storyboard / wireframe"/>
          <p:cNvSpPr txBox="1"/>
          <p:nvPr/>
        </p:nvSpPr>
        <p:spPr>
          <a:xfrm>
            <a:off x="3520440" y="4663440"/>
            <a:ext cx="2286000" cy="27432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Low cost</a:t>
            </a:r>
            <a:endParaRPr lang="en-US" sz="1600" dirty="0"/>
          </a:p>
        </p:txBody>
      </p:sp>
      <p:sp>
        <p:nvSpPr>
          <p:cNvPr id="10" name="Step Interaction"/>
          <p:cNvSpPr/>
          <p:nvPr/>
        </p:nvSpPr>
        <p:spPr>
          <a:xfrm>
            <a:off x="6126480" y="3108960"/>
            <a:ext cx="2651760" cy="2743200"/>
          </a:xfrm>
          <a:prstGeom prst="roundRect">
            <a:avLst>
              <a:gd name="adj" fmla="val 3448"/>
            </a:avLst>
          </a:prstGeom>
          <a:solidFill>
            <a:schemeClr val="tx2"/>
          </a:solidFill>
          <a:ln w="15875">
            <a:solidFill>
              <a:schemeClr val="bg1"/>
            </a:solidFill>
          </a:ln>
        </p:spPr>
        <p:txBody>
          <a:bodyPr wrap="square" lIns="50800" tIns="101600" rIns="101600" bIns="50800" rtlCol="0" anchor="ctr"/>
          <a:lstStyle/>
          <a:p>
            <a:pPr marL="0" indent="0" algn="l">
              <a:buNone/>
            </a:pPr>
            <a:endParaRPr lang="en-US" sz="1300" dirty="0"/>
          </a:p>
        </p:txBody>
      </p:sp>
      <p:sp>
        <p:nvSpPr>
          <p:cNvPr id="11" name="Step label Interaction"/>
          <p:cNvSpPr txBox="1"/>
          <p:nvPr/>
        </p:nvSpPr>
        <p:spPr>
          <a:xfrm>
            <a:off x="6309360" y="3218688"/>
            <a:ext cx="2377440" cy="640080"/>
          </a:xfrm>
          <a:prstGeom prst="rect">
            <a:avLst/>
          </a:prstGeom>
          <a:noFill/>
          <a:ln/>
        </p:spPr>
        <p:txBody>
          <a:bodyPr wrap="square" lIns="0" tIns="0" rIns="0" bIns="0" rtlCol="0" anchor="t"/>
          <a:lstStyle/>
          <a:p>
            <a:pPr marL="0" indent="0">
              <a:buNone/>
            </a:pPr>
            <a:r>
              <a:rPr lang="en-US" sz="1800" dirty="0">
                <a:solidFill>
                  <a:schemeClr val="bg1"/>
                </a:solidFill>
                <a:latin typeface="Clash Grotesk Medium" pitchFamily="34" charset="0"/>
                <a:ea typeface="Clash Grotesk Medium" pitchFamily="34" charset="-122"/>
                <a:cs typeface="Clash Grotesk Medium" pitchFamily="34" charset="-120"/>
              </a:rPr>
              <a:t>Interaction</a:t>
            </a:r>
            <a:endParaRPr lang="en-US" sz="1800" dirty="0"/>
          </a:p>
        </p:txBody>
      </p:sp>
      <p:sp>
        <p:nvSpPr>
          <p:cNvPr id="12" name="Step cost Interaction"/>
          <p:cNvSpPr txBox="1"/>
          <p:nvPr/>
        </p:nvSpPr>
        <p:spPr>
          <a:xfrm>
            <a:off x="6309360" y="3840480"/>
            <a:ext cx="2286000" cy="27432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Medium cost</a:t>
            </a:r>
            <a:endParaRPr lang="en-US" sz="1600" dirty="0"/>
          </a:p>
        </p:txBody>
      </p:sp>
      <p:sp>
        <p:nvSpPr>
          <p:cNvPr id="13" name="Step Code / build"/>
          <p:cNvSpPr/>
          <p:nvPr/>
        </p:nvSpPr>
        <p:spPr>
          <a:xfrm>
            <a:off x="8915400" y="2286000"/>
            <a:ext cx="2651760" cy="3566160"/>
          </a:xfrm>
          <a:prstGeom prst="roundRect">
            <a:avLst>
              <a:gd name="adj" fmla="val 3448"/>
            </a:avLst>
          </a:prstGeom>
          <a:solidFill>
            <a:schemeClr val="bg1"/>
          </a:solidFill>
          <a:ln w="15875">
            <a:solidFill>
              <a:schemeClr val="bg1"/>
            </a:solidFill>
          </a:ln>
        </p:spPr>
        <p:txBody>
          <a:bodyPr wrap="square" lIns="50800" tIns="101600" rIns="101600" bIns="50800" rtlCol="0" anchor="ctr"/>
          <a:lstStyle/>
          <a:p>
            <a:pPr marL="0" indent="0" algn="l">
              <a:buNone/>
            </a:pPr>
            <a:endParaRPr lang="en-US" sz="1300" dirty="0"/>
          </a:p>
        </p:txBody>
      </p:sp>
      <p:sp>
        <p:nvSpPr>
          <p:cNvPr id="14" name="Step label Code / build"/>
          <p:cNvSpPr txBox="1"/>
          <p:nvPr/>
        </p:nvSpPr>
        <p:spPr>
          <a:xfrm>
            <a:off x="9098280" y="2395728"/>
            <a:ext cx="2377440" cy="640080"/>
          </a:xfrm>
          <a:prstGeom prst="rect">
            <a:avLst/>
          </a:prstGeom>
          <a:noFill/>
          <a:ln/>
        </p:spPr>
        <p:txBody>
          <a:bodyPr wrap="square" lIns="0" tIns="0" rIns="0" bIns="0" rtlCol="0" anchor="t"/>
          <a:lstStyle/>
          <a:p>
            <a:pPr marL="0" indent="0">
              <a:buNone/>
            </a:pPr>
            <a:r>
              <a:rPr lang="en-US" sz="1800" dirty="0">
                <a:solidFill>
                  <a:schemeClr val="tx1"/>
                </a:solidFill>
                <a:latin typeface="Clash Grotesk Medium" pitchFamily="34" charset="0"/>
                <a:ea typeface="Clash Grotesk Medium" pitchFamily="34" charset="-122"/>
                <a:cs typeface="Clash Grotesk Medium" pitchFamily="34" charset="-120"/>
              </a:rPr>
              <a:t>Code / build</a:t>
            </a:r>
            <a:endParaRPr lang="en-US" sz="1800" dirty="0"/>
          </a:p>
        </p:txBody>
      </p:sp>
      <p:sp>
        <p:nvSpPr>
          <p:cNvPr id="15" name="Step cost Code / build"/>
          <p:cNvSpPr txBox="1"/>
          <p:nvPr/>
        </p:nvSpPr>
        <p:spPr>
          <a:xfrm>
            <a:off x="9098280" y="3017520"/>
            <a:ext cx="2286000" cy="274320"/>
          </a:xfrm>
          <a:prstGeom prst="rect">
            <a:avLst/>
          </a:prstGeom>
          <a:noFill/>
          <a:ln/>
        </p:spPr>
        <p:txBody>
          <a:bodyPr wrap="square" lIns="0" tIns="0" rIns="0" bIns="0" rtlCol="0" anchor="t"/>
          <a:lstStyle/>
          <a:p>
            <a:pPr marL="0" indent="0">
              <a:buNone/>
            </a:pPr>
            <a:r>
              <a:rPr lang="en-US" sz="1600" dirty="0">
                <a:solidFill>
                  <a:schemeClr val="tx1"/>
                </a:solidFill>
                <a:latin typeface="PP Mori" pitchFamily="34" charset="0"/>
                <a:ea typeface="PP Mori" pitchFamily="34" charset="-122"/>
                <a:cs typeface="PP Mori" pitchFamily="34" charset="-120"/>
              </a:rPr>
              <a:t>Highest cost</a:t>
            </a:r>
            <a:endParaRPr lang="en-US" sz="1600" dirty="0"/>
          </a:p>
        </p:txBody>
      </p:sp>
      <p:sp>
        <p:nvSpPr>
          <p:cNvPr id="16" name="Rule"/>
          <p:cNvSpPr txBox="1"/>
          <p:nvPr/>
        </p:nvSpPr>
        <p:spPr>
          <a:xfrm>
            <a:off x="6583680" y="731520"/>
            <a:ext cx="5029200" cy="548640"/>
          </a:xfrm>
          <a:prstGeom prst="rect">
            <a:avLst/>
          </a:prstGeom>
          <a:noFill/>
          <a:ln/>
        </p:spPr>
        <p:txBody>
          <a:bodyPr wrap="square" lIns="0" tIns="0" rIns="0" bIns="0" rtlCol="0" anchor="t"/>
          <a:lstStyle/>
          <a:p>
            <a:pPr marL="0" indent="0" algn="r">
              <a:buNone/>
            </a:pPr>
            <a:r>
              <a:rPr lang="en-US" sz="3000" dirty="0">
                <a:solidFill>
                  <a:schemeClr val="accent1"/>
                </a:solidFill>
                <a:latin typeface="Clash Grotesk Medium" pitchFamily="34" charset="0"/>
                <a:ea typeface="Clash Grotesk Medium" pitchFamily="34" charset="-122"/>
                <a:cs typeface="Clash Grotesk Medium" pitchFamily="34" charset="-120"/>
              </a:rPr>
              <a:t>Lo-fi, if it tells the truth.</a:t>
            </a:r>
            <a:endParaRPr lang="en-US" sz="3000" dirty="0"/>
          </a:p>
        </p:txBody>
      </p:sp>
      <p:sp>
        <p:nvSpPr>
          <p:cNvPr id="17" name="Patton quote"/>
          <p:cNvSpPr txBox="1"/>
          <p:nvPr/>
        </p:nvSpPr>
        <p:spPr>
          <a:xfrm>
            <a:off x="548640" y="2286000"/>
            <a:ext cx="5486400" cy="1463040"/>
          </a:xfrm>
          <a:prstGeom prst="rect">
            <a:avLst/>
          </a:prstGeom>
          <a:noFill/>
          <a:ln/>
        </p:spPr>
        <p:txBody>
          <a:bodyPr wrap="square" lIns="0" tIns="0" rIns="0" bIns="0" rtlCol="0" anchor="t"/>
          <a:lstStyle/>
          <a:p>
            <a:pPr marL="0" indent="0">
              <a:buNone/>
            </a:pPr>
            <a:r>
              <a:rPr lang="en-US" sz="2800" dirty="0">
                <a:solidFill>
                  <a:schemeClr val="bg1"/>
                </a:solidFill>
                <a:latin typeface="Clash Grotesk Medium" pitchFamily="34" charset="0"/>
                <a:ea typeface="Clash Grotesk Medium" pitchFamily="34" charset="-122"/>
                <a:cs typeface="Clash Grotesk Medium" pitchFamily="34" charset="-120"/>
              </a:rPr>
              <a:t>“The most expensive way to test your idea is to build </a:t>
            </a:r>
            <a:r>
              <a:rPr lang="en-US" sz="2800" dirty="0">
                <a:solidFill>
                  <a:schemeClr val="accent1"/>
                </a:solidFill>
                <a:latin typeface="Clash Grotesk Medium" pitchFamily="34" charset="0"/>
                <a:ea typeface="Clash Grotesk Medium" pitchFamily="34" charset="-122"/>
                <a:cs typeface="Clash Grotesk Medium" pitchFamily="34" charset="-120"/>
              </a:rPr>
              <a:t>production quality software.”</a:t>
            </a:r>
            <a:endParaRPr lang="en-US" sz="2800" dirty="0"/>
          </a:p>
        </p:txBody>
      </p:sp>
      <p:sp>
        <p:nvSpPr>
          <p:cNvPr id="18" name="Quote attribution"/>
          <p:cNvSpPr txBox="1"/>
          <p:nvPr/>
        </p:nvSpPr>
        <p:spPr>
          <a:xfrm>
            <a:off x="548640" y="3657600"/>
            <a:ext cx="3657600" cy="27432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Jeff Patton</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640080"/>
            <a:ext cx="10058400" cy="822960"/>
          </a:xfrm>
          <a:prstGeom prst="rect">
            <a:avLst/>
          </a:prstGeom>
          <a:noFill/>
          <a:ln/>
        </p:spPr>
        <p:txBody>
          <a:bodyPr wrap="square" lIns="0" tIns="0" rIns="0" bIns="0" rtlCol="0" anchor="t"/>
          <a:lstStyle/>
          <a:p>
            <a:pPr marL="0" indent="0">
              <a:buNone/>
            </a:pPr>
            <a:r>
              <a:rPr lang="en-US" sz="4000" dirty="0">
                <a:solidFill>
                  <a:schemeClr val="bg1"/>
                </a:solidFill>
                <a:latin typeface="Clash Grotesk Medium" pitchFamily="34" charset="0"/>
                <a:ea typeface="Clash Grotesk Medium" pitchFamily="34" charset="-122"/>
                <a:cs typeface="Clash Grotesk Medium" pitchFamily="34" charset="-120"/>
              </a:rPr>
              <a:t>Choose the lightest useful abstraction</a:t>
            </a:r>
            <a:endParaRPr lang="en-US" sz="4000" dirty="0"/>
          </a:p>
        </p:txBody>
      </p:sp>
      <p:sp>
        <p:nvSpPr>
          <p:cNvPr id="3" name="Visual panel"/>
          <p:cNvSpPr/>
          <p:nvPr/>
        </p:nvSpPr>
        <p:spPr>
          <a:xfrm>
            <a:off x="548640" y="1920240"/>
            <a:ext cx="2606040" cy="3108960"/>
          </a:xfrm>
          <a:prstGeom prst="roundRect">
            <a:avLst>
              <a:gd name="adj" fmla="val 10526"/>
            </a:avLst>
          </a:prstGeom>
          <a:solidFill>
            <a:schemeClr val="tx2"/>
          </a:solidFill>
          <a:ln w="12700">
            <a:solidFill>
              <a:srgbClr val="262626"/>
            </a:solidFill>
            <a:prstDash val="solid"/>
          </a:ln>
        </p:spPr>
        <p:txBody>
          <a:bodyPr/>
          <a:lstStyle/>
          <a:p>
            <a:endParaRPr lang="en-GB"/>
          </a:p>
        </p:txBody>
      </p:sp>
      <p:sp>
        <p:nvSpPr>
          <p:cNvPr id="4" name="Pill PROMPT"/>
          <p:cNvSpPr/>
          <p:nvPr/>
        </p:nvSpPr>
        <p:spPr>
          <a:xfrm>
            <a:off x="822960" y="2240280"/>
            <a:ext cx="1371600" cy="329184"/>
          </a:xfrm>
          <a:prstGeom prst="roundRect">
            <a:avLst>
              <a:gd name="adj" fmla="val 50000"/>
            </a:avLst>
          </a:prstGeom>
          <a:solidFill>
            <a:schemeClr val="accent1"/>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PROMPT</a:t>
            </a:r>
            <a:endParaRPr lang="en-US" sz="1400" dirty="0"/>
          </a:p>
        </p:txBody>
      </p:sp>
      <p:sp>
        <p:nvSpPr>
          <p:cNvPr id="5" name="Text 3"/>
          <p:cNvSpPr txBox="1"/>
          <p:nvPr/>
        </p:nvSpPr>
        <p:spPr>
          <a:xfrm>
            <a:off x="822960" y="2834640"/>
            <a:ext cx="2103120" cy="640080"/>
          </a:xfrm>
          <a:prstGeom prst="rect">
            <a:avLst/>
          </a:prstGeom>
          <a:noFill/>
          <a:ln/>
        </p:spPr>
        <p:txBody>
          <a:bodyPr wrap="square" lIns="0" tIns="0" rIns="0" bIns="0" rtlCol="0" anchor="t"/>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Explore</a:t>
            </a:r>
            <a:endParaRPr lang="en-US" sz="3000" dirty="0"/>
          </a:p>
        </p:txBody>
      </p:sp>
      <p:sp>
        <p:nvSpPr>
          <p:cNvPr id="6" name="Text 4"/>
          <p:cNvSpPr txBox="1"/>
          <p:nvPr/>
        </p:nvSpPr>
        <p:spPr>
          <a:xfrm>
            <a:off x="822960" y="3566160"/>
            <a:ext cx="2103120" cy="109728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Paste it into any chat.</a:t>
            </a:r>
            <a:endParaRPr lang="en-US" sz="1600" dirty="0"/>
          </a:p>
        </p:txBody>
      </p:sp>
      <p:sp>
        <p:nvSpPr>
          <p:cNvPr id="7" name="Visual panel"/>
          <p:cNvSpPr/>
          <p:nvPr/>
        </p:nvSpPr>
        <p:spPr>
          <a:xfrm>
            <a:off x="3337560" y="1920240"/>
            <a:ext cx="2606040" cy="3108960"/>
          </a:xfrm>
          <a:prstGeom prst="roundRect">
            <a:avLst>
              <a:gd name="adj" fmla="val 10526"/>
            </a:avLst>
          </a:prstGeom>
          <a:solidFill>
            <a:schemeClr val="tx2"/>
          </a:solidFill>
          <a:ln w="12700">
            <a:solidFill>
              <a:srgbClr val="262626"/>
            </a:solidFill>
            <a:prstDash val="solid"/>
          </a:ln>
        </p:spPr>
        <p:txBody>
          <a:bodyPr/>
          <a:lstStyle/>
          <a:p>
            <a:endParaRPr lang="en-GB"/>
          </a:p>
        </p:txBody>
      </p:sp>
      <p:sp>
        <p:nvSpPr>
          <p:cNvPr id="8" name="Pill SKILL"/>
          <p:cNvSpPr/>
          <p:nvPr/>
        </p:nvSpPr>
        <p:spPr>
          <a:xfrm>
            <a:off x="3611880" y="2240280"/>
            <a:ext cx="1371600" cy="329184"/>
          </a:xfrm>
          <a:prstGeom prst="roundRect">
            <a:avLst>
              <a:gd name="adj" fmla="val 50000"/>
            </a:avLst>
          </a:prstGeom>
          <a:solidFill>
            <a:schemeClr val="accent1"/>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SKILL</a:t>
            </a:r>
            <a:endParaRPr lang="en-US" sz="1400" dirty="0"/>
          </a:p>
        </p:txBody>
      </p:sp>
      <p:sp>
        <p:nvSpPr>
          <p:cNvPr id="9" name="Text 7"/>
          <p:cNvSpPr txBox="1"/>
          <p:nvPr/>
        </p:nvSpPr>
        <p:spPr>
          <a:xfrm>
            <a:off x="3611880" y="2834640"/>
            <a:ext cx="2103120" cy="640080"/>
          </a:xfrm>
          <a:prstGeom prst="rect">
            <a:avLst/>
          </a:prstGeom>
          <a:noFill/>
          <a:ln/>
        </p:spPr>
        <p:txBody>
          <a:bodyPr wrap="square" lIns="0" tIns="0" rIns="0" bIns="0" rtlCol="0" anchor="t"/>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Codify</a:t>
            </a:r>
            <a:endParaRPr lang="en-US" sz="3000" dirty="0"/>
          </a:p>
        </p:txBody>
      </p:sp>
      <p:sp>
        <p:nvSpPr>
          <p:cNvPr id="10" name="Text 8"/>
          <p:cNvSpPr txBox="1"/>
          <p:nvPr/>
        </p:nvSpPr>
        <p:spPr>
          <a:xfrm>
            <a:off x="3611880" y="3566160"/>
            <a:ext cx="2103120" cy="109728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A bounded, repeatable play.</a:t>
            </a:r>
            <a:endParaRPr lang="en-US" sz="1600" dirty="0"/>
          </a:p>
        </p:txBody>
      </p:sp>
      <p:sp>
        <p:nvSpPr>
          <p:cNvPr id="11" name="Visual panel"/>
          <p:cNvSpPr/>
          <p:nvPr/>
        </p:nvSpPr>
        <p:spPr>
          <a:xfrm>
            <a:off x="6126480" y="1920240"/>
            <a:ext cx="2606040" cy="3108960"/>
          </a:xfrm>
          <a:prstGeom prst="roundRect">
            <a:avLst>
              <a:gd name="adj" fmla="val 10526"/>
            </a:avLst>
          </a:prstGeom>
          <a:solidFill>
            <a:schemeClr val="tx2"/>
          </a:solidFill>
          <a:ln w="12700">
            <a:solidFill>
              <a:srgbClr val="262626"/>
            </a:solidFill>
            <a:prstDash val="solid"/>
          </a:ln>
        </p:spPr>
        <p:txBody>
          <a:bodyPr/>
          <a:lstStyle/>
          <a:p>
            <a:endParaRPr lang="en-GB"/>
          </a:p>
        </p:txBody>
      </p:sp>
      <p:sp>
        <p:nvSpPr>
          <p:cNvPr id="12" name="Pill AGENT"/>
          <p:cNvSpPr/>
          <p:nvPr/>
        </p:nvSpPr>
        <p:spPr>
          <a:xfrm>
            <a:off x="6400800" y="2240280"/>
            <a:ext cx="1371600" cy="329184"/>
          </a:xfrm>
          <a:prstGeom prst="roundRect">
            <a:avLst>
              <a:gd name="adj" fmla="val 50000"/>
            </a:avLst>
          </a:prstGeom>
          <a:solidFill>
            <a:schemeClr val="accent1"/>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AGENT</a:t>
            </a:r>
            <a:endParaRPr lang="en-US" sz="1400" dirty="0"/>
          </a:p>
        </p:txBody>
      </p:sp>
      <p:sp>
        <p:nvSpPr>
          <p:cNvPr id="13" name="Text 11"/>
          <p:cNvSpPr txBox="1"/>
          <p:nvPr/>
        </p:nvSpPr>
        <p:spPr>
          <a:xfrm>
            <a:off x="6400800" y="2834640"/>
            <a:ext cx="2103120" cy="640080"/>
          </a:xfrm>
          <a:prstGeom prst="rect">
            <a:avLst/>
          </a:prstGeom>
          <a:noFill/>
          <a:ln/>
        </p:spPr>
        <p:txBody>
          <a:bodyPr wrap="square" lIns="0" tIns="0" rIns="0" bIns="0" rtlCol="0" anchor="t"/>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Delegate</a:t>
            </a:r>
            <a:endParaRPr lang="en-US" sz="3000" dirty="0"/>
          </a:p>
        </p:txBody>
      </p:sp>
      <p:sp>
        <p:nvSpPr>
          <p:cNvPr id="14" name="Text 12"/>
          <p:cNvSpPr txBox="1"/>
          <p:nvPr/>
        </p:nvSpPr>
        <p:spPr>
          <a:xfrm>
            <a:off x="6400800" y="3566160"/>
            <a:ext cx="2103120" cy="109728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An operator pursuing an outcome.</a:t>
            </a:r>
            <a:endParaRPr lang="en-US" sz="1600" dirty="0"/>
          </a:p>
        </p:txBody>
      </p:sp>
      <p:sp>
        <p:nvSpPr>
          <p:cNvPr id="15" name="Visual panel"/>
          <p:cNvSpPr/>
          <p:nvPr/>
        </p:nvSpPr>
        <p:spPr>
          <a:xfrm>
            <a:off x="8915400" y="1920240"/>
            <a:ext cx="2606040" cy="3108960"/>
          </a:xfrm>
          <a:prstGeom prst="roundRect">
            <a:avLst>
              <a:gd name="adj" fmla="val 10526"/>
            </a:avLst>
          </a:prstGeom>
          <a:solidFill>
            <a:schemeClr val="tx2"/>
          </a:solidFill>
          <a:ln w="12700">
            <a:solidFill>
              <a:srgbClr val="262626"/>
            </a:solidFill>
            <a:prstDash val="solid"/>
          </a:ln>
        </p:spPr>
        <p:txBody>
          <a:bodyPr/>
          <a:lstStyle/>
          <a:p>
            <a:endParaRPr lang="en-GB"/>
          </a:p>
        </p:txBody>
      </p:sp>
      <p:sp>
        <p:nvSpPr>
          <p:cNvPr id="16" name="Pill PLUGIN"/>
          <p:cNvSpPr/>
          <p:nvPr/>
        </p:nvSpPr>
        <p:spPr>
          <a:xfrm>
            <a:off x="9189720" y="2240280"/>
            <a:ext cx="1371600" cy="329184"/>
          </a:xfrm>
          <a:prstGeom prst="roundRect">
            <a:avLst>
              <a:gd name="adj" fmla="val 50000"/>
            </a:avLst>
          </a:prstGeom>
          <a:solidFill>
            <a:schemeClr val="accent1"/>
          </a:solidFill>
          <a:ln/>
        </p:spPr>
        <p:txBody>
          <a:bodyPr wrap="square" lIns="0" tIns="0" rIns="0" bIns="0" rtlCol="0" anchor="ctr"/>
          <a:lstStyle/>
          <a:p>
            <a:pPr marL="0" indent="0" algn="ctr">
              <a:buNone/>
            </a:pPr>
            <a:r>
              <a:rPr lang="en-US" sz="1400" kern="0" spc="150" dirty="0">
                <a:solidFill>
                  <a:schemeClr val="tx1"/>
                </a:solidFill>
                <a:latin typeface="Clash Display Semibold" pitchFamily="34" charset="0"/>
                <a:ea typeface="Clash Display Semibold" pitchFamily="34" charset="-122"/>
                <a:cs typeface="Clash Display Semibold" pitchFamily="34" charset="-120"/>
              </a:rPr>
              <a:t>PLUGIN</a:t>
            </a:r>
            <a:endParaRPr lang="en-US" sz="1400" dirty="0"/>
          </a:p>
        </p:txBody>
      </p:sp>
      <p:sp>
        <p:nvSpPr>
          <p:cNvPr id="17" name="Text 15"/>
          <p:cNvSpPr txBox="1"/>
          <p:nvPr/>
        </p:nvSpPr>
        <p:spPr>
          <a:xfrm>
            <a:off x="9189720" y="2834640"/>
            <a:ext cx="2103120" cy="640080"/>
          </a:xfrm>
          <a:prstGeom prst="rect">
            <a:avLst/>
          </a:prstGeom>
          <a:noFill/>
          <a:ln/>
        </p:spPr>
        <p:txBody>
          <a:bodyPr wrap="square" lIns="0" tIns="0" rIns="0" bIns="0" rtlCol="0" anchor="t"/>
          <a:lstStyle/>
          <a:p>
            <a:pPr marL="0" indent="0">
              <a:buNone/>
            </a:pPr>
            <a:r>
              <a:rPr lang="en-US" sz="3000" dirty="0">
                <a:solidFill>
                  <a:schemeClr val="bg1"/>
                </a:solidFill>
                <a:latin typeface="Clash Grotesk Medium" pitchFamily="34" charset="0"/>
                <a:ea typeface="Clash Grotesk Medium" pitchFamily="34" charset="-122"/>
                <a:cs typeface="Clash Grotesk Medium" pitchFamily="34" charset="-120"/>
              </a:rPr>
              <a:t>Distribute</a:t>
            </a:r>
            <a:endParaRPr lang="en-US" sz="3000" dirty="0"/>
          </a:p>
        </p:txBody>
      </p:sp>
      <p:sp>
        <p:nvSpPr>
          <p:cNvPr id="18" name="Text 16"/>
          <p:cNvSpPr txBox="1"/>
          <p:nvPr/>
        </p:nvSpPr>
        <p:spPr>
          <a:xfrm>
            <a:off x="9189720" y="3566160"/>
            <a:ext cx="2103120" cy="1097280"/>
          </a:xfrm>
          <a:prstGeom prst="rect">
            <a:avLst/>
          </a:prstGeom>
          <a:noFill/>
          <a:ln/>
        </p:spPr>
        <p:txBody>
          <a:bodyPr wrap="square" lIns="0" tIns="0" rIns="0" bIns="0" rtlCol="0" anchor="t"/>
          <a:lstStyle/>
          <a:p>
            <a:pPr marL="0" indent="0">
              <a:buNone/>
            </a:pPr>
            <a:r>
              <a:rPr lang="en-US" sz="1600" dirty="0">
                <a:solidFill>
                  <a:srgbClr val="B3B3B3"/>
                </a:solidFill>
                <a:latin typeface="PP Mori" pitchFamily="34" charset="0"/>
                <a:ea typeface="PP Mori" pitchFamily="34" charset="-122"/>
                <a:cs typeface="PP Mori" pitchFamily="34" charset="-120"/>
              </a:rPr>
              <a:t>The kit.</a:t>
            </a:r>
            <a:endParaRPr lang="en-US" sz="1600" dirty="0"/>
          </a:p>
        </p:txBody>
      </p:sp>
      <p:sp>
        <p:nvSpPr>
          <p:cNvPr id="19" name="Honest limit"/>
          <p:cNvSpPr txBox="1"/>
          <p:nvPr/>
        </p:nvSpPr>
        <p:spPr>
          <a:xfrm>
            <a:off x="548640" y="5394960"/>
            <a:ext cx="10058400" cy="457200"/>
          </a:xfrm>
          <a:prstGeom prst="rect">
            <a:avLst/>
          </a:prstGeom>
          <a:noFill/>
          <a:ln/>
        </p:spPr>
        <p:txBody>
          <a:bodyPr wrap="square" lIns="0" tIns="0" rIns="0" bIns="0" rtlCol="0" anchor="t"/>
          <a:lstStyle/>
          <a:p>
            <a:pPr marL="0" indent="0">
              <a:buNone/>
            </a:pPr>
            <a:r>
              <a:rPr lang="en-US" sz="1800" dirty="0">
                <a:solidFill>
                  <a:schemeClr val="bg1"/>
                </a:solidFill>
                <a:latin typeface="PP Mori" pitchFamily="34" charset="0"/>
                <a:ea typeface="PP Mori" pitchFamily="34" charset="-122"/>
                <a:cs typeface="PP Mori" pitchFamily="34" charset="-120"/>
              </a:rPr>
              <a:t>Today Dean operates the chain. No autonomous discovery operator exists. Ten artifacts do not prove demand.</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B3B3B3"/>
                </a:solidFill>
                <a:latin typeface="PP Mori"/>
                <a:ea typeface="PP Mori"/>
                <a:cs typeface="PP Mori"/>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line"/>
          <p:cNvSpPr txBox="1"/>
          <p:nvPr/>
        </p:nvSpPr>
        <p:spPr>
          <a:xfrm>
            <a:off x="556661" y="408153"/>
            <a:ext cx="5210476" cy="2606040"/>
          </a:xfrm>
          <a:prstGeom prst="rect">
            <a:avLst/>
          </a:prstGeom>
          <a:noFill/>
          <a:ln/>
        </p:spPr>
        <p:txBody>
          <a:bodyPr wrap="square" lIns="0" tIns="0" rIns="0" bIns="0" rtlCol="0" anchor="t"/>
          <a:lstStyle/>
          <a:p>
            <a:pPr marL="0" indent="0">
              <a:buNone/>
            </a:pPr>
            <a:r>
              <a:rPr lang="en-US" sz="4800" dirty="0">
                <a:solidFill>
                  <a:schemeClr val="bg1"/>
                </a:solidFill>
                <a:latin typeface="FR Kraken Slab Medium" panose="02060503010101010104" pitchFamily="18" charset="0"/>
                <a:ea typeface="FR Kraken Slab Medium" pitchFamily="34" charset="-122"/>
                <a:cs typeface="FR Kraken Slab Medium" pitchFamily="34" charset="-120"/>
              </a:rPr>
              <a:t>Learn faster.</a:t>
            </a:r>
            <a:endParaRPr lang="en-US" sz="4800" dirty="0">
              <a:latin typeface="FR Kraken Slab Medium" panose="02060503010101010104" pitchFamily="18" charset="0"/>
            </a:endParaRPr>
          </a:p>
          <a:p>
            <a:pPr marL="0" indent="0">
              <a:buNone/>
            </a:pPr>
            <a:r>
              <a:rPr lang="en-US" sz="4800" dirty="0">
                <a:solidFill>
                  <a:schemeClr val="bg1"/>
                </a:solidFill>
                <a:latin typeface="FR Kraken Slab Medium" panose="02060503010101010104" pitchFamily="18" charset="0"/>
                <a:ea typeface="FR Kraken Slab Medium" pitchFamily="34" charset="-122"/>
                <a:cs typeface="FR Kraken Slab Medium" pitchFamily="34" charset="-120"/>
              </a:rPr>
              <a:t>Decide better.</a:t>
            </a:r>
            <a:endParaRPr lang="en-US" sz="4800" dirty="0">
              <a:latin typeface="FR Kraken Slab Medium" panose="02060503010101010104" pitchFamily="18" charset="0"/>
            </a:endParaRPr>
          </a:p>
          <a:p>
            <a:pPr marL="0" indent="0">
              <a:buNone/>
            </a:pPr>
            <a:r>
              <a:rPr lang="en-US" sz="4800" dirty="0">
                <a:solidFill>
                  <a:schemeClr val="accent1"/>
                </a:solidFill>
                <a:latin typeface="FR Kraken Slab Medium" panose="02060503010101010104" pitchFamily="18" charset="0"/>
                <a:ea typeface="FR Kraken Slab Medium" pitchFamily="34" charset="-122"/>
                <a:cs typeface="FR Kraken Slab Medium" pitchFamily="34" charset="-120"/>
              </a:rPr>
              <a:t>Then build.</a:t>
            </a:r>
            <a:endParaRPr lang="en-US" sz="4800" dirty="0">
              <a:latin typeface="FR Kraken Slab Medium" panose="02060503010101010104" pitchFamily="18" charset="0"/>
            </a:endParaRPr>
          </a:p>
        </p:txBody>
      </p:sp>
      <p:sp>
        <p:nvSpPr>
          <p:cNvPr id="3" name="Invitation"/>
          <p:cNvSpPr txBox="1"/>
          <p:nvPr/>
        </p:nvSpPr>
        <p:spPr>
          <a:xfrm>
            <a:off x="775358" y="5657062"/>
            <a:ext cx="4135655" cy="792785"/>
          </a:xfrm>
          <a:prstGeom prst="rect">
            <a:avLst/>
          </a:prstGeom>
          <a:noFill/>
          <a:ln/>
        </p:spPr>
        <p:txBody>
          <a:bodyPr wrap="square" lIns="0" tIns="0" rIns="0" bIns="0" rtlCol="0" anchor="t"/>
          <a:lstStyle/>
          <a:p>
            <a:pPr marL="0" indent="0">
              <a:buNone/>
            </a:pPr>
            <a:r>
              <a:rPr lang="en-US" sz="2200" dirty="0">
                <a:solidFill>
                  <a:srgbClr val="B3B3B3"/>
                </a:solidFill>
                <a:latin typeface="PP Mori" pitchFamily="34" charset="0"/>
                <a:ea typeface="PP Mori" pitchFamily="34" charset="-122"/>
                <a:cs typeface="PP Mori" pitchFamily="34" charset="-120"/>
              </a:rPr>
              <a:t>Download our state of AI for Product Management report</a:t>
            </a:r>
            <a:endParaRPr lang="en-US" sz="2200" dirty="0"/>
          </a:p>
        </p:txBody>
      </p:sp>
      <p:pic>
        <p:nvPicPr>
          <p:cNvPr id="4" name="Productside lockup" descr="Productside"/>
          <p:cNvPicPr>
            <a:picLocks noChangeAspect="1"/>
          </p:cNvPicPr>
          <p:nvPr/>
        </p:nvPicPr>
        <p:blipFill>
          <a:blip r:embed="rId3"/>
          <a:stretch>
            <a:fillRect/>
          </a:stretch>
        </p:blipFill>
        <p:spPr>
          <a:xfrm>
            <a:off x="10058400" y="5394960"/>
            <a:ext cx="1554480" cy="792785"/>
          </a:xfrm>
          <a:prstGeom prst="rect">
            <a:avLst/>
          </a:prstGeom>
        </p:spPr>
      </p:pic>
      <p:pic>
        <p:nvPicPr>
          <p:cNvPr id="5" name="Picture 4">
            <a:extLst>
              <a:ext uri="{FF2B5EF4-FFF2-40B4-BE49-F238E27FC236}">
                <a16:creationId xmlns:a16="http://schemas.microsoft.com/office/drawing/2014/main" id="{762F1D75-C4D3-BBDE-2318-E919BBC54B22}"/>
              </a:ext>
            </a:extLst>
          </p:cNvPr>
          <p:cNvPicPr>
            <a:picLocks noChangeAspect="1"/>
          </p:cNvPicPr>
          <p:nvPr/>
        </p:nvPicPr>
        <p:blipFill>
          <a:blip r:embed="rId4"/>
          <a:srcRect/>
          <a:stretch/>
        </p:blipFill>
        <p:spPr>
          <a:xfrm>
            <a:off x="1417946" y="2941639"/>
            <a:ext cx="2305050" cy="2305050"/>
          </a:xfrm>
          <a:prstGeom prst="roundRect">
            <a:avLst>
              <a:gd name="adj" fmla="val 7740"/>
            </a:avLst>
          </a:prstGeom>
        </p:spPr>
      </p:pic>
      <p:sp>
        <p:nvSpPr>
          <p:cNvPr id="6" name="Invitation">
            <a:extLst>
              <a:ext uri="{FF2B5EF4-FFF2-40B4-BE49-F238E27FC236}">
                <a16:creationId xmlns:a16="http://schemas.microsoft.com/office/drawing/2014/main" id="{A825D58E-8A91-2999-F95C-019096B0F0D4}"/>
              </a:ext>
            </a:extLst>
          </p:cNvPr>
          <p:cNvSpPr txBox="1"/>
          <p:nvPr/>
        </p:nvSpPr>
        <p:spPr>
          <a:xfrm>
            <a:off x="7264390" y="638323"/>
            <a:ext cx="4135655" cy="1110266"/>
          </a:xfrm>
          <a:prstGeom prst="rect">
            <a:avLst/>
          </a:prstGeom>
          <a:noFill/>
          <a:ln/>
        </p:spPr>
        <p:txBody>
          <a:bodyPr wrap="square" lIns="0" tIns="0" rIns="0" bIns="0" rtlCol="0" anchor="t"/>
          <a:lstStyle/>
          <a:p>
            <a:pPr marL="0" indent="0">
              <a:buNone/>
            </a:pPr>
            <a:r>
              <a:rPr lang="en-US" sz="2200" dirty="0">
                <a:solidFill>
                  <a:srgbClr val="B3B3B3"/>
                </a:solidFill>
                <a:latin typeface="PP Mori" pitchFamily="34" charset="0"/>
                <a:ea typeface="PP Mori" pitchFamily="34" charset="-122"/>
                <a:cs typeface="PP Mori" pitchFamily="34" charset="-120"/>
              </a:rPr>
              <a:t>Visit the </a:t>
            </a:r>
            <a:r>
              <a:rPr lang="en-US" sz="2200" dirty="0" err="1">
                <a:solidFill>
                  <a:srgbClr val="B3B3B3"/>
                </a:solidFill>
                <a:latin typeface="PP Mori" pitchFamily="34" charset="0"/>
                <a:ea typeface="PP Mori" pitchFamily="34" charset="-122"/>
                <a:cs typeface="PP Mori" pitchFamily="34" charset="-120"/>
              </a:rPr>
              <a:t>Github</a:t>
            </a:r>
            <a:r>
              <a:rPr lang="en-US" sz="2200" dirty="0">
                <a:solidFill>
                  <a:srgbClr val="B3B3B3"/>
                </a:solidFill>
                <a:latin typeface="PP Mori" pitchFamily="34" charset="0"/>
                <a:ea typeface="PP Mori" pitchFamily="34" charset="-122"/>
                <a:cs typeface="PP Mori" pitchFamily="34" charset="-120"/>
              </a:rPr>
              <a:t> Repo to revisit the skills and prompts from today’s presentation</a:t>
            </a:r>
            <a:endParaRPr lang="en-US" sz="2200" dirty="0"/>
          </a:p>
        </p:txBody>
      </p:sp>
      <p:sp>
        <p:nvSpPr>
          <p:cNvPr id="7" name="HiPPO line"/>
          <p:cNvSpPr txBox="1"/>
          <p:nvPr/>
        </p:nvSpPr>
        <p:spPr>
          <a:xfrm>
            <a:off x="7223760" y="2468880"/>
            <a:ext cx="4297680" cy="1645920"/>
          </a:xfrm>
          <a:prstGeom prst="rect">
            <a:avLst/>
          </a:prstGeom>
          <a:noFill/>
        </p:spPr>
        <p:txBody>
          <a:bodyPr wrap="square">
            <a:spAutoFit/>
          </a:bodyPr>
          <a:lstStyle/>
          <a:p>
            <a:r>
              <a:rPr sz="3000">
                <a:solidFill>
                  <a:srgbClr val="FFFFFF"/>
                </a:solidFill>
                <a:latin typeface="Clash Grotesk Medium"/>
              </a:rPr>
              <a:t>Don't say no to the HiPPO. </a:t>
            </a:r>
            <a:r>
              <a:rPr sz="3000">
                <a:solidFill>
                  <a:srgbClr val="00E874"/>
                </a:solidFill>
                <a:latin typeface="Clash Grotesk Medium"/>
              </a:rPr>
              <a:t>Run the chain.</a:t>
            </a:r>
          </a:p>
        </p:txBody>
      </p:sp>
    </p:spTree>
  </p:cSld>
  <p:clrMapOvr>
    <a:masterClrMapping/>
  </p:clrMapOvr>
</p:sld>
</file>

<file path=ppt/theme/theme1.xml><?xml version="1.0" encoding="utf-8"?>
<a:theme xmlns:a="http://schemas.openxmlformats.org/drawingml/2006/main" name="Productside Dark">
  <a:themeElements>
    <a:clrScheme name="Productside Dark">
      <a:dk1>
        <a:srgbClr val="000000"/>
      </a:dk1>
      <a:lt1>
        <a:srgbClr val="FFFFFF"/>
      </a:lt1>
      <a:dk2>
        <a:srgbClr val="141414"/>
      </a:dk2>
      <a:lt2>
        <a:srgbClr val="F4F4F4"/>
      </a:lt2>
      <a:accent1>
        <a:srgbClr val="00E874"/>
      </a:accent1>
      <a:accent2>
        <a:srgbClr val="36DEFF"/>
      </a:accent2>
      <a:accent3>
        <a:srgbClr val="EFE400"/>
      </a:accent3>
      <a:accent4>
        <a:srgbClr val="FF9800"/>
      </a:accent4>
      <a:accent5>
        <a:srgbClr val="004A4A"/>
      </a:accent5>
      <a:accent6>
        <a:srgbClr val="3508FF"/>
      </a:accent6>
      <a:hlink>
        <a:srgbClr val="00E874"/>
      </a:hlink>
      <a:folHlink>
        <a:srgbClr val="36DEFF"/>
      </a:folHlink>
    </a:clrScheme>
    <a:fontScheme name="Productside Dark">
      <a:majorFont>
        <a:latin typeface="Clash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TotalTime>
  <Words>2418</Words>
  <Application>Microsoft Macintosh PowerPoint</Application>
  <PresentationFormat>Widescreen</PresentationFormat>
  <Paragraphs>331</Paragraphs>
  <Slides>21</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Arial</vt:lpstr>
      <vt:lpstr>Clash Display Semibold</vt:lpstr>
      <vt:lpstr>Clash Grotesk Medium</vt:lpstr>
      <vt:lpstr>FR Kraken Slab Medium</vt:lpstr>
      <vt:lpstr>PP Mori</vt:lpstr>
      <vt:lpstr>Productside Dark</vt:lpstr>
      <vt:lpstr>PowerPoint Presentation</vt:lpstr>
      <vt:lpstr>PowerPoint Presentation</vt:lpstr>
      <vt:lpstr>PowerPoint Presentation</vt:lpstr>
      <vt:lpstr>PowerPoint Presentation</vt:lpstr>
      <vt:lpstr>PowerPoint Presentation</vt:lpstr>
      <vt:lpstr>Market Intel</vt:lpstr>
      <vt:lpstr>Segment</vt:lpstr>
      <vt:lpstr>PowerPoint Presentation</vt:lpstr>
      <vt:lpstr>PowerPoint Presentation</vt:lpstr>
      <vt:lpstr>PowerPoint Presentation</vt:lpstr>
      <vt:lpstr>Opportunity Solution Tree</vt:lpstr>
      <vt:lpstr>Value Prop vs. Differentiation 2x2</vt:lpstr>
      <vt:lpstr>PowerPoint Presentation</vt:lpstr>
      <vt:lpstr>PowerPoint Presentation</vt:lpstr>
      <vt:lpstr>PowerPoint Presentation</vt:lpstr>
      <vt:lpstr>PowerPoint Presentation</vt:lpstr>
      <vt:lpstr>PowerPoint Presentation</vt:lpstr>
      <vt:lpstr>Prototyping</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the Right Thing Before Building It Right</dc:title>
  <dc:subject>PptxGenJS Presentation</dc:subject>
  <dc:creator>Dean Peters</dc:creator>
  <cp:lastModifiedBy>Dean Peters</cp:lastModifiedBy>
  <cp:revision>11</cp:revision>
  <cp:lastPrinted>2026-10-04T15:10:00Z</cp:lastPrinted>
  <dcterms:created xsi:type="dcterms:W3CDTF">2026-10-03T22:58:25Z</dcterms:created>
  <dcterms:modified xsi:type="dcterms:W3CDTF">2026-10-04T15:18:09Z</dcterms:modified>
</cp:coreProperties>
</file>