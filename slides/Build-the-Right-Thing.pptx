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Cost to build</c:v>
                </c:pt>
              </c:strCache>
            </c:strRef>
          </c:tx>
          <c:spPr>
            <a:solidFill>
              <a:srgbClr val="00E874"/>
            </a:solidFill>
            <a:ln w="50800" cap="flat">
              <a:solidFill>
                <a:srgbClr val="00E87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E874"/>
              </a:solidFill>
              <a:ln w="9525" cap="flat">
                <a:solidFill>
                  <a:srgbClr val="00E874"/>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Sheet1!$B$2:$B$9</c:f>
              <c:numCache>
                <c:formatCode>General</c:formatCode>
                <c:ptCount val="8"/>
                <c:pt idx="0">
                  <c:v>100</c:v>
                </c:pt>
                <c:pt idx="1">
                  <c:v>62</c:v>
                </c:pt>
                <c:pt idx="2">
                  <c:v>40</c:v>
                </c:pt>
                <c:pt idx="3">
                  <c:v>26</c:v>
                </c:pt>
                <c:pt idx="4">
                  <c:v>17</c:v>
                </c:pt>
                <c:pt idx="5">
                  <c:v>12</c:v>
                </c:pt>
                <c:pt idx="6">
                  <c:v>9</c:v>
                </c:pt>
                <c:pt idx="7">
                  <c:v>7</c:v>
                </c:pt>
              </c:numCache>
            </c:numRef>
          </c:val>
          <c:smooth val="0"/>
        </c:ser>
        <c:ser>
          <c:idx val="1"/>
          <c:order val="1"/>
          <c:tx>
            <c:strRef>
              <c:f>Sheet1!$C$1</c:f>
              <c:strCache>
                <c:ptCount val="1"/>
                <c:pt idx="0">
                  <c:v>Cost of poor judgment (burned runway)</c:v>
                </c:pt>
              </c:strCache>
            </c:strRef>
          </c:tx>
          <c:spPr>
            <a:solidFill>
              <a:srgbClr val="FFFFFF"/>
            </a:solidFill>
            <a:ln w="508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Sheet1!$A$2:$A$9</c:f>
              <c:multiLvlStrCache>
                <c:ptCount val="8"/>
                <c:lvl>
                  <c:pt idx="0">
                    <c:v>T1</c:v>
                  </c:pt>
                  <c:pt idx="1">
                    <c:v>T2</c:v>
                  </c:pt>
                  <c:pt idx="2">
                    <c:v>T3</c:v>
                  </c:pt>
                  <c:pt idx="3">
                    <c:v>T4</c:v>
                  </c:pt>
                  <c:pt idx="4">
                    <c:v>T5</c:v>
                  </c:pt>
                  <c:pt idx="5">
                    <c:v>T6</c:v>
                  </c:pt>
                  <c:pt idx="6">
                    <c:v>T7</c:v>
                  </c:pt>
                  <c:pt idx="7">
                    <c:v>T8</c:v>
                  </c:pt>
                </c:lvl>
              </c:multiLvlStrCache>
            </c:multiLvlStrRef>
          </c:cat>
          <c:val>
            <c:numRef>
              <c:f>Sheet1!$C$2:$C$9</c:f>
              <c:numCache>
                <c:formatCode>General</c:formatCode>
                <c:ptCount val="8"/>
                <c:pt idx="0">
                  <c:v>8</c:v>
                </c:pt>
                <c:pt idx="1">
                  <c:v>10</c:v>
                </c:pt>
                <c:pt idx="2">
                  <c:v>14</c:v>
                </c:pt>
                <c:pt idx="3">
                  <c:v>20</c:v>
                </c:pt>
                <c:pt idx="4">
                  <c:v>32</c:v>
                </c:pt>
                <c:pt idx="5">
                  <c:v>52</c:v>
                </c:pt>
                <c:pt idx="6">
                  <c:v>76</c:v>
                </c:pt>
                <c:pt idx="7">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spoken. Hall of Shame goes here only if every case and source has been checked before the show. Placeholder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Spoken opening. Five cases, one line each, then leave the slide. Do not research cases on stage. Sources are in notebook/hall-of-shame-sources.md. Facts: Relay.app shut down in 2026 (relay.app). Humane AI Pin discontinued Feb 2025 after HP bought assets for $116M (TechCrunch, Feb 18 2025). Google paused Gemini image generation of people, Feb 23 2024 (blog.google). Air Canada held liable for its chatbot, Moffatt v. Air Canada, 2024 BCCRT 149, issued Feb 14 2024, $812.02 ordered. Zillow wound down Zillow Offers, Q3 2021 shareholder letter, Nov 2 2021. The one-line lessons are Dean's interpretation (INFERRED), not claims the sources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Take two answers. They are audience suggestions, not customer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chart. No data behind the curves.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Market Intel, Segment, Persona. Understand the situation before anyone proposes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landscape comes before the segment. Pre-run if using real sources; keep URLs, dates and limits. Fallback: saved Market Intel output. Recovery: AI demos obey Murphy's Law, so I brought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is a deliberate boundary, chosen by a person. Sizing circles are speculation: TAM from population, SAM from trade and industry data, SOM from competition plus reach and capacity. No numbers on the slide. Every size is ESTIMATE until sourced; unknowns stay UNKNOWN. Name inclusions and exclusions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minutes across two canvas slides. Guided exchange. Reply to the actual question only. Vague answer on purpose ('keep it safe'), then clarify. Productside framing canvas: list pains, gains and jobs; pick the top of each; write the problem framing statement. Detail lives in the skill, prompt and mural. Synthetic, ESTIMATE until researched. No actor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part 2. Productside proto-persona canvas: name, portrait, bio, quotes, outcomes, pains. Name is a role, not an invented person. Demographics and quotes stay UNKNOWN because no interviews exist. Thinking aid, not customer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Opportunity Solution Tree, Value Prop vs. Differentiation 2x2, Positioning Statement. Explore and position, with a human choice at each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opportunity survives if the dashboard disappears? Approving the tree does not choose a branch. Select an actual concept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Bake-off. Every solution candidate from the Opportunity Solution Tree is placed on the grid, with competitors and the current workaround on the same map, by value to the persona and meaningful difference against the real alternative. Placement is provisional and synthetic here. Missing evidence is UNKNOWN, not low. No moat claims. Ask: can something be different without being valuable? The placement helps decide which solutions go forward; a person makes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Productside positioning statement canvas: For, who, the, is a, that, unlike, our product gives. Short on the slide on purpose; the detail lives in the skill, prompt and mural. ESTIMATE and synthetic. Read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Solution Hypothesis, Storyboard, Minimum Viable Narrative, Prototyping. Make the proposition testable, then pick the cheapest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Productside solution hypothesis canvas: if/then statement, 2 tiny acts of discovery, 1 quantitative and 1 qualitative metric, plus what would make us revise or stop. Short on the slide on purpose; detail lives in the skill, prompt and mural. Numbers and timeframe stay bracketed until a person sets them before the test.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Productside storyboard canvas: a solution summary over six frames. The arc: who has the problem, what the problem is, the oh crap moment, the solution arrives, the solution aha moment, sharing the love. Short on the slide on purpose. NOT RENDERED. Everything after the problem is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Productside MVN canvas: prototype hypothesis and target audience on top, five beats, a builder prompt below. Setup, Encounter, then the Action and Response loop repeated 3 to 6 times, then Resolution. Short on the slide on purpose; detail lives in the skill, prompt and mural.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the smallest, cheapest test that surfaces the most brutal truth. Compare a conversation, a storyboard or wireframe test, an interaction, and a build. Recommend the tiniest act of discovery that returns the most brutal truth, or enough signal to pivot, punt or pursue. Tiny alone is not enough: teams usually overbuild their experiments instead of running tiny acts of discovery. Status, if asked: prototypes built in advance are implementation evidence only. The participant test is NOT RUN until a person actually runs it. If you did not build one, say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Jeff Patton: the most expensive way to test your idea is to build production quality software. A polished prototype is not stronger evidence. It may be a more expensive rendering of weak assumptions. Lo-fi wins only if it still tells the truth. Quote source: https://jpattonassociates.com/dual-track-development/ (Jeff Patton, Dual Track Development is not Duel Track, 2017). Cost labels on this ladder are illustrative, not universal; choose the lowest fidelity that can expose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Persona's skill, template, worked and weak examples, and the paste-ready prompt side by side before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repo access before promising a QR code works for everyone. AI demos obey Murphy's Law, so I brought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S_TITLE">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S_CONTENT">
    <p:bg>
      <p:bgPr>
        <a:solidFill>
          <a:srgbClr val="000000"/>
        </a:solidFill>
      </p:bgPr>
    </p:bg>
    <p:spTree>
      <p:nvGrpSpPr>
        <p:cNvPr id="1" name=""/>
        <p:cNvGrpSpPr/>
        <p:nvPr/>
      </p:nvGrpSpPr>
      <p:grpSpPr>
        <a:xfrm>
          <a:off x="0" y="0"/>
          <a:ext cx="0" cy="0"/>
          <a:chOff x="0" y="0"/>
          <a:chExt cx="0" cy="0"/>
        </a:xfrm>
      </p:grpSpPr>
      <p:pic>
        <p:nvPicPr>
          <p:cNvPr id="2" name="Productside wordmark" descr="/Users/deanpeters/Code/AI-Augmented-Product-Discovery-Lab/assets/productside/wordmark-green.png">    </p:cNvPr>
          <p:cNvPicPr>
            <a:picLocks noChangeAspect="1"/>
          </p:cNvPicPr>
          <p:nvPr/>
        </p:nvPicPr>
        <p:blipFill>
          <a:blip r:embed="rId1"/>
          <a:stretch>
            <a:fillRect/>
          </a:stretch>
        </p:blipFill>
        <p:spPr>
          <a:xfrm>
            <a:off x="10195560" y="6382512"/>
            <a:ext cx="1463040" cy="178308"/>
          </a:xfrm>
          <a:prstGeom prst="rect">
            <a:avLst/>
          </a:prstGeom>
        </p:spPr>
      </p:pic>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S_MOTION">
    <p:bg>
      <p:bgPr>
        <a:solidFill>
          <a:srgbClr val="000000"/>
        </a:solidFill>
      </p:bgPr>
    </p:bg>
    <p:spTree>
      <p:nvGrpSpPr>
        <p:cNvPr id="1" name=""/>
        <p:cNvGrpSpPr/>
        <p:nvPr/>
      </p:nvGrpSpPr>
      <p:grpSpPr>
        <a:xfrm>
          <a:off x="0" y="0"/>
          <a:ext cx="0" cy="0"/>
          <a:chOff x="0" y="0"/>
          <a:chExt cx="0" cy="0"/>
        </a:xfrm>
      </p:grpSpPr>
      <p:pic>
        <p:nvPicPr>
          <p:cNvPr id="2" name="Productside wordmark" descr="/Users/deanpeters/Code/AI-Augmented-Product-Discovery-Lab/assets/productside/wordmark-green.png">    </p:cNvPr>
          <p:cNvPicPr>
            <a:picLocks noChangeAspect="1"/>
          </p:cNvPicPr>
          <p:nvPr/>
        </p:nvPicPr>
        <p:blipFill>
          <a:blip r:embed="rId1"/>
          <a:stretch>
            <a:fillRect/>
          </a:stretch>
        </p:blipFill>
        <p:spPr>
          <a:xfrm>
            <a:off x="10195560" y="6382512"/>
            <a:ext cx="1463040" cy="178308"/>
          </a:xfrm>
          <a:prstGeom prst="rect">
            <a:avLst/>
          </a:prstGeom>
        </p:spPr>
      </p:pic>
      <p:sp>
        <p:nvSpPr>
          <p:cNvPr id="3" name="Text 0"/>
          <p:cNvSpPr/>
          <p:nvPr>
            <p:ph idx="101" type="title" hasCustomPrompt="1"/>
          </p:nvPr>
        </p:nvSpPr>
        <p:spPr>
          <a:xfrm>
            <a:off x="548640" y="1600200"/>
            <a:ext cx="5212080" cy="1143000"/>
          </a:xfrm>
          <a:prstGeom prst="rect">
            <a:avLst/>
          </a:prstGeom>
          <a:noFill/>
          <a:ln/>
        </p:spPr>
        <p:txBody>
          <a:bodyPr wrap="square" rtlCol="0"/>
          <a:lstStyle>
            <a:lvl1pPr algn="l" indent="0" marL="0">
              <a:buNone/>
              <a:defRPr lang="en-US" sz="4000" dirty="0">
                <a:solidFill>
                  <a:schemeClr val="bg1"/>
                </a:solidFill>
                <a:latin typeface="Clash Grotesk Medium" pitchFamily="34" charset="0"/>
                <a:ea typeface="Clash Grotesk Medium" pitchFamily="34" charset="-122"/>
                <a:cs typeface="Clash Grotesk Medium" pitchFamily="34" charset="-120"/>
              </a:defRPr>
            </a:lvl1pPr>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Motion title</a:t>
            </a:r>
            <a:endParaRPr lang="en-US" sz="40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ductside lockup" descr="Productside">    </p:cNvPr>
          <p:cNvPicPr>
            <a:picLocks noChangeAspect="1"/>
          </p:cNvPicPr>
          <p:nvPr/>
        </p:nvPicPr>
        <p:blipFill>
          <a:blip r:embed="rId1"/>
          <a:stretch>
            <a:fillRect/>
          </a:stretch>
        </p:blipFill>
        <p:spPr>
          <a:xfrm>
            <a:off x="548640" y="502920"/>
            <a:ext cx="1554480" cy="792785"/>
          </a:xfrm>
          <a:prstGeom prst="rect">
            <a:avLst/>
          </a:prstGeom>
        </p:spPr>
      </p:pic>
      <p:sp>
        <p:nvSpPr>
          <p:cNvPr id="3" name="Eyebrow"/>
          <p:cNvSpPr/>
          <p:nvPr/>
        </p:nvSpPr>
        <p:spPr>
          <a:xfrm>
            <a:off x="548640" y="1828800"/>
            <a:ext cx="448056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AI-AUGMENTED PRODUCT DISCOVERY</a:t>
            </a:r>
            <a:endParaRPr lang="en-US" sz="1400" dirty="0"/>
          </a:p>
        </p:txBody>
      </p:sp>
      <p:sp>
        <p:nvSpPr>
          <p:cNvPr id="4" name="Title"/>
          <p:cNvSpPr txBox="1"/>
          <p:nvPr/>
        </p:nvSpPr>
        <p:spPr>
          <a:xfrm>
            <a:off x="548640" y="2377440"/>
            <a:ext cx="9326880" cy="2468880"/>
          </a:xfrm>
          <a:prstGeom prst="rect">
            <a:avLst/>
          </a:prstGeom>
          <a:noFill/>
          <a:ln/>
        </p:spPr>
        <p:txBody>
          <a:bodyPr wrap="square" lIns="0" tIns="0" rIns="0" bIns="0" rtlCol="0" anchor="t"/>
          <a:lstStyle/>
          <a:p>
            <a:pPr indent="0" marL="0">
              <a:buNone/>
            </a:pPr>
            <a:r>
              <a:rPr lang="en-US" sz="5400" dirty="0">
                <a:solidFill>
                  <a:schemeClr val="bg1"/>
                </a:solidFill>
                <a:latin typeface="FR Kraken Slab Medium" pitchFamily="34" charset="0"/>
                <a:ea typeface="FR Kraken Slab Medium" pitchFamily="34" charset="-122"/>
                <a:cs typeface="FR Kraken Slab Medium" pitchFamily="34" charset="-120"/>
              </a:rPr>
              <a:t>Build the Right Thing Before Building It Right.</a:t>
            </a:r>
            <a:endParaRPr lang="en-US" sz="5400" dirty="0"/>
          </a:p>
        </p:txBody>
      </p:sp>
      <p:sp>
        <p:nvSpPr>
          <p:cNvPr id="5" name="Subtitle"/>
          <p:cNvSpPr txBox="1"/>
          <p:nvPr/>
        </p:nvSpPr>
        <p:spPr>
          <a:xfrm>
            <a:off x="548640" y="5074920"/>
            <a:ext cx="7680960" cy="822960"/>
          </a:xfrm>
          <a:prstGeom prst="rect">
            <a:avLst/>
          </a:prstGeom>
          <a:noFill/>
          <a:ln/>
        </p:spPr>
        <p:txBody>
          <a:bodyPr wrap="square" lIns="0" tIns="0" rIns="0" bIns="0" rtlCol="0" anchor="t"/>
          <a:lstStyle/>
          <a:p>
            <a:pPr indent="0" marL="0">
              <a:buNone/>
            </a:pPr>
            <a:r>
              <a:rPr lang="en-US" sz="2200" dirty="0">
                <a:solidFill>
                  <a:schemeClr val="accent1"/>
                </a:solidFill>
                <a:latin typeface="PP Mori" pitchFamily="34" charset="0"/>
                <a:ea typeface="PP Mori" pitchFamily="34" charset="-122"/>
                <a:cs typeface="PP Mori" pitchFamily="34" charset="-120"/>
              </a:rPr>
              <a:t>AI made building dramatically cheaper and faster. It did not make knowing what to build any easier.</a:t>
            </a:r>
            <a:endParaRPr lang="en-US" sz="2200" dirty="0"/>
          </a:p>
        </p:txBody>
      </p:sp>
      <p:sp>
        <p:nvSpPr>
          <p:cNvPr id="6" name="Byline"/>
          <p:cNvSpPr txBox="1"/>
          <p:nvPr/>
        </p:nvSpPr>
        <p:spPr>
          <a:xfrm>
            <a:off x="548640" y="6263640"/>
            <a:ext cx="1005840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Dean Peters  |  Triangle Startup Collective  |  Raleigh Founded  |  October 5,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HALL OF SHAME</a:t>
            </a:r>
            <a:endParaRPr lang="en-US" sz="1400" dirty="0"/>
          </a:p>
        </p:txBody>
      </p:sp>
      <p:sp>
        <p:nvSpPr>
          <p:cNvPr id="3" name="Title"/>
          <p:cNvSpPr txBox="1"/>
          <p:nvPr/>
        </p:nvSpPr>
        <p:spPr>
          <a:xfrm>
            <a:off x="548640" y="868680"/>
            <a:ext cx="10789920" cy="731520"/>
          </a:xfrm>
          <a:prstGeom prst="rect">
            <a:avLst/>
          </a:prstGeom>
          <a:noFill/>
          <a:ln/>
        </p:spPr>
        <p:txBody>
          <a:bodyPr wrap="square" lIns="0" tIns="0" rIns="0" bIns="0" rtlCol="0" anchor="t"/>
          <a:lstStyle/>
          <a:p>
            <a:pPr indent="0" marL="0">
              <a:buNone/>
            </a:pPr>
            <a:r>
              <a:rPr lang="en-US" sz="3800" dirty="0">
                <a:solidFill>
                  <a:schemeClr val="bg1"/>
                </a:solidFill>
                <a:latin typeface="Clash Grotesk Medium" pitchFamily="34" charset="0"/>
                <a:ea typeface="Clash Grotesk Medium" pitchFamily="34" charset="-122"/>
                <a:cs typeface="Clash Grotesk Medium" pitchFamily="34" charset="-120"/>
              </a:rPr>
              <a:t>Five ways to build it right and still miss</a:t>
            </a:r>
            <a:endParaRPr lang="en-US" sz="3800" dirty="0"/>
          </a:p>
        </p:txBody>
      </p:sp>
      <p:sp>
        <p:nvSpPr>
          <p:cNvPr id="4" name="Case row 1"/>
          <p:cNvSpPr/>
          <p:nvPr/>
        </p:nvSpPr>
        <p:spPr>
          <a:xfrm>
            <a:off x="548640" y="1828800"/>
            <a:ext cx="11064240" cy="713232"/>
          </a:xfrm>
          <a:prstGeom prst="roundRect">
            <a:avLst>
              <a:gd name="adj" fmla="val 19231"/>
            </a:avLst>
          </a:prstGeom>
          <a:solidFill>
            <a:schemeClr val="tx2"/>
          </a:solidFill>
          <a:ln w="12700">
            <a:solidFill>
              <a:srgbClr val="262626"/>
            </a:solidFill>
            <a:prstDash val="solid"/>
          </a:ln>
        </p:spPr>
      </p:sp>
      <p:sp>
        <p:nvSpPr>
          <p:cNvPr id="5" name="Case number 1"/>
          <p:cNvSpPr txBox="1"/>
          <p:nvPr/>
        </p:nvSpPr>
        <p:spPr>
          <a:xfrm>
            <a:off x="777240" y="1984248"/>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01</a:t>
            </a:r>
            <a:endParaRPr lang="en-US" sz="2000" dirty="0"/>
          </a:p>
        </p:txBody>
      </p:sp>
      <p:sp>
        <p:nvSpPr>
          <p:cNvPr id="6" name="Case name 1"/>
          <p:cNvSpPr txBox="1"/>
          <p:nvPr/>
        </p:nvSpPr>
        <p:spPr>
          <a:xfrm>
            <a:off x="1463040" y="1984248"/>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Relay.app</a:t>
            </a:r>
            <a:endParaRPr lang="en-US" sz="2000" dirty="0"/>
          </a:p>
        </p:txBody>
      </p:sp>
      <p:sp>
        <p:nvSpPr>
          <p:cNvPr id="7" name="Case lesson 1"/>
          <p:cNvSpPr txBox="1"/>
          <p:nvPr/>
        </p:nvSpPr>
        <p:spPr>
          <a:xfrm>
            <a:off x="5349240" y="1984248"/>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Differentiation must keep being earned.</a:t>
            </a:r>
            <a:endParaRPr lang="en-US" sz="1700" dirty="0"/>
          </a:p>
        </p:txBody>
      </p:sp>
      <p:sp>
        <p:nvSpPr>
          <p:cNvPr id="8" name="Case row 2"/>
          <p:cNvSpPr/>
          <p:nvPr/>
        </p:nvSpPr>
        <p:spPr>
          <a:xfrm>
            <a:off x="548640" y="2670048"/>
            <a:ext cx="11064240" cy="713232"/>
          </a:xfrm>
          <a:prstGeom prst="roundRect">
            <a:avLst>
              <a:gd name="adj" fmla="val 19231"/>
            </a:avLst>
          </a:prstGeom>
          <a:solidFill>
            <a:schemeClr val="tx2"/>
          </a:solidFill>
          <a:ln w="12700">
            <a:solidFill>
              <a:srgbClr val="262626"/>
            </a:solidFill>
            <a:prstDash val="solid"/>
          </a:ln>
        </p:spPr>
      </p:sp>
      <p:sp>
        <p:nvSpPr>
          <p:cNvPr id="9" name="Case number 2"/>
          <p:cNvSpPr txBox="1"/>
          <p:nvPr/>
        </p:nvSpPr>
        <p:spPr>
          <a:xfrm>
            <a:off x="777240" y="2825496"/>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02</a:t>
            </a:r>
            <a:endParaRPr lang="en-US" sz="2000" dirty="0"/>
          </a:p>
        </p:txBody>
      </p:sp>
      <p:sp>
        <p:nvSpPr>
          <p:cNvPr id="10" name="Case name 2"/>
          <p:cNvSpPr txBox="1"/>
          <p:nvPr/>
        </p:nvSpPr>
        <p:spPr>
          <a:xfrm>
            <a:off x="1463040" y="2825496"/>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Humane AI Pin</a:t>
            </a:r>
            <a:endParaRPr lang="en-US" sz="2000" dirty="0"/>
          </a:p>
        </p:txBody>
      </p:sp>
      <p:sp>
        <p:nvSpPr>
          <p:cNvPr id="11" name="Case lesson 2"/>
          <p:cNvSpPr txBox="1"/>
          <p:nvPr/>
        </p:nvSpPr>
        <p:spPr>
          <a:xfrm>
            <a:off x="5349240" y="2825496"/>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Novelty does not equal customer value.</a:t>
            </a:r>
            <a:endParaRPr lang="en-US" sz="1700" dirty="0"/>
          </a:p>
        </p:txBody>
      </p:sp>
      <p:sp>
        <p:nvSpPr>
          <p:cNvPr id="12" name="Case row 3"/>
          <p:cNvSpPr/>
          <p:nvPr/>
        </p:nvSpPr>
        <p:spPr>
          <a:xfrm>
            <a:off x="548640" y="3511296"/>
            <a:ext cx="11064240" cy="713232"/>
          </a:xfrm>
          <a:prstGeom prst="roundRect">
            <a:avLst>
              <a:gd name="adj" fmla="val 19231"/>
            </a:avLst>
          </a:prstGeom>
          <a:solidFill>
            <a:schemeClr val="tx2"/>
          </a:solidFill>
          <a:ln w="12700">
            <a:solidFill>
              <a:srgbClr val="262626"/>
            </a:solidFill>
            <a:prstDash val="solid"/>
          </a:ln>
        </p:spPr>
      </p:sp>
      <p:sp>
        <p:nvSpPr>
          <p:cNvPr id="13" name="Case number 3"/>
          <p:cNvSpPr txBox="1"/>
          <p:nvPr/>
        </p:nvSpPr>
        <p:spPr>
          <a:xfrm>
            <a:off x="777240" y="3666744"/>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03</a:t>
            </a:r>
            <a:endParaRPr lang="en-US" sz="2000" dirty="0"/>
          </a:p>
        </p:txBody>
      </p:sp>
      <p:sp>
        <p:nvSpPr>
          <p:cNvPr id="14" name="Case name 3"/>
          <p:cNvSpPr txBox="1"/>
          <p:nvPr/>
        </p:nvSpPr>
        <p:spPr>
          <a:xfrm>
            <a:off x="1463040" y="3666744"/>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Google Gemini image generation</a:t>
            </a:r>
            <a:endParaRPr lang="en-US" sz="2000" dirty="0"/>
          </a:p>
        </p:txBody>
      </p:sp>
      <p:sp>
        <p:nvSpPr>
          <p:cNvPr id="15" name="Case lesson 3"/>
          <p:cNvSpPr txBox="1"/>
          <p:nvPr/>
        </p:nvSpPr>
        <p:spPr>
          <a:xfrm>
            <a:off x="5349240" y="3666744"/>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Optimizing one thing can break another.</a:t>
            </a:r>
            <a:endParaRPr lang="en-US" sz="1700" dirty="0"/>
          </a:p>
        </p:txBody>
      </p:sp>
      <p:sp>
        <p:nvSpPr>
          <p:cNvPr id="16" name="Case row 4"/>
          <p:cNvSpPr/>
          <p:nvPr/>
        </p:nvSpPr>
        <p:spPr>
          <a:xfrm>
            <a:off x="548640" y="4352544"/>
            <a:ext cx="11064240" cy="713232"/>
          </a:xfrm>
          <a:prstGeom prst="roundRect">
            <a:avLst>
              <a:gd name="adj" fmla="val 19231"/>
            </a:avLst>
          </a:prstGeom>
          <a:solidFill>
            <a:schemeClr val="tx2"/>
          </a:solidFill>
          <a:ln w="12700">
            <a:solidFill>
              <a:srgbClr val="262626"/>
            </a:solidFill>
            <a:prstDash val="solid"/>
          </a:ln>
        </p:spPr>
      </p:sp>
      <p:sp>
        <p:nvSpPr>
          <p:cNvPr id="17" name="Case number 4"/>
          <p:cNvSpPr txBox="1"/>
          <p:nvPr/>
        </p:nvSpPr>
        <p:spPr>
          <a:xfrm>
            <a:off x="777240" y="4507992"/>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04</a:t>
            </a:r>
            <a:endParaRPr lang="en-US" sz="2000" dirty="0"/>
          </a:p>
        </p:txBody>
      </p:sp>
      <p:sp>
        <p:nvSpPr>
          <p:cNvPr id="18" name="Case name 4"/>
          <p:cNvSpPr txBox="1"/>
          <p:nvPr/>
        </p:nvSpPr>
        <p:spPr>
          <a:xfrm>
            <a:off x="1463040" y="4507992"/>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Air Canada chatbot</a:t>
            </a:r>
            <a:endParaRPr lang="en-US" sz="2000" dirty="0"/>
          </a:p>
        </p:txBody>
      </p:sp>
      <p:sp>
        <p:nvSpPr>
          <p:cNvPr id="19" name="Case lesson 4"/>
          <p:cNvSpPr txBox="1"/>
          <p:nvPr/>
        </p:nvSpPr>
        <p:spPr>
          <a:xfrm>
            <a:off x="5349240" y="4507992"/>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Automation does not outsource accountability.</a:t>
            </a:r>
            <a:endParaRPr lang="en-US" sz="1700" dirty="0"/>
          </a:p>
        </p:txBody>
      </p:sp>
      <p:sp>
        <p:nvSpPr>
          <p:cNvPr id="20" name="Case row 5"/>
          <p:cNvSpPr/>
          <p:nvPr/>
        </p:nvSpPr>
        <p:spPr>
          <a:xfrm>
            <a:off x="548640" y="5193792"/>
            <a:ext cx="11064240" cy="713232"/>
          </a:xfrm>
          <a:prstGeom prst="roundRect">
            <a:avLst>
              <a:gd name="adj" fmla="val 19231"/>
            </a:avLst>
          </a:prstGeom>
          <a:solidFill>
            <a:schemeClr val="tx2"/>
          </a:solidFill>
          <a:ln w="12700">
            <a:solidFill>
              <a:srgbClr val="262626"/>
            </a:solidFill>
            <a:prstDash val="solid"/>
          </a:ln>
        </p:spPr>
      </p:sp>
      <p:sp>
        <p:nvSpPr>
          <p:cNvPr id="21" name="Case number 5"/>
          <p:cNvSpPr txBox="1"/>
          <p:nvPr/>
        </p:nvSpPr>
        <p:spPr>
          <a:xfrm>
            <a:off x="777240" y="5349240"/>
            <a:ext cx="640080" cy="411480"/>
          </a:xfrm>
          <a:prstGeom prst="rect">
            <a:avLst/>
          </a:prstGeom>
          <a:noFill/>
          <a:ln/>
        </p:spPr>
        <p:txBody>
          <a:bodyPr wrap="square" lIns="0" tIns="0" rIns="0" bIns="0" rtlCol="0" anchor="t"/>
          <a:lstStyle/>
          <a:p>
            <a:pPr indent="0" marL="0">
              <a:buNone/>
            </a:pPr>
            <a:r>
              <a:rPr lang="en-US" sz="2000" dirty="0">
                <a:solidFill>
                  <a:schemeClr val="accent1"/>
                </a:solidFill>
                <a:latin typeface="Clash Display Semibold" pitchFamily="34" charset="0"/>
                <a:ea typeface="Clash Display Semibold" pitchFamily="34" charset="-122"/>
                <a:cs typeface="Clash Display Semibold" pitchFamily="34" charset="-120"/>
              </a:rPr>
              <a:t>05</a:t>
            </a:r>
            <a:endParaRPr lang="en-US" sz="2000" dirty="0"/>
          </a:p>
        </p:txBody>
      </p:sp>
      <p:sp>
        <p:nvSpPr>
          <p:cNvPr id="22" name="Case name 5"/>
          <p:cNvSpPr txBox="1"/>
          <p:nvPr/>
        </p:nvSpPr>
        <p:spPr>
          <a:xfrm>
            <a:off x="1463040" y="5349240"/>
            <a:ext cx="3840480" cy="411480"/>
          </a:xfrm>
          <a:prstGeom prst="rect">
            <a:avLst/>
          </a:prstGeom>
          <a:noFill/>
          <a:ln/>
        </p:spPr>
        <p:txBody>
          <a:bodyPr wrap="square" lIns="0" tIns="0" rIns="0" bIns="0" rtlCol="0" anchor="ctr"/>
          <a:lstStyle/>
          <a:p>
            <a:pPr indent="0" marL="0">
              <a:buNone/>
            </a:pPr>
            <a:r>
              <a:rPr lang="en-US" sz="2000" dirty="0">
                <a:solidFill>
                  <a:schemeClr val="bg1"/>
                </a:solidFill>
                <a:latin typeface="Clash Grotesk Medium" pitchFamily="34" charset="0"/>
                <a:ea typeface="Clash Grotesk Medium" pitchFamily="34" charset="-122"/>
                <a:cs typeface="Clash Grotesk Medium" pitchFamily="34" charset="-120"/>
              </a:rPr>
              <a:t>Zillow Offers</a:t>
            </a:r>
            <a:endParaRPr lang="en-US" sz="2000" dirty="0"/>
          </a:p>
        </p:txBody>
      </p:sp>
      <p:sp>
        <p:nvSpPr>
          <p:cNvPr id="23" name="Case lesson 5"/>
          <p:cNvSpPr txBox="1"/>
          <p:nvPr/>
        </p:nvSpPr>
        <p:spPr>
          <a:xfrm>
            <a:off x="5349240" y="5349240"/>
            <a:ext cx="6263640" cy="411480"/>
          </a:xfrm>
          <a:prstGeom prst="rect">
            <a:avLst/>
          </a:prstGeom>
          <a:noFill/>
          <a:ln/>
        </p:spPr>
        <p:txBody>
          <a:bodyPr wrap="square" lIns="0" tIns="0" rIns="0" bIns="0" rtlCol="0" anchor="ctr"/>
          <a:lstStyle/>
          <a:p>
            <a:pPr indent="0" marL="0">
              <a:buNone/>
            </a:pPr>
            <a:r>
              <a:rPr lang="en-US" sz="1700" dirty="0">
                <a:solidFill>
                  <a:srgbClr val="B3B3B3"/>
                </a:solidFill>
                <a:latin typeface="PP Mori" pitchFamily="34" charset="0"/>
                <a:ea typeface="PP Mori" pitchFamily="34" charset="-122"/>
                <a:cs typeface="PP Mori" pitchFamily="34" charset="-120"/>
              </a:rPr>
              <a:t>Model performance does not guarantee business viability.</a:t>
            </a:r>
            <a:endParaRPr lang="en-US" sz="17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THE STARTING REQUEST</a:t>
            </a:r>
            <a:endParaRPr lang="en-US" sz="1400" dirty="0"/>
          </a:p>
        </p:txBody>
      </p:sp>
      <p:sp>
        <p:nvSpPr>
          <p:cNvPr id="3" name="Request card"/>
          <p:cNvSpPr/>
          <p:nvPr/>
        </p:nvSpPr>
        <p:spPr>
          <a:xfrm>
            <a:off x="1280160" y="1463040"/>
            <a:ext cx="9601200" cy="3200400"/>
          </a:xfrm>
          <a:prstGeom prst="roundRect">
            <a:avLst>
              <a:gd name="adj" fmla="val 7143"/>
            </a:avLst>
          </a:prstGeom>
          <a:solidFill>
            <a:schemeClr val="bg1"/>
          </a:solidFill>
          <a:ln w="12700">
            <a:solidFill>
              <a:schemeClr val="bg1"/>
            </a:solidFill>
            <a:prstDash val="solid"/>
          </a:ln>
        </p:spPr>
      </p:sp>
      <p:sp>
        <p:nvSpPr>
          <p:cNvPr id="4" name="Request text"/>
          <p:cNvSpPr txBox="1"/>
          <p:nvPr/>
        </p:nvSpPr>
        <p:spPr>
          <a:xfrm>
            <a:off x="1737360" y="1828800"/>
            <a:ext cx="7498080" cy="2103120"/>
          </a:xfrm>
          <a:prstGeom prst="rect">
            <a:avLst/>
          </a:prstGeom>
          <a:noFill/>
          <a:ln/>
        </p:spPr>
        <p:txBody>
          <a:bodyPr wrap="square" lIns="0" tIns="0" rIns="0" bIns="0" rtlCol="0" anchor="t"/>
          <a:lstStyle/>
          <a:p>
            <a:pPr indent="0" marL="0">
              <a:buNone/>
            </a:pPr>
            <a:r>
              <a:rPr lang="en-US" sz="4800" dirty="0">
                <a:solidFill>
                  <a:schemeClr val="tx1"/>
                </a:solidFill>
                <a:latin typeface="Clash Grotesk Medium" pitchFamily="34" charset="0"/>
                <a:ea typeface="Clash Grotesk Medium" pitchFamily="34" charset="-122"/>
                <a:cs typeface="Clash Grotesk Medium" pitchFamily="34" charset="-120"/>
              </a:rPr>
              <a:t>Build an AI predictive-maintenance dashboard.</a:t>
            </a:r>
            <a:endParaRPr lang="en-US" sz="4800" dirty="0"/>
          </a:p>
        </p:txBody>
      </p:sp>
      <p:sp>
        <p:nvSpPr>
          <p:cNvPr id="5" name="Evidence label UNKNOWN"/>
          <p:cNvSpPr/>
          <p:nvPr/>
        </p:nvSpPr>
        <p:spPr>
          <a:xfrm>
            <a:off x="9052560" y="4023360"/>
            <a:ext cx="137160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400" dirty="0"/>
          </a:p>
        </p:txBody>
      </p:sp>
      <p:sp>
        <p:nvSpPr>
          <p:cNvPr id="6" name="Audience question"/>
          <p:cNvSpPr txBox="1"/>
          <p:nvPr/>
        </p:nvSpPr>
        <p:spPr>
          <a:xfrm>
            <a:off x="1280160" y="5074920"/>
            <a:ext cx="9601200" cy="457200"/>
          </a:xfrm>
          <a:prstGeom prst="rect">
            <a:avLst/>
          </a:prstGeom>
          <a:noFill/>
          <a:ln/>
        </p:spPr>
        <p:txBody>
          <a:bodyPr wrap="square" lIns="0" tIns="0" rIns="0" bIns="0" rtlCol="0" anchor="t"/>
          <a:lstStyle/>
          <a:p>
            <a:pPr indent="0" marL="0">
              <a:buNone/>
            </a:pPr>
            <a:r>
              <a:rPr lang="en-US" sz="2400" dirty="0">
                <a:solidFill>
                  <a:schemeClr val="bg1"/>
                </a:solidFill>
                <a:latin typeface="PP Mori" pitchFamily="34" charset="0"/>
                <a:ea typeface="PP Mori" pitchFamily="34" charset="-122"/>
                <a:cs typeface="PP Mori" pitchFamily="34" charset="-120"/>
              </a:rPr>
              <a:t>What would you need to know before funding that?</a:t>
            </a:r>
            <a:endParaRPr lang="en-US" sz="2400" dirty="0"/>
          </a:p>
        </p:txBody>
      </p:sp>
      <p:sp>
        <p:nvSpPr>
          <p:cNvPr id="7" name="Synthetic note"/>
          <p:cNvSpPr txBox="1"/>
          <p:nvPr/>
        </p:nvSpPr>
        <p:spPr>
          <a:xfrm>
            <a:off x="1280160" y="5669280"/>
            <a:ext cx="82296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This manufacturing scenario is SYNTHETIC. No customers were interviewed. These aren't customers. They're hypothesis-generating machines.</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640080"/>
            <a:ext cx="4754880" cy="1463040"/>
          </a:xfrm>
          <a:prstGeom prst="rect">
            <a:avLst/>
          </a:prstGeom>
          <a:noFill/>
          <a:ln/>
        </p:spPr>
        <p:txBody>
          <a:bodyPr wrap="square" lIns="0" tIns="0" rIns="0" bIns="0" rtlCol="0" anchor="t"/>
          <a:lstStyle/>
          <a:p>
            <a:pPr indent="0" marL="0">
              <a:buNone/>
            </a:pPr>
            <a:r>
              <a:rPr lang="en-US" sz="4400" dirty="0">
                <a:solidFill>
                  <a:schemeClr val="bg1"/>
                </a:solidFill>
                <a:latin typeface="Clash Grotesk Medium" pitchFamily="34" charset="0"/>
                <a:ea typeface="Clash Grotesk Medium" pitchFamily="34" charset="-122"/>
                <a:cs typeface="Clash Grotesk Medium" pitchFamily="34" charset="-120"/>
              </a:rPr>
              <a:t>The AI cost paradox</a:t>
            </a:r>
            <a:endParaRPr lang="en-US" sz="4400" dirty="0"/>
          </a:p>
        </p:txBody>
      </p:sp>
      <p:sp>
        <p:nvSpPr>
          <p:cNvPr id="3" name="Body"/>
          <p:cNvSpPr txBox="1"/>
          <p:nvPr/>
        </p:nvSpPr>
        <p:spPr>
          <a:xfrm>
            <a:off x="548640" y="2377440"/>
            <a:ext cx="4480560" cy="2377440"/>
          </a:xfrm>
          <a:prstGeom prst="rect">
            <a:avLst/>
          </a:prstGeom>
          <a:noFill/>
          <a:ln/>
        </p:spPr>
        <p:txBody>
          <a:bodyPr wrap="square" lIns="0" tIns="0" rIns="0" bIns="0" rtlCol="0" anchor="t"/>
          <a:lstStyle/>
          <a:p>
            <a:pPr indent="0" marL="0">
              <a:buNone/>
            </a:pPr>
            <a:r>
              <a:rPr lang="en-US" sz="2000" dirty="0">
                <a:solidFill>
                  <a:srgbClr val="B3B3B3"/>
                </a:solidFill>
                <a:latin typeface="PP Mori" pitchFamily="34" charset="0"/>
                <a:ea typeface="PP Mori" pitchFamily="34" charset="-122"/>
                <a:cs typeface="PP Mori" pitchFamily="34" charset="-120"/>
              </a:rPr>
              <a:t>Teams can now build the wrong thing faster, and polish a weak assumption into a shipped feature. Progress means uncertainty reduced, not activity increased.</a:t>
            </a:r>
            <a:endParaRPr lang="en-US" sz="2000" dirty="0"/>
          </a:p>
        </p:txBody>
      </p:sp>
      <p:graphicFrame>
        <p:nvGraphicFramePr>
          <p:cNvPr id="4" name="Chart 0" descr=""/>
          <p:cNvGraphicFramePr/>
          <p:nvPr/>
        </p:nvGraphicFramePr>
        <p:xfrm>
          <a:off x="5669280" y="731520"/>
          <a:ext cx="6035040" cy="4937760"/>
        </p:xfrm>
        <a:graphic xmlns:a="http://schemas.openxmlformats.org/drawingml/2006/main">
          <a:graphicData uri="http://schemas.openxmlformats.org/drawingml/2006/chart">
            <c:chart xmlns:c="http://schemas.openxmlformats.org/drawingml/2006/chart" r:id="rId1"/>
          </a:graphicData>
        </a:graphic>
      </p:graphicFrame>
      <p:sp>
        <p:nvSpPr>
          <p:cNvPr id="5" name="Illustrative note"/>
          <p:cNvSpPr txBox="1"/>
          <p:nvPr/>
        </p:nvSpPr>
        <p:spPr>
          <a:xfrm>
            <a:off x="5669280" y="5760720"/>
            <a:ext cx="6035040" cy="274320"/>
          </a:xfrm>
          <a:prstGeom prst="rect">
            <a:avLst/>
          </a:prstGeom>
          <a:noFill/>
          <a:ln/>
        </p:spPr>
        <p:txBody>
          <a:bodyPr wrap="square" lIns="0" tIns="0" rIns="0" bIns="0" rtlCol="0" anchor="t"/>
          <a:lstStyle/>
          <a:p>
            <a:pPr algn="r" indent="0" marL="0">
              <a:buNone/>
            </a:pPr>
            <a:r>
              <a:rPr lang="en-US" sz="1200" dirty="0">
                <a:solidFill>
                  <a:srgbClr val="B3B3B3"/>
                </a:solidFill>
                <a:latin typeface="PP Mori" pitchFamily="34" charset="0"/>
                <a:ea typeface="PP Mori" pitchFamily="34" charset="-122"/>
                <a:cs typeface="PP Mori" pitchFamily="34" charset="-120"/>
              </a:rPr>
              <a:t>Illustrative shape only. Not measured data.</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What problem are we solving,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and for whom?</a:t>
            </a:r>
            <a:endParaRPr lang="en-US" sz="6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01</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Market Intel</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is the landscape, and how much of what we know is evidence?</a:t>
            </a:r>
            <a:endParaRPr lang="en-US" sz="2200" dirty="0"/>
          </a:p>
        </p:txBody>
      </p:sp>
      <p:sp>
        <p:nvSpPr>
          <p:cNvPr id="5" name="Artifact pill"/>
          <p:cNvSpPr/>
          <p:nvPr/>
        </p:nvSpPr>
        <p:spPr>
          <a:xfrm>
            <a:off x="548640" y="4572000"/>
            <a:ext cx="4617720"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MARKET INTELLIGENCE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market sweep is not a segment.</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Handoff card"/>
          <p:cNvSpPr/>
          <p:nvPr/>
        </p:nvSpPr>
        <p:spPr>
          <a:xfrm>
            <a:off x="6537960" y="822960"/>
            <a:ext cx="4846320" cy="2926080"/>
          </a:xfrm>
          <a:prstGeom prst="roundRect">
            <a:avLst>
              <a:gd name="adj" fmla="val 5625"/>
            </a:avLst>
          </a:prstGeom>
          <a:solidFill>
            <a:schemeClr val="bg1"/>
          </a:solidFill>
          <a:ln w="12700">
            <a:solidFill>
              <a:schemeClr val="bg1"/>
            </a:solidFill>
            <a:prstDash val="solid"/>
          </a:ln>
        </p:spPr>
      </p:sp>
      <p:sp>
        <p:nvSpPr>
          <p:cNvPr id="9" name="Handoff card label"/>
          <p:cNvSpPr txBox="1"/>
          <p:nvPr/>
        </p:nvSpPr>
        <p:spPr>
          <a:xfrm>
            <a:off x="6766560" y="1005840"/>
            <a:ext cx="2743200" cy="274320"/>
          </a:xfrm>
          <a:prstGeom prst="rect">
            <a:avLst/>
          </a:prstGeom>
          <a:noFill/>
          <a:ln/>
        </p:spPr>
        <p:txBody>
          <a:bodyPr wrap="square" lIns="0" tIns="0" rIns="0" bIns="0" rtlCol="0" anchor="t"/>
          <a:lstStyle/>
          <a:p>
            <a:pPr indent="0" marL="0">
              <a:buNone/>
            </a:pPr>
            <a:r>
              <a:rPr lang="en-US" sz="1400" spc="150" kern="0" dirty="0">
                <a:solidFill>
                  <a:srgbClr val="007A3D"/>
                </a:solidFill>
                <a:latin typeface="Clash Display Semibold" pitchFamily="34" charset="0"/>
                <a:ea typeface="Clash Display Semibold" pitchFamily="34" charset="-122"/>
                <a:cs typeface="Clash Display Semibold" pitchFamily="34" charset="-120"/>
              </a:rPr>
              <a:t>HANDOFF CARD</a:t>
            </a:r>
            <a:endParaRPr lang="en-US" sz="1400" dirty="0"/>
          </a:p>
        </p:txBody>
      </p:sp>
      <p:sp>
        <p:nvSpPr>
          <p:cNvPr id="10" name="Field Target"/>
          <p:cNvSpPr/>
          <p:nvPr/>
        </p:nvSpPr>
        <p:spPr>
          <a:xfrm>
            <a:off x="6766560" y="1417320"/>
            <a:ext cx="2080260" cy="579120"/>
          </a:xfrm>
          <a:prstGeom prst="roundRect">
            <a:avLst>
              <a:gd name="adj" fmla="val 12632"/>
            </a:avLst>
          </a:prstGeom>
          <a:solidFill>
            <a:srgbClr val="F4F4F4"/>
          </a:solidFill>
          <a:ln w="12700">
            <a:solidFill>
              <a:srgbClr val="D0D0D0"/>
            </a:solidFill>
            <a:prstDash val="solid"/>
          </a:ln>
        </p:spPr>
      </p:sp>
      <p:sp>
        <p:nvSpPr>
          <p:cNvPr id="11" name="Text 9"/>
          <p:cNvSpPr txBox="1"/>
          <p:nvPr/>
        </p:nvSpPr>
        <p:spPr>
          <a:xfrm>
            <a:off x="6876288" y="150876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TARGET</a:t>
            </a:r>
            <a:endParaRPr lang="en-US" sz="1400" dirty="0"/>
          </a:p>
        </p:txBody>
      </p:sp>
      <p:sp>
        <p:nvSpPr>
          <p:cNvPr id="12" name="Field Belief"/>
          <p:cNvSpPr/>
          <p:nvPr/>
        </p:nvSpPr>
        <p:spPr>
          <a:xfrm>
            <a:off x="9075420" y="1417320"/>
            <a:ext cx="2080260" cy="579120"/>
          </a:xfrm>
          <a:prstGeom prst="roundRect">
            <a:avLst>
              <a:gd name="adj" fmla="val 12632"/>
            </a:avLst>
          </a:prstGeom>
          <a:solidFill>
            <a:srgbClr val="F4F4F4"/>
          </a:solidFill>
          <a:ln w="12700">
            <a:solidFill>
              <a:srgbClr val="D0D0D0"/>
            </a:solidFill>
            <a:prstDash val="solid"/>
          </a:ln>
        </p:spPr>
      </p:sp>
      <p:sp>
        <p:nvSpPr>
          <p:cNvPr id="13" name="Text 11"/>
          <p:cNvSpPr txBox="1"/>
          <p:nvPr/>
        </p:nvSpPr>
        <p:spPr>
          <a:xfrm>
            <a:off x="9185148" y="150876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BELIEF</a:t>
            </a:r>
            <a:endParaRPr lang="en-US" sz="1400" dirty="0"/>
          </a:p>
        </p:txBody>
      </p:sp>
      <p:sp>
        <p:nvSpPr>
          <p:cNvPr id="14" name="Field Evidence"/>
          <p:cNvSpPr/>
          <p:nvPr/>
        </p:nvSpPr>
        <p:spPr>
          <a:xfrm>
            <a:off x="6766560" y="2133600"/>
            <a:ext cx="2080260" cy="579120"/>
          </a:xfrm>
          <a:prstGeom prst="roundRect">
            <a:avLst>
              <a:gd name="adj" fmla="val 12632"/>
            </a:avLst>
          </a:prstGeom>
          <a:solidFill>
            <a:srgbClr val="F4F4F4"/>
          </a:solidFill>
          <a:ln w="12700">
            <a:solidFill>
              <a:srgbClr val="D0D0D0"/>
            </a:solidFill>
            <a:prstDash val="solid"/>
          </a:ln>
        </p:spPr>
      </p:sp>
      <p:sp>
        <p:nvSpPr>
          <p:cNvPr id="15" name="Text 13"/>
          <p:cNvSpPr txBox="1"/>
          <p:nvPr/>
        </p:nvSpPr>
        <p:spPr>
          <a:xfrm>
            <a:off x="6876288" y="222504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EVIDENCE</a:t>
            </a:r>
            <a:endParaRPr lang="en-US" sz="1400" dirty="0"/>
          </a:p>
        </p:txBody>
      </p:sp>
      <p:sp>
        <p:nvSpPr>
          <p:cNvPr id="16" name="Field Inferred"/>
          <p:cNvSpPr/>
          <p:nvPr/>
        </p:nvSpPr>
        <p:spPr>
          <a:xfrm>
            <a:off x="9075420" y="2133600"/>
            <a:ext cx="2080260" cy="579120"/>
          </a:xfrm>
          <a:prstGeom prst="roundRect">
            <a:avLst>
              <a:gd name="adj" fmla="val 12632"/>
            </a:avLst>
          </a:prstGeom>
          <a:solidFill>
            <a:srgbClr val="F4F4F4"/>
          </a:solidFill>
          <a:ln w="12700">
            <a:solidFill>
              <a:srgbClr val="D0D0D0"/>
            </a:solidFill>
            <a:prstDash val="solid"/>
          </a:ln>
        </p:spPr>
      </p:sp>
      <p:sp>
        <p:nvSpPr>
          <p:cNvPr id="17" name="Text 15"/>
          <p:cNvSpPr txBox="1"/>
          <p:nvPr/>
        </p:nvSpPr>
        <p:spPr>
          <a:xfrm>
            <a:off x="9185148" y="222504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INFERRED</a:t>
            </a:r>
            <a:endParaRPr lang="en-US" sz="1400" dirty="0"/>
          </a:p>
        </p:txBody>
      </p:sp>
      <p:sp>
        <p:nvSpPr>
          <p:cNvPr id="18" name="Field Outcome"/>
          <p:cNvSpPr/>
          <p:nvPr/>
        </p:nvSpPr>
        <p:spPr>
          <a:xfrm>
            <a:off x="6766560" y="2849880"/>
            <a:ext cx="2080260" cy="579120"/>
          </a:xfrm>
          <a:prstGeom prst="roundRect">
            <a:avLst>
              <a:gd name="adj" fmla="val 12632"/>
            </a:avLst>
          </a:prstGeom>
          <a:solidFill>
            <a:srgbClr val="F4F4F4"/>
          </a:solidFill>
          <a:ln w="12700">
            <a:solidFill>
              <a:srgbClr val="D0D0D0"/>
            </a:solidFill>
            <a:prstDash val="solid"/>
          </a:ln>
        </p:spPr>
      </p:sp>
      <p:sp>
        <p:nvSpPr>
          <p:cNvPr id="19" name="Text 17"/>
          <p:cNvSpPr txBox="1"/>
          <p:nvPr/>
        </p:nvSpPr>
        <p:spPr>
          <a:xfrm>
            <a:off x="6876288" y="294132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OUTCOME</a:t>
            </a:r>
            <a:endParaRPr lang="en-US" sz="1400" dirty="0"/>
          </a:p>
        </p:txBody>
      </p:sp>
      <p:sp>
        <p:nvSpPr>
          <p:cNvPr id="20" name="Field Question"/>
          <p:cNvSpPr/>
          <p:nvPr/>
        </p:nvSpPr>
        <p:spPr>
          <a:xfrm>
            <a:off x="9075420" y="2849880"/>
            <a:ext cx="2080260" cy="579120"/>
          </a:xfrm>
          <a:prstGeom prst="roundRect">
            <a:avLst>
              <a:gd name="adj" fmla="val 12632"/>
            </a:avLst>
          </a:prstGeom>
          <a:solidFill>
            <a:srgbClr val="F4F4F4"/>
          </a:solidFill>
          <a:ln w="12700">
            <a:solidFill>
              <a:srgbClr val="D0D0D0"/>
            </a:solidFill>
            <a:prstDash val="solid"/>
          </a:ln>
        </p:spPr>
      </p:sp>
      <p:sp>
        <p:nvSpPr>
          <p:cNvPr id="21" name="Text 19"/>
          <p:cNvSpPr txBox="1"/>
          <p:nvPr/>
        </p:nvSpPr>
        <p:spPr>
          <a:xfrm>
            <a:off x="9185148" y="2941320"/>
            <a:ext cx="1860804" cy="274320"/>
          </a:xfrm>
          <a:prstGeom prst="rect">
            <a:avLst/>
          </a:prstGeom>
          <a:noFill/>
          <a:ln/>
        </p:spPr>
        <p:txBody>
          <a:bodyPr wrap="square" lIns="0" tIns="0" rIns="0" bIns="0" rtlCol="0" anchor="t"/>
          <a:lstStyle/>
          <a:p>
            <a:pPr indent="0" marL="0">
              <a:buNone/>
            </a:pPr>
            <a:r>
              <a:rPr lang="en-US" sz="1400" spc="100" kern="0" dirty="0">
                <a:solidFill>
                  <a:srgbClr val="5A5A5A"/>
                </a:solidFill>
                <a:latin typeface="Clash Display Semibold" pitchFamily="34" charset="0"/>
                <a:ea typeface="Clash Display Semibold" pitchFamily="34" charset="-122"/>
                <a:cs typeface="Clash Display Semibold" pitchFamily="34" charset="-120"/>
              </a:rPr>
              <a:t>QUESTION</a:t>
            </a:r>
            <a:endParaRPr lang="en-US" sz="1400" dirty="0"/>
          </a:p>
        </p:txBody>
      </p:sp>
      <p:sp>
        <p:nvSpPr>
          <p:cNvPr id="22" name="Text 20"/>
          <p:cNvSpPr txBox="1"/>
          <p:nvPr/>
        </p:nvSpPr>
        <p:spPr>
          <a:xfrm>
            <a:off x="6583680" y="4023360"/>
            <a:ext cx="3657600" cy="274320"/>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THE EVIDENCE LEGEND</a:t>
            </a:r>
            <a:endParaRPr lang="en-US" sz="1400" dirty="0"/>
          </a:p>
        </p:txBody>
      </p:sp>
      <p:sp>
        <p:nvSpPr>
          <p:cNvPr id="23" name="Evidence label ACTUAL DATA"/>
          <p:cNvSpPr/>
          <p:nvPr/>
        </p:nvSpPr>
        <p:spPr>
          <a:xfrm>
            <a:off x="6583680" y="4434840"/>
            <a:ext cx="173736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ACTUAL DATA</a:t>
            </a:r>
            <a:endParaRPr lang="en-US" sz="1400" dirty="0"/>
          </a:p>
        </p:txBody>
      </p:sp>
      <p:sp>
        <p:nvSpPr>
          <p:cNvPr id="24" name="Evidence label INFERRED"/>
          <p:cNvSpPr/>
          <p:nvPr/>
        </p:nvSpPr>
        <p:spPr>
          <a:xfrm>
            <a:off x="8503920" y="4434840"/>
            <a:ext cx="17373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INFERRED</a:t>
            </a:r>
            <a:endParaRPr lang="en-US" sz="1400" dirty="0"/>
          </a:p>
        </p:txBody>
      </p:sp>
      <p:sp>
        <p:nvSpPr>
          <p:cNvPr id="25" name="Evidence label ESTIMATE"/>
          <p:cNvSpPr/>
          <p:nvPr/>
        </p:nvSpPr>
        <p:spPr>
          <a:xfrm>
            <a:off x="6583680" y="4983480"/>
            <a:ext cx="17373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400" dirty="0"/>
          </a:p>
        </p:txBody>
      </p:sp>
      <p:sp>
        <p:nvSpPr>
          <p:cNvPr id="26" name="Evidence label UNKNOWN"/>
          <p:cNvSpPr/>
          <p:nvPr/>
        </p:nvSpPr>
        <p:spPr>
          <a:xfrm>
            <a:off x="8503920" y="4983480"/>
            <a:ext cx="1737360" cy="329184"/>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02</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Segment</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Which bounded context are we deliberately choosing to learn about?</a:t>
            </a:r>
            <a:endParaRPr lang="en-US" sz="2200" dirty="0"/>
          </a:p>
        </p:txBody>
      </p:sp>
      <p:sp>
        <p:nvSpPr>
          <p:cNvPr id="5" name="Artifact pill"/>
          <p:cNvSpPr/>
          <p:nvPr/>
        </p:nvSpPr>
        <p:spPr>
          <a:xfrm>
            <a:off x="548640" y="4572000"/>
            <a:ext cx="4379976"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SEGMENT SELECTION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Sizing is an estimate until it is sourced. Choosing a segment is not proof it is attractive.</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TAM circle"/>
          <p:cNvSpPr/>
          <p:nvPr/>
        </p:nvSpPr>
        <p:spPr>
          <a:xfrm>
            <a:off x="7040880" y="868680"/>
            <a:ext cx="3840480" cy="3840480"/>
          </a:xfrm>
          <a:prstGeom prst="ellipse">
            <a:avLst/>
          </a:prstGeom>
          <a:ln w="38100">
            <a:solidFill>
              <a:schemeClr val="bg1"/>
            </a:solidFill>
            <a:prstDash val="solid"/>
          </a:ln>
        </p:spPr>
      </p:sp>
      <p:sp>
        <p:nvSpPr>
          <p:cNvPr id="9" name="TAM label"/>
          <p:cNvSpPr txBox="1"/>
          <p:nvPr/>
        </p:nvSpPr>
        <p:spPr>
          <a:xfrm>
            <a:off x="8229600" y="1051560"/>
            <a:ext cx="1463040" cy="457200"/>
          </a:xfrm>
          <a:prstGeom prst="rect">
            <a:avLst/>
          </a:prstGeom>
          <a:noFill/>
          <a:ln/>
        </p:spPr>
        <p:txBody>
          <a:bodyPr wrap="square" lIns="0" tIns="0" rIns="0" bIns="0" rtlCol="0" anchor="t"/>
          <a:lstStyle/>
          <a:p>
            <a:pPr algn="ctr" indent="0" marL="0">
              <a:buNone/>
            </a:pPr>
            <a:r>
              <a:rPr lang="en-US" sz="2200" dirty="0">
                <a:solidFill>
                  <a:schemeClr val="bg1"/>
                </a:solidFill>
                <a:latin typeface="Clash Grotesk Medium" pitchFamily="34" charset="0"/>
                <a:ea typeface="Clash Grotesk Medium" pitchFamily="34" charset="-122"/>
                <a:cs typeface="Clash Grotesk Medium" pitchFamily="34" charset="-120"/>
              </a:rPr>
              <a:t>TAM</a:t>
            </a:r>
            <a:endParaRPr lang="en-US" sz="2200" dirty="0"/>
          </a:p>
        </p:txBody>
      </p:sp>
      <p:sp>
        <p:nvSpPr>
          <p:cNvPr id="10" name="SAM circle"/>
          <p:cNvSpPr/>
          <p:nvPr/>
        </p:nvSpPr>
        <p:spPr>
          <a:xfrm>
            <a:off x="7635240" y="2057400"/>
            <a:ext cx="2651760" cy="2651760"/>
          </a:xfrm>
          <a:prstGeom prst="ellipse">
            <a:avLst/>
          </a:prstGeom>
          <a:ln w="38100">
            <a:solidFill>
              <a:schemeClr val="accent1"/>
            </a:solidFill>
            <a:prstDash val="solid"/>
          </a:ln>
        </p:spPr>
      </p:sp>
      <p:sp>
        <p:nvSpPr>
          <p:cNvPr id="11" name="SAM label"/>
          <p:cNvSpPr txBox="1"/>
          <p:nvPr/>
        </p:nvSpPr>
        <p:spPr>
          <a:xfrm>
            <a:off x="8229600" y="2240280"/>
            <a:ext cx="1463040" cy="457200"/>
          </a:xfrm>
          <a:prstGeom prst="rect">
            <a:avLst/>
          </a:prstGeom>
          <a:noFill/>
          <a:ln/>
        </p:spPr>
        <p:txBody>
          <a:bodyPr wrap="square" lIns="0" tIns="0" rIns="0" bIns="0" rtlCol="0" anchor="t"/>
          <a:lstStyle/>
          <a:p>
            <a:pPr algn="ct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SAM</a:t>
            </a:r>
            <a:endParaRPr lang="en-US" sz="2200" dirty="0"/>
          </a:p>
        </p:txBody>
      </p:sp>
      <p:sp>
        <p:nvSpPr>
          <p:cNvPr id="12" name="SOM circle"/>
          <p:cNvSpPr/>
          <p:nvPr/>
        </p:nvSpPr>
        <p:spPr>
          <a:xfrm>
            <a:off x="8229600" y="3246120"/>
            <a:ext cx="1463040" cy="1463040"/>
          </a:xfrm>
          <a:prstGeom prst="ellipse">
            <a:avLst/>
          </a:prstGeom>
          <a:solidFill>
            <a:schemeClr val="accent1"/>
          </a:solidFill>
          <a:ln w="38100">
            <a:solidFill>
              <a:schemeClr val="accent1"/>
            </a:solidFill>
            <a:prstDash val="solid"/>
          </a:ln>
        </p:spPr>
      </p:sp>
      <p:sp>
        <p:nvSpPr>
          <p:cNvPr id="13" name="SOM label"/>
          <p:cNvSpPr txBox="1"/>
          <p:nvPr/>
        </p:nvSpPr>
        <p:spPr>
          <a:xfrm>
            <a:off x="8229600" y="3749040"/>
            <a:ext cx="1463040" cy="457200"/>
          </a:xfrm>
          <a:prstGeom prst="rect">
            <a:avLst/>
          </a:prstGeom>
          <a:noFill/>
          <a:ln/>
        </p:spPr>
        <p:txBody>
          <a:bodyPr wrap="square" lIns="0" tIns="0" rIns="0" bIns="0" rtlCol="0" anchor="t"/>
          <a:lstStyle/>
          <a:p>
            <a:pPr algn="ctr" indent="0" marL="0">
              <a:buNone/>
            </a:pPr>
            <a:r>
              <a:rPr lang="en-US" sz="2200" dirty="0">
                <a:solidFill>
                  <a:schemeClr val="tx1"/>
                </a:solidFill>
                <a:latin typeface="Clash Grotesk Medium" pitchFamily="34" charset="0"/>
                <a:ea typeface="Clash Grotesk Medium" pitchFamily="34" charset="-122"/>
                <a:cs typeface="Clash Grotesk Medium" pitchFamily="34" charset="-120"/>
              </a:rPr>
              <a:t>SOM</a:t>
            </a:r>
            <a:endParaRPr lang="en-US" sz="2200" dirty="0"/>
          </a:p>
        </p:txBody>
      </p:sp>
      <p:sp>
        <p:nvSpPr>
          <p:cNvPr id="14" name="Source TAM"/>
          <p:cNvSpPr txBox="1"/>
          <p:nvPr/>
        </p:nvSpPr>
        <p:spPr>
          <a:xfrm>
            <a:off x="6720840" y="4846320"/>
            <a:ext cx="4754880" cy="329184"/>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TAM   </a:t>
            </a:r>
            <a:pPr indent="0" marL="0">
              <a:buNone/>
            </a:pPr>
            <a:r>
              <a:rPr lang="en-US" sz="1800" dirty="0">
                <a:solidFill>
                  <a:schemeClr val="bg1"/>
                </a:solidFill>
                <a:latin typeface="PP Mori" pitchFamily="34" charset="0"/>
                <a:ea typeface="PP Mori" pitchFamily="34" charset="-122"/>
                <a:cs typeface="PP Mori" pitchFamily="34" charset="-120"/>
              </a:rPr>
              <a:t>from population</a:t>
            </a:r>
            <a:endParaRPr lang="en-US" sz="1600" dirty="0"/>
          </a:p>
        </p:txBody>
      </p:sp>
      <p:sp>
        <p:nvSpPr>
          <p:cNvPr id="15" name="Source SAM"/>
          <p:cNvSpPr txBox="1"/>
          <p:nvPr/>
        </p:nvSpPr>
        <p:spPr>
          <a:xfrm>
            <a:off x="6720840" y="5212080"/>
            <a:ext cx="4754880" cy="329184"/>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SAM   </a:t>
            </a:r>
            <a:pPr indent="0" marL="0">
              <a:buNone/>
            </a:pPr>
            <a:r>
              <a:rPr lang="en-US" sz="1800" dirty="0">
                <a:solidFill>
                  <a:schemeClr val="bg1"/>
                </a:solidFill>
                <a:latin typeface="PP Mori" pitchFamily="34" charset="0"/>
                <a:ea typeface="PP Mori" pitchFamily="34" charset="-122"/>
                <a:cs typeface="PP Mori" pitchFamily="34" charset="-120"/>
              </a:rPr>
              <a:t>from trade and industry</a:t>
            </a:r>
            <a:endParaRPr lang="en-US" sz="1600" dirty="0"/>
          </a:p>
        </p:txBody>
      </p:sp>
      <p:sp>
        <p:nvSpPr>
          <p:cNvPr id="16" name="Source SOM"/>
          <p:cNvSpPr txBox="1"/>
          <p:nvPr/>
        </p:nvSpPr>
        <p:spPr>
          <a:xfrm>
            <a:off x="6720840" y="5577840"/>
            <a:ext cx="4754880" cy="329184"/>
          </a:xfrm>
          <a:prstGeom prst="rect">
            <a:avLst/>
          </a:prstGeom>
          <a:noFill/>
          <a:ln/>
        </p:spPr>
        <p:txBody>
          <a:bodyPr wrap="square" lIns="0" tIns="0" rIns="0" bIns="0" rtlCol="0" anchor="t"/>
          <a:lstStyle/>
          <a:p>
            <a:pPr indent="0" marL="0">
              <a:buNone/>
            </a:pPr>
            <a:r>
              <a:rPr lang="en-US" sz="1400" spc="150" kern="0" dirty="0">
                <a:solidFill>
                  <a:schemeClr val="accent1"/>
                </a:solidFill>
                <a:latin typeface="Clash Display Semibold" pitchFamily="34" charset="0"/>
                <a:ea typeface="Clash Display Semibold" pitchFamily="34" charset="-122"/>
                <a:cs typeface="Clash Display Semibold" pitchFamily="34" charset="-120"/>
              </a:rPr>
              <a:t>SOM   </a:t>
            </a:r>
            <a:pPr indent="0" marL="0">
              <a:buNone/>
            </a:pPr>
            <a:r>
              <a:rPr lang="en-US" sz="1800" dirty="0">
                <a:solidFill>
                  <a:schemeClr val="bg1"/>
                </a:solidFill>
                <a:latin typeface="PP Mori" pitchFamily="34" charset="0"/>
                <a:ea typeface="PP Mori" pitchFamily="34" charset="-122"/>
                <a:cs typeface="PP Mori" pitchFamily="34" charset="-120"/>
              </a:rPr>
              <a:t>from competition and reach</a:t>
            </a:r>
            <a:endParaRPr lang="en-US" sz="1600" dirty="0"/>
          </a:p>
        </p:txBody>
      </p:sp>
      <p:sp>
        <p:nvSpPr>
          <p:cNvPr id="17" name="Evidence label ESTIMATE"/>
          <p:cNvSpPr/>
          <p:nvPr/>
        </p:nvSpPr>
        <p:spPr>
          <a:xfrm>
            <a:off x="10104120" y="822960"/>
            <a:ext cx="128016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ESTIMATE</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03</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Persona</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Who is this person, in what situation, trying to make what progress?</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3904488"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SITUATIONAL PERSONA</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A hypothesis, not a customer we interviewed.</a:t>
            </a:r>
            <a:endParaRPr lang="en-US" sz="1600" dirty="0"/>
          </a:p>
        </p:txBody>
      </p:sp>
      <p:sp>
        <p:nvSpPr>
          <p:cNvPr id="9" name="Step 1 header"/>
          <p:cNvSpPr txBox="1"/>
          <p:nvPr/>
        </p:nvSpPr>
        <p:spPr>
          <a:xfrm>
            <a:off x="822960" y="1554480"/>
            <a:ext cx="3931920" cy="347472"/>
          </a:xfrm>
          <a:prstGeom prst="rect">
            <a:avLst/>
          </a:prstGeom>
          <a:noFill/>
          <a:ln/>
        </p:spPr>
        <p:txBody>
          <a:bodyPr wrap="square" lIns="0" tIns="0" rIns="0" bIns="0" rtlCol="0" anchor="t"/>
          <a:lstStyle/>
          <a:p>
            <a:pPr indent="0" marL="0">
              <a:buNone/>
            </a:pPr>
            <a:r>
              <a:rPr lang="en-US" sz="1800" dirty="0">
                <a:solidFill>
                  <a:schemeClr val="accent1"/>
                </a:solidFill>
                <a:latin typeface="Clash Grotesk Medium" pitchFamily="34" charset="0"/>
                <a:ea typeface="Clash Grotesk Medium" pitchFamily="34" charset="-122"/>
                <a:cs typeface="Clash Grotesk Medium" pitchFamily="34" charset="-120"/>
              </a:rPr>
              <a:t>1  </a:t>
            </a:r>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List</a:t>
            </a:r>
            <a:endParaRPr lang="en-US" sz="1800" dirty="0"/>
          </a:p>
        </p:txBody>
      </p:sp>
      <p:sp>
        <p:nvSpPr>
          <p:cNvPr id="10" name="Step 2 header"/>
          <p:cNvSpPr txBox="1"/>
          <p:nvPr/>
        </p:nvSpPr>
        <p:spPr>
          <a:xfrm>
            <a:off x="4937760" y="1554480"/>
            <a:ext cx="2926080" cy="347472"/>
          </a:xfrm>
          <a:prstGeom prst="rect">
            <a:avLst/>
          </a:prstGeom>
          <a:noFill/>
          <a:ln/>
        </p:spPr>
        <p:txBody>
          <a:bodyPr wrap="square" lIns="0" tIns="0" rIns="0" bIns="0" rtlCol="0" anchor="t"/>
          <a:lstStyle/>
          <a:p>
            <a:pPr indent="0" marL="0">
              <a:buNone/>
            </a:pPr>
            <a:r>
              <a:rPr lang="en-US" sz="1800" dirty="0">
                <a:solidFill>
                  <a:schemeClr val="accent1"/>
                </a:solidFill>
                <a:latin typeface="Clash Grotesk Medium" pitchFamily="34" charset="0"/>
                <a:ea typeface="Clash Grotesk Medium" pitchFamily="34" charset="-122"/>
                <a:cs typeface="Clash Grotesk Medium" pitchFamily="34" charset="-120"/>
              </a:rPr>
              <a:t>2  </a:t>
            </a:r>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Pick the top</a:t>
            </a:r>
            <a:endParaRPr lang="en-US" sz="1800" dirty="0"/>
          </a:p>
        </p:txBody>
      </p:sp>
      <p:sp>
        <p:nvSpPr>
          <p:cNvPr id="11" name="Step 3 header"/>
          <p:cNvSpPr txBox="1"/>
          <p:nvPr/>
        </p:nvSpPr>
        <p:spPr>
          <a:xfrm>
            <a:off x="8092440" y="1554480"/>
            <a:ext cx="3246120" cy="347472"/>
          </a:xfrm>
          <a:prstGeom prst="rect">
            <a:avLst/>
          </a:prstGeom>
          <a:noFill/>
          <a:ln/>
        </p:spPr>
        <p:txBody>
          <a:bodyPr wrap="square" lIns="0" tIns="0" rIns="0" bIns="0" rtlCol="0" anchor="t"/>
          <a:lstStyle/>
          <a:p>
            <a:pPr indent="0" marL="0">
              <a:buNone/>
            </a:pPr>
            <a:r>
              <a:rPr lang="en-US" sz="1800" dirty="0">
                <a:solidFill>
                  <a:schemeClr val="accent1"/>
                </a:solidFill>
                <a:latin typeface="Clash Grotesk Medium" pitchFamily="34" charset="0"/>
                <a:ea typeface="Clash Grotesk Medium" pitchFamily="34" charset="-122"/>
                <a:cs typeface="Clash Grotesk Medium" pitchFamily="34" charset="-120"/>
              </a:rPr>
              <a:t>3  </a:t>
            </a:r>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Frame the problem</a:t>
            </a:r>
            <a:endParaRPr lang="en-US" sz="1800" dirty="0"/>
          </a:p>
        </p:txBody>
      </p:sp>
      <p:sp>
        <p:nvSpPr>
          <p:cNvPr id="12" name="Customer circle"/>
          <p:cNvSpPr/>
          <p:nvPr/>
        </p:nvSpPr>
        <p:spPr>
          <a:xfrm>
            <a:off x="960120" y="2011680"/>
            <a:ext cx="3657600" cy="3657600"/>
          </a:xfrm>
          <a:prstGeom prst="ellipse">
            <a:avLst/>
          </a:prstGeom>
          <a:ln w="31750">
            <a:solidFill>
              <a:schemeClr val="bg1"/>
            </a:solidFill>
            <a:prstDash val="solid"/>
          </a:ln>
        </p:spPr>
      </p:sp>
      <p:sp>
        <p:nvSpPr>
          <p:cNvPr id="13" name="Wedge divider 1"/>
          <p:cNvSpPr/>
          <p:nvPr/>
        </p:nvSpPr>
        <p:spPr>
          <a:xfrm flipH="1">
            <a:off x="960120" y="3840480"/>
            <a:ext cx="1828800" cy="0"/>
          </a:xfrm>
          <a:prstGeom prst="line">
            <a:avLst/>
          </a:prstGeom>
          <a:noFill/>
          <a:ln w="25400">
            <a:solidFill>
              <a:schemeClr val="bg1"/>
            </a:solidFill>
            <a:prstDash val="solid"/>
          </a:ln>
        </p:spPr>
      </p:sp>
      <p:sp>
        <p:nvSpPr>
          <p:cNvPr id="14" name="Wedge divider 2"/>
          <p:cNvSpPr/>
          <p:nvPr/>
        </p:nvSpPr>
        <p:spPr>
          <a:xfrm flipV="1">
            <a:off x="2788920" y="2073995"/>
            <a:ext cx="473328" cy="1766485"/>
          </a:xfrm>
          <a:prstGeom prst="line">
            <a:avLst/>
          </a:prstGeom>
          <a:noFill/>
          <a:ln w="25400">
            <a:solidFill>
              <a:schemeClr val="bg1"/>
            </a:solidFill>
            <a:prstDash val="solid"/>
          </a:ln>
        </p:spPr>
      </p:sp>
      <p:sp>
        <p:nvSpPr>
          <p:cNvPr id="15" name="Wedge divider 3"/>
          <p:cNvSpPr/>
          <p:nvPr/>
        </p:nvSpPr>
        <p:spPr>
          <a:xfrm>
            <a:off x="2788920" y="3840480"/>
            <a:ext cx="1048957" cy="1498065"/>
          </a:xfrm>
          <a:prstGeom prst="line">
            <a:avLst/>
          </a:prstGeom>
          <a:noFill/>
          <a:ln w="25400">
            <a:solidFill>
              <a:schemeClr val="bg1"/>
            </a:solidFill>
            <a:prstDash val="solid"/>
          </a:ln>
        </p:spPr>
      </p:sp>
      <p:sp>
        <p:nvSpPr>
          <p:cNvPr id="16" name="Persona center"/>
          <p:cNvSpPr/>
          <p:nvPr/>
        </p:nvSpPr>
        <p:spPr>
          <a:xfrm>
            <a:off x="2286000" y="3337560"/>
            <a:ext cx="1005840" cy="10058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dirty="0">
                <a:solidFill>
                  <a:schemeClr val="tx1"/>
                </a:solidFill>
                <a:latin typeface="Clash Grotesk Medium" pitchFamily="34" charset="0"/>
                <a:ea typeface="Clash Grotesk Medium" pitchFamily="34" charset="-122"/>
                <a:cs typeface="Clash Grotesk Medium" pitchFamily="34" charset="-120"/>
              </a:rPr>
              <a:t>Persona</a:t>
            </a:r>
            <a:endParaRPr lang="en-US" sz="1300" dirty="0"/>
          </a:p>
        </p:txBody>
      </p:sp>
      <p:sp>
        <p:nvSpPr>
          <p:cNvPr id="17" name="Gains label"/>
          <p:cNvSpPr txBox="1"/>
          <p:nvPr/>
        </p:nvSpPr>
        <p:spPr>
          <a:xfrm>
            <a:off x="1234440" y="3383280"/>
            <a:ext cx="1005840" cy="329184"/>
          </a:xfrm>
          <a:prstGeom prst="rect">
            <a:avLst/>
          </a:prstGeom>
          <a:noFill/>
          <a:ln/>
        </p:spPr>
        <p:txBody>
          <a:bodyPr wrap="square" lIns="0" tIns="0" rIns="0" bIns="0" rtlCol="0" anchor="t"/>
          <a:lstStyle/>
          <a:p>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Gains</a:t>
            </a:r>
            <a:endParaRPr lang="en-US" sz="1800" dirty="0"/>
          </a:p>
        </p:txBody>
      </p:sp>
      <p:sp>
        <p:nvSpPr>
          <p:cNvPr id="18" name="Gain"/>
          <p:cNvSpPr/>
          <p:nvPr/>
        </p:nvSpPr>
        <p:spPr>
          <a:xfrm>
            <a:off x="1463040" y="2606040"/>
            <a:ext cx="1280160" cy="640080"/>
          </a:xfrm>
          <a:prstGeom prst="roundRect">
            <a:avLst>
              <a:gd name="adj" fmla="val 11429"/>
            </a:avLst>
          </a:prstGeom>
          <a:solidFill>
            <a:srgbClr val="62D1AE"/>
          </a:solidFill>
          <a:ln w="15875">
            <a:solidFill>
              <a:srgbClr val="62D1AE"/>
            </a:solidFill>
          </a:ln>
        </p:spPr>
        <p:txBody>
          <a:bodyPr wrap="square" lIns="25400" tIns="50800" rIns="50800" bIns="25400" rtlCol="0" anchor="ctr"/>
          <a:lstStyle/>
          <a:p>
            <a:pPr algn="ctr" indent="0" marL="0">
              <a:buNone/>
            </a:pPr>
            <a:r>
              <a:rPr lang="en-US" sz="1600" dirty="0">
                <a:solidFill>
                  <a:schemeClr val="tx1"/>
                </a:solidFill>
                <a:latin typeface="PP Mori" pitchFamily="34" charset="0"/>
                <a:ea typeface="PP Mori" pitchFamily="34" charset="-122"/>
                <a:cs typeface="PP Mori" pitchFamily="34" charset="-120"/>
              </a:rPr>
              <a:t>Defensible call</a:t>
            </a:r>
            <a:endParaRPr lang="en-US" sz="1600" dirty="0"/>
          </a:p>
        </p:txBody>
      </p:sp>
      <p:sp>
        <p:nvSpPr>
          <p:cNvPr id="19" name="Pains label"/>
          <p:cNvSpPr txBox="1"/>
          <p:nvPr/>
        </p:nvSpPr>
        <p:spPr>
          <a:xfrm>
            <a:off x="1234440" y="4005072"/>
            <a:ext cx="1005840" cy="329184"/>
          </a:xfrm>
          <a:prstGeom prst="rect">
            <a:avLst/>
          </a:prstGeom>
          <a:noFill/>
          <a:ln/>
        </p:spPr>
        <p:txBody>
          <a:bodyPr wrap="square" lIns="0" tIns="0" rIns="0" bIns="0" rtlCol="0" anchor="t"/>
          <a:lstStyle/>
          <a:p>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Pains</a:t>
            </a:r>
            <a:endParaRPr lang="en-US" sz="1800" dirty="0"/>
          </a:p>
        </p:txBody>
      </p:sp>
      <p:sp>
        <p:nvSpPr>
          <p:cNvPr id="20" name="Pain"/>
          <p:cNvSpPr/>
          <p:nvPr/>
        </p:nvSpPr>
        <p:spPr>
          <a:xfrm>
            <a:off x="1508760" y="4480560"/>
            <a:ext cx="1280160" cy="640080"/>
          </a:xfrm>
          <a:prstGeom prst="roundRect">
            <a:avLst>
              <a:gd name="adj" fmla="val 11429"/>
            </a:avLst>
          </a:prstGeom>
          <a:solidFill>
            <a:srgbClr val="FFB4B4"/>
          </a:solidFill>
          <a:ln w="15875">
            <a:solidFill>
              <a:srgbClr val="FFB4B4"/>
            </a:solidFill>
          </a:ln>
        </p:spPr>
        <p:txBody>
          <a:bodyPr wrap="square" lIns="25400" tIns="50800" rIns="50800" bIns="25400" rtlCol="0" anchor="ctr"/>
          <a:lstStyle/>
          <a:p>
            <a:pPr algn="ctr" indent="0" marL="0">
              <a:buNone/>
            </a:pPr>
            <a:r>
              <a:rPr lang="en-US" sz="1600" dirty="0">
                <a:solidFill>
                  <a:schemeClr val="tx1"/>
                </a:solidFill>
                <a:latin typeface="PP Mori" pitchFamily="34" charset="0"/>
                <a:ea typeface="PP Mori" pitchFamily="34" charset="-122"/>
                <a:cs typeface="PP Mori" pitchFamily="34" charset="-120"/>
              </a:rPr>
              <a:t>Conflicting reports</a:t>
            </a:r>
            <a:endParaRPr lang="en-US" sz="1600" dirty="0"/>
          </a:p>
        </p:txBody>
      </p:sp>
      <p:sp>
        <p:nvSpPr>
          <p:cNvPr id="21" name="Jobs label"/>
          <p:cNvSpPr txBox="1"/>
          <p:nvPr/>
        </p:nvSpPr>
        <p:spPr>
          <a:xfrm>
            <a:off x="3429000" y="2788920"/>
            <a:ext cx="914400" cy="329184"/>
          </a:xfrm>
          <a:prstGeom prst="rect">
            <a:avLst/>
          </a:prstGeom>
          <a:noFill/>
          <a:ln/>
        </p:spPr>
        <p:txBody>
          <a:bodyPr wrap="square" lIns="0" tIns="0" rIns="0" bIns="0" rtlCol="0" anchor="t"/>
          <a:lstStyle/>
          <a:p>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Jobs</a:t>
            </a:r>
            <a:endParaRPr lang="en-US" sz="1800" dirty="0"/>
          </a:p>
        </p:txBody>
      </p:sp>
      <p:sp>
        <p:nvSpPr>
          <p:cNvPr id="22" name="Job"/>
          <p:cNvSpPr/>
          <p:nvPr/>
        </p:nvSpPr>
        <p:spPr>
          <a:xfrm>
            <a:off x="3291840" y="3291840"/>
            <a:ext cx="1280160" cy="640080"/>
          </a:xfrm>
          <a:prstGeom prst="roundRect">
            <a:avLst>
              <a:gd name="adj" fmla="val 11429"/>
            </a:avLst>
          </a:prstGeom>
          <a:solidFill>
            <a:srgbClr val="FFD58A"/>
          </a:solidFill>
          <a:ln w="15875">
            <a:solidFill>
              <a:srgbClr val="FFD58A"/>
            </a:solidFill>
          </a:ln>
        </p:spPr>
        <p:txBody>
          <a:bodyPr wrap="square" lIns="25400" tIns="50800" rIns="50800" bIns="25400" rtlCol="0" anchor="ctr"/>
          <a:lstStyle/>
          <a:p>
            <a:pPr algn="ctr" indent="0" marL="0">
              <a:buNone/>
            </a:pPr>
            <a:r>
              <a:rPr lang="en-US" sz="1600" dirty="0">
                <a:solidFill>
                  <a:schemeClr val="tx1"/>
                </a:solidFill>
                <a:latin typeface="PP Mori" pitchFamily="34" charset="0"/>
                <a:ea typeface="PP Mori" pitchFamily="34" charset="-122"/>
                <a:cs typeface="PP Mori" pitchFamily="34" charset="-120"/>
              </a:rPr>
              <a:t>Pick what to check</a:t>
            </a:r>
            <a:endParaRPr lang="en-US" sz="1600" dirty="0"/>
          </a:p>
        </p:txBody>
      </p:sp>
      <p:sp>
        <p:nvSpPr>
          <p:cNvPr id="23" name="Pick header 1"/>
          <p:cNvSpPr txBox="1"/>
          <p:nvPr/>
        </p:nvSpPr>
        <p:spPr>
          <a:xfrm>
            <a:off x="4937760" y="2011680"/>
            <a:ext cx="2926080" cy="292608"/>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Top job</a:t>
            </a:r>
            <a:endParaRPr lang="en-US" sz="1600" dirty="0"/>
          </a:p>
        </p:txBody>
      </p:sp>
      <p:sp>
        <p:nvSpPr>
          <p:cNvPr id="24" name="Pick card 1"/>
          <p:cNvSpPr/>
          <p:nvPr/>
        </p:nvSpPr>
        <p:spPr>
          <a:xfrm>
            <a:off x="4937760" y="2322576"/>
            <a:ext cx="2926080" cy="777240"/>
          </a:xfrm>
          <a:prstGeom prst="roundRect">
            <a:avLst>
              <a:gd name="adj" fmla="val 11765"/>
            </a:avLst>
          </a:prstGeom>
          <a:solidFill>
            <a:schemeClr val="bg1"/>
          </a:solidFill>
          <a:ln w="12700">
            <a:solidFill>
              <a:schemeClr val="bg1"/>
            </a:solidFill>
            <a:prstDash val="solid"/>
          </a:ln>
        </p:spPr>
      </p:sp>
      <p:sp>
        <p:nvSpPr>
          <p:cNvPr id="25" name="Pick text 1"/>
          <p:cNvSpPr/>
          <p:nvPr/>
        </p:nvSpPr>
        <p:spPr>
          <a:xfrm>
            <a:off x="5029200" y="2395728"/>
            <a:ext cx="2743200" cy="630936"/>
          </a:xfrm>
          <a:prstGeom prst="roundRect">
            <a:avLst>
              <a:gd name="adj" fmla="val 11594"/>
            </a:avLst>
          </a:prstGeom>
          <a:solidFill>
            <a:srgbClr val="FFD58A"/>
          </a:solidFill>
          <a:ln w="15875">
            <a:solidFill>
              <a:srgbClr val="FFD58A"/>
            </a:solidFill>
          </a:ln>
        </p:spPr>
        <p:txBody>
          <a:bodyPr wrap="square" lIns="50800" tIns="101600" rIns="101600" bIns="508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Pick what to check next</a:t>
            </a:r>
            <a:endParaRPr lang="en-US" sz="1800" dirty="0"/>
          </a:p>
        </p:txBody>
      </p:sp>
      <p:sp>
        <p:nvSpPr>
          <p:cNvPr id="26" name="Pick header 2"/>
          <p:cNvSpPr txBox="1"/>
          <p:nvPr/>
        </p:nvSpPr>
        <p:spPr>
          <a:xfrm>
            <a:off x="4937760" y="3200400"/>
            <a:ext cx="2926080" cy="292608"/>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Top gain</a:t>
            </a:r>
            <a:endParaRPr lang="en-US" sz="1600" dirty="0"/>
          </a:p>
        </p:txBody>
      </p:sp>
      <p:sp>
        <p:nvSpPr>
          <p:cNvPr id="27" name="Pick card 2"/>
          <p:cNvSpPr/>
          <p:nvPr/>
        </p:nvSpPr>
        <p:spPr>
          <a:xfrm>
            <a:off x="4937760" y="3511296"/>
            <a:ext cx="2926080" cy="777240"/>
          </a:xfrm>
          <a:prstGeom prst="roundRect">
            <a:avLst>
              <a:gd name="adj" fmla="val 11765"/>
            </a:avLst>
          </a:prstGeom>
          <a:solidFill>
            <a:schemeClr val="bg1"/>
          </a:solidFill>
          <a:ln w="12700">
            <a:solidFill>
              <a:schemeClr val="bg1"/>
            </a:solidFill>
            <a:prstDash val="solid"/>
          </a:ln>
        </p:spPr>
      </p:sp>
      <p:sp>
        <p:nvSpPr>
          <p:cNvPr id="28" name="Pick text 2"/>
          <p:cNvSpPr/>
          <p:nvPr/>
        </p:nvSpPr>
        <p:spPr>
          <a:xfrm>
            <a:off x="5029200" y="3584448"/>
            <a:ext cx="2743200" cy="630936"/>
          </a:xfrm>
          <a:prstGeom prst="roundRect">
            <a:avLst>
              <a:gd name="adj" fmla="val 11594"/>
            </a:avLst>
          </a:prstGeom>
          <a:solidFill>
            <a:srgbClr val="62D1AE"/>
          </a:solidFill>
          <a:ln w="15875">
            <a:solidFill>
              <a:srgbClr val="62D1AE"/>
            </a:solidFill>
          </a:ln>
        </p:spPr>
        <p:txBody>
          <a:bodyPr wrap="square" lIns="50800" tIns="101600" rIns="101600" bIns="508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Explain it fast</a:t>
            </a:r>
            <a:endParaRPr lang="en-US" sz="1800" dirty="0"/>
          </a:p>
        </p:txBody>
      </p:sp>
      <p:sp>
        <p:nvSpPr>
          <p:cNvPr id="29" name="Pick header 3"/>
          <p:cNvSpPr txBox="1"/>
          <p:nvPr/>
        </p:nvSpPr>
        <p:spPr>
          <a:xfrm>
            <a:off x="4937760" y="4389120"/>
            <a:ext cx="2926080" cy="292608"/>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Top pain</a:t>
            </a:r>
            <a:endParaRPr lang="en-US" sz="1600" dirty="0"/>
          </a:p>
        </p:txBody>
      </p:sp>
      <p:sp>
        <p:nvSpPr>
          <p:cNvPr id="30" name="Pick card 3"/>
          <p:cNvSpPr/>
          <p:nvPr/>
        </p:nvSpPr>
        <p:spPr>
          <a:xfrm>
            <a:off x="4937760" y="4700016"/>
            <a:ext cx="2926080" cy="777240"/>
          </a:xfrm>
          <a:prstGeom prst="roundRect">
            <a:avLst>
              <a:gd name="adj" fmla="val 11765"/>
            </a:avLst>
          </a:prstGeom>
          <a:solidFill>
            <a:schemeClr val="bg1"/>
          </a:solidFill>
          <a:ln w="12700">
            <a:solidFill>
              <a:schemeClr val="bg1"/>
            </a:solidFill>
            <a:prstDash val="solid"/>
          </a:ln>
        </p:spPr>
      </p:sp>
      <p:sp>
        <p:nvSpPr>
          <p:cNvPr id="31" name="Pick text 3"/>
          <p:cNvSpPr/>
          <p:nvPr/>
        </p:nvSpPr>
        <p:spPr>
          <a:xfrm>
            <a:off x="5029200" y="4773168"/>
            <a:ext cx="2743200" cy="630936"/>
          </a:xfrm>
          <a:prstGeom prst="roundRect">
            <a:avLst>
              <a:gd name="adj" fmla="val 11594"/>
            </a:avLst>
          </a:prstGeom>
          <a:solidFill>
            <a:srgbClr val="FFB4B4"/>
          </a:solidFill>
          <a:ln w="15875">
            <a:solidFill>
              <a:srgbClr val="FFB4B4"/>
            </a:solidFill>
          </a:ln>
        </p:spPr>
        <p:txBody>
          <a:bodyPr wrap="square" lIns="50800" tIns="101600" rIns="101600" bIns="508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Reports disagree</a:t>
            </a:r>
            <a:endParaRPr lang="en-US" sz="1800" dirty="0"/>
          </a:p>
        </p:txBody>
      </p:sp>
      <p:sp>
        <p:nvSpPr>
          <p:cNvPr id="32" name="Framing statement card"/>
          <p:cNvSpPr/>
          <p:nvPr/>
        </p:nvSpPr>
        <p:spPr>
          <a:xfrm>
            <a:off x="8092440" y="2011680"/>
            <a:ext cx="3246120" cy="3429000"/>
          </a:xfrm>
          <a:prstGeom prst="roundRect">
            <a:avLst>
              <a:gd name="adj" fmla="val 4225"/>
            </a:avLst>
          </a:prstGeom>
          <a:solidFill>
            <a:schemeClr val="bg1"/>
          </a:solidFill>
          <a:ln w="12700">
            <a:solidFill>
              <a:schemeClr val="bg1"/>
            </a:solidFill>
            <a:prstDash val="solid"/>
          </a:ln>
        </p:spPr>
      </p:sp>
      <p:sp>
        <p:nvSpPr>
          <p:cNvPr id="33" name="Framing statement"/>
          <p:cNvSpPr txBox="1"/>
          <p:nvPr/>
        </p:nvSpPr>
        <p:spPr>
          <a:xfrm>
            <a:off x="8275320" y="2148840"/>
            <a:ext cx="2926080" cy="315468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latin typeface="PP Mori" pitchFamily="34" charset="0"/>
                <a:ea typeface="PP Mori" pitchFamily="34" charset="-122"/>
                <a:cs typeface="PP Mori" pitchFamily="34" charset="-120"/>
              </a:rPr>
              <a:t>I am </a:t>
            </a:r>
            <a:pPr indent="0" marL="0">
              <a:spcAft>
                <a:spcPts val="800"/>
              </a:spcAft>
              <a:buNone/>
            </a:pPr>
            <a:r>
              <a:rPr lang="en-US" sz="1800" dirty="0">
                <a:solidFill>
                  <a:schemeClr val="tx1"/>
                </a:solidFill>
                <a:latin typeface="PP Mori" pitchFamily="34" charset="0"/>
                <a:ea typeface="PP Mori" pitchFamily="34" charset="-122"/>
                <a:cs typeface="PP Mori" pitchFamily="34" charset="-120"/>
              </a:rPr>
              <a:t>a maintenance manager.</a:t>
            </a:r>
            <a:endParaRPr lang="en-US" sz="1800" dirty="0"/>
          </a:p>
          <a:p>
            <a:pPr indent="0" marL="0">
              <a:spcAft>
                <a:spcPts val="800"/>
              </a:spcAft>
              <a:buNone/>
            </a:pPr>
            <a:r>
              <a:rPr lang="en-US" sz="1800" b="1" dirty="0">
                <a:solidFill>
                  <a:schemeClr val="tx1"/>
                </a:solidFill>
                <a:latin typeface="PP Mori" pitchFamily="34" charset="0"/>
                <a:ea typeface="PP Mori" pitchFamily="34" charset="-122"/>
                <a:cs typeface="PP Mori" pitchFamily="34" charset="-120"/>
              </a:rPr>
              <a:t>Trying to </a:t>
            </a:r>
            <a:pPr indent="0" marL="0">
              <a:spcAft>
                <a:spcPts val="800"/>
              </a:spcAft>
              <a:buNone/>
            </a:pPr>
            <a:r>
              <a:rPr lang="en-US" sz="1800" dirty="0">
                <a:solidFill>
                  <a:schemeClr val="tx1"/>
                </a:solidFill>
                <a:latin typeface="PP Mori" pitchFamily="34" charset="0"/>
                <a:ea typeface="PP Mori" pitchFamily="34" charset="-122"/>
                <a:cs typeface="PP Mori" pitchFamily="34" charset="-120"/>
              </a:rPr>
              <a:t>pick what to check next.</a:t>
            </a:r>
            <a:endParaRPr lang="en-US" sz="1800" dirty="0"/>
          </a:p>
          <a:p>
            <a:pPr indent="0" marL="0">
              <a:spcAft>
                <a:spcPts val="800"/>
              </a:spcAft>
              <a:buNone/>
            </a:pPr>
            <a:r>
              <a:rPr lang="en-US" sz="1800" b="1" dirty="0">
                <a:solidFill>
                  <a:schemeClr val="tx1"/>
                </a:solidFill>
                <a:latin typeface="PP Mori" pitchFamily="34" charset="0"/>
                <a:ea typeface="PP Mori" pitchFamily="34" charset="-122"/>
                <a:cs typeface="PP Mori" pitchFamily="34" charset="-120"/>
              </a:rPr>
              <a:t>But </a:t>
            </a:r>
            <a:pPr indent="0" marL="0">
              <a:spcAft>
                <a:spcPts val="800"/>
              </a:spcAft>
              <a:buNone/>
            </a:pPr>
            <a:r>
              <a:rPr lang="en-US" sz="1800" dirty="0">
                <a:solidFill>
                  <a:schemeClr val="tx1"/>
                </a:solidFill>
                <a:latin typeface="PP Mori" pitchFamily="34" charset="0"/>
                <a:ea typeface="PP Mori" pitchFamily="34" charset="-122"/>
                <a:cs typeface="PP Mori" pitchFamily="34" charset="-120"/>
              </a:rPr>
              <a:t>the reports disagree.</a:t>
            </a:r>
            <a:endParaRPr lang="en-US" sz="1800" dirty="0"/>
          </a:p>
          <a:p>
            <a:pPr indent="0" marL="0">
              <a:spcAft>
                <a:spcPts val="800"/>
              </a:spcAft>
              <a:buNone/>
            </a:pPr>
            <a:r>
              <a:rPr lang="en-US" sz="1800" b="1" dirty="0">
                <a:solidFill>
                  <a:schemeClr val="tx1"/>
                </a:solidFill>
                <a:latin typeface="PP Mori" pitchFamily="34" charset="0"/>
                <a:ea typeface="PP Mori" pitchFamily="34" charset="-122"/>
                <a:cs typeface="PP Mori" pitchFamily="34" charset="-120"/>
              </a:rPr>
              <a:t>Because </a:t>
            </a:r>
            <a:pPr indent="0" marL="0">
              <a:spcAft>
                <a:spcPts val="800"/>
              </a:spcAft>
              <a:buNone/>
            </a:pPr>
            <a:r>
              <a:rPr lang="en-US" sz="1800" dirty="0">
                <a:solidFill>
                  <a:schemeClr val="tx1"/>
                </a:solidFill>
                <a:latin typeface="PP Mori" pitchFamily="34" charset="0"/>
                <a:ea typeface="PP Mori" pitchFamily="34" charset="-122"/>
                <a:cs typeface="PP Mori" pitchFamily="34" charset="-120"/>
              </a:rPr>
              <a:t>source and timing are hidden.</a:t>
            </a:r>
            <a:endParaRPr lang="en-US" sz="1800" dirty="0"/>
          </a:p>
          <a:p>
            <a:pPr indent="0" marL="0">
              <a:spcAft>
                <a:spcPts val="800"/>
              </a:spcAft>
              <a:buNone/>
            </a:pPr>
            <a:r>
              <a:rPr lang="en-US" sz="1800" b="1" dirty="0">
                <a:solidFill>
                  <a:schemeClr val="tx1"/>
                </a:solidFill>
                <a:latin typeface="PP Mori" pitchFamily="34" charset="0"/>
                <a:ea typeface="PP Mori" pitchFamily="34" charset="-122"/>
                <a:cs typeface="PP Mori" pitchFamily="34" charset="-120"/>
              </a:rPr>
              <a:t>Makes me feel </a:t>
            </a:r>
            <a:pPr indent="0" marL="0">
              <a:spcAft>
                <a:spcPts val="800"/>
              </a:spcAft>
              <a:buNone/>
            </a:pPr>
            <a:r>
              <a:rPr lang="en-US" sz="1800" dirty="0">
                <a:solidFill>
                  <a:schemeClr val="tx1"/>
                </a:solidFill>
                <a:latin typeface="PP Mori" pitchFamily="34" charset="0"/>
                <a:ea typeface="PP Mori" pitchFamily="34" charset="-122"/>
                <a:cs typeface="PP Mori" pitchFamily="34" charset="-120"/>
              </a:rPr>
              <a:t>unsure.</a:t>
            </a:r>
            <a:endParaRPr lang="en-US" sz="1800" dirty="0"/>
          </a:p>
        </p:txBody>
      </p:sp>
      <p:sp>
        <p:nvSpPr>
          <p:cNvPr id="34" name="Canvas footnote"/>
          <p:cNvSpPr txBox="1"/>
          <p:nvPr/>
        </p:nvSpPr>
        <p:spPr>
          <a:xfrm>
            <a:off x="8092440" y="5504688"/>
            <a:ext cx="3246120" cy="228600"/>
          </a:xfrm>
          <a:prstGeom prst="rect">
            <a:avLst/>
          </a:prstGeom>
          <a:noFill/>
          <a:ln/>
        </p:spPr>
        <p:txBody>
          <a:bodyPr wrap="square" lIns="0" tIns="0" rIns="0" bIns="0" rtlCol="0" anchor="t"/>
          <a:lstStyle/>
          <a:p>
            <a:pPr algn="r" indent="0" marL="0">
              <a:buNone/>
            </a:pPr>
            <a:r>
              <a:rPr lang="en-US" sz="1200" dirty="0">
                <a:solidFill>
                  <a:srgbClr val="B3B3B3"/>
                </a:solidFill>
                <a:latin typeface="PP Mori" pitchFamily="34" charset="0"/>
                <a:ea typeface="PP Mori" pitchFamily="34" charset="-122"/>
                <a:cs typeface="PP Mori" pitchFamily="34" charset="-120"/>
              </a:rPr>
              <a:t>SYNTHETIC. All ESTIMATE.</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03</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Proto-Persona</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Who is this person, in what situation, trying to make what progress?</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3904488"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SITUATIONAL PERSONA</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A hypothesis, not a customer we interviewed.</a:t>
            </a:r>
            <a:endParaRPr lang="en-US" sz="1600" dirty="0"/>
          </a:p>
        </p:txBody>
      </p:sp>
      <p:sp>
        <p:nvSpPr>
          <p:cNvPr id="9" name="Name card"/>
          <p:cNvSpPr/>
          <p:nvPr/>
        </p:nvSpPr>
        <p:spPr>
          <a:xfrm>
            <a:off x="822960" y="1554480"/>
            <a:ext cx="3017520" cy="960120"/>
          </a:xfrm>
          <a:prstGeom prst="roundRect">
            <a:avLst>
              <a:gd name="adj" fmla="val 9524"/>
            </a:avLst>
          </a:prstGeom>
          <a:solidFill>
            <a:schemeClr val="tx2"/>
          </a:solidFill>
          <a:ln w="15875">
            <a:solidFill>
              <a:schemeClr val="bg1"/>
            </a:solidFill>
            <a:prstDash val="solid"/>
          </a:ln>
        </p:spPr>
      </p:sp>
      <p:sp>
        <p:nvSpPr>
          <p:cNvPr id="10" name="Name label"/>
          <p:cNvSpPr txBox="1"/>
          <p:nvPr/>
        </p:nvSpPr>
        <p:spPr>
          <a:xfrm>
            <a:off x="960120" y="1645920"/>
            <a:ext cx="27432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NAME</a:t>
            </a:r>
            <a:endParaRPr lang="en-US" sz="1400" dirty="0"/>
          </a:p>
        </p:txBody>
      </p:sp>
      <p:sp>
        <p:nvSpPr>
          <p:cNvPr id="11" name="Persona name"/>
          <p:cNvSpPr/>
          <p:nvPr/>
        </p:nvSpPr>
        <p:spPr>
          <a:xfrm>
            <a:off x="960120" y="1920240"/>
            <a:ext cx="2743200" cy="457200"/>
          </a:xfrm>
          <a:prstGeom prst="roundRect">
            <a:avLst>
              <a:gd name="adj" fmla="val 12000"/>
            </a:avLst>
          </a:prstGeom>
          <a:solidFill>
            <a:srgbClr val="B3F1FF"/>
          </a:solidFill>
          <a:ln w="15875">
            <a:solidFill>
              <a:srgbClr val="B3F1FF"/>
            </a:solidFill>
          </a:ln>
        </p:spPr>
        <p:txBody>
          <a:bodyPr wrap="square" lIns="50800" tIns="101600" rIns="101600" bIns="50800" rtlCol="0" anchor="ctr"/>
          <a:lstStyle/>
          <a:p>
            <a:pPr algn="l"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Maintenance manager</a:t>
            </a:r>
            <a:endParaRPr lang="en-US" sz="1800" dirty="0"/>
          </a:p>
        </p:txBody>
      </p:sp>
      <p:sp>
        <p:nvSpPr>
          <p:cNvPr id="12" name="Portrait card"/>
          <p:cNvSpPr/>
          <p:nvPr/>
        </p:nvSpPr>
        <p:spPr>
          <a:xfrm>
            <a:off x="822960" y="2606040"/>
            <a:ext cx="3017520" cy="3063240"/>
          </a:xfrm>
          <a:prstGeom prst="roundRect">
            <a:avLst>
              <a:gd name="adj" fmla="val 3030"/>
            </a:avLst>
          </a:prstGeom>
          <a:solidFill>
            <a:schemeClr val="tx2"/>
          </a:solidFill>
          <a:ln w="15875">
            <a:solidFill>
              <a:schemeClr val="bg1"/>
            </a:solidFill>
            <a:prstDash val="solid"/>
          </a:ln>
        </p:spPr>
      </p:sp>
      <p:sp>
        <p:nvSpPr>
          <p:cNvPr id="13" name="Portrait label"/>
          <p:cNvSpPr txBox="1"/>
          <p:nvPr/>
        </p:nvSpPr>
        <p:spPr>
          <a:xfrm>
            <a:off x="960120" y="2697480"/>
            <a:ext cx="27432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PORTRAIT</a:t>
            </a:r>
            <a:endParaRPr lang="en-US" sz="1400" dirty="0"/>
          </a:p>
        </p:txBody>
      </p:sp>
      <p:sp>
        <p:nvSpPr>
          <p:cNvPr id="14" name="Portrait head"/>
          <p:cNvSpPr/>
          <p:nvPr/>
        </p:nvSpPr>
        <p:spPr>
          <a:xfrm>
            <a:off x="1828800" y="3108960"/>
            <a:ext cx="1005840" cy="1005840"/>
          </a:xfrm>
          <a:prstGeom prst="ellipse">
            <a:avLst/>
          </a:prstGeom>
          <a:ln w="50800">
            <a:solidFill>
              <a:srgbClr val="7A7A7A"/>
            </a:solidFill>
            <a:prstDash val="solid"/>
          </a:ln>
        </p:spPr>
      </p:sp>
      <p:sp>
        <p:nvSpPr>
          <p:cNvPr id="15" name="Portrait shoulders"/>
          <p:cNvSpPr/>
          <p:nvPr/>
        </p:nvSpPr>
        <p:spPr>
          <a:xfrm>
            <a:off x="1554480" y="4251960"/>
            <a:ext cx="1554480" cy="868680"/>
          </a:xfrm>
          <a:prstGeom prst="round2SameRect">
            <a:avLst/>
          </a:prstGeom>
          <a:ln w="50800">
            <a:solidFill>
              <a:srgbClr val="7A7A7A"/>
            </a:solidFill>
            <a:prstDash val="solid"/>
          </a:ln>
        </p:spPr>
      </p:sp>
      <p:sp>
        <p:nvSpPr>
          <p:cNvPr id="16" name="Portrait note"/>
          <p:cNvSpPr txBox="1"/>
          <p:nvPr/>
        </p:nvSpPr>
        <p:spPr>
          <a:xfrm>
            <a:off x="960120" y="5257800"/>
            <a:ext cx="2743200" cy="320040"/>
          </a:xfrm>
          <a:prstGeom prst="rect">
            <a:avLst/>
          </a:prstGeom>
          <a:noFill/>
          <a:ln/>
        </p:spPr>
        <p:txBody>
          <a:bodyPr wrap="square" lIns="0" tIns="0" rIns="0" bIns="0" rtlCol="0" anchor="t"/>
          <a:lstStyle/>
          <a:p>
            <a:pPr algn="ctr" indent="0" marL="0">
              <a:buNone/>
            </a:pPr>
            <a:r>
              <a:rPr lang="en-US" sz="1600" dirty="0">
                <a:solidFill>
                  <a:srgbClr val="B3B3B3"/>
                </a:solidFill>
                <a:latin typeface="PP Mori" pitchFamily="34" charset="0"/>
                <a:ea typeface="PP Mori" pitchFamily="34" charset="-122"/>
                <a:cs typeface="PP Mori" pitchFamily="34" charset="-120"/>
              </a:rPr>
              <a:t>A role, not a person</a:t>
            </a:r>
            <a:endParaRPr lang="en-US" sz="1600" dirty="0"/>
          </a:p>
        </p:txBody>
      </p:sp>
      <p:sp>
        <p:nvSpPr>
          <p:cNvPr id="17" name="Bio card"/>
          <p:cNvSpPr/>
          <p:nvPr/>
        </p:nvSpPr>
        <p:spPr>
          <a:xfrm>
            <a:off x="4023360" y="1554480"/>
            <a:ext cx="3611880" cy="2103120"/>
          </a:xfrm>
          <a:prstGeom prst="roundRect">
            <a:avLst>
              <a:gd name="adj" fmla="val 4348"/>
            </a:avLst>
          </a:prstGeom>
          <a:solidFill>
            <a:schemeClr val="tx2"/>
          </a:solidFill>
          <a:ln w="15875">
            <a:solidFill>
              <a:schemeClr val="bg1"/>
            </a:solidFill>
            <a:prstDash val="solid"/>
          </a:ln>
        </p:spPr>
      </p:sp>
      <p:sp>
        <p:nvSpPr>
          <p:cNvPr id="18" name="Bio label"/>
          <p:cNvSpPr txBox="1"/>
          <p:nvPr/>
        </p:nvSpPr>
        <p:spPr>
          <a:xfrm>
            <a:off x="4160520" y="1645920"/>
            <a:ext cx="333756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BIO</a:t>
            </a:r>
            <a:endParaRPr lang="en-US" sz="1400" dirty="0"/>
          </a:p>
        </p:txBody>
      </p:sp>
      <p:sp>
        <p:nvSpPr>
          <p:cNvPr id="19" name="Bio 1"/>
          <p:cNvSpPr/>
          <p:nvPr/>
        </p:nvSpPr>
        <p:spPr>
          <a:xfrm>
            <a:off x="4160520" y="1965960"/>
            <a:ext cx="3337560" cy="457200"/>
          </a:xfrm>
          <a:prstGeom prst="roundRect">
            <a:avLst>
              <a:gd name="adj" fmla="val 12000"/>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Mid-sized plant</a:t>
            </a:r>
            <a:endParaRPr lang="en-US" sz="1800" dirty="0"/>
          </a:p>
        </p:txBody>
      </p:sp>
      <p:sp>
        <p:nvSpPr>
          <p:cNvPr id="20" name="Bio 2"/>
          <p:cNvSpPr/>
          <p:nvPr/>
        </p:nvSpPr>
        <p:spPr>
          <a:xfrm>
            <a:off x="4160520" y="2514600"/>
            <a:ext cx="3337560" cy="457200"/>
          </a:xfrm>
          <a:prstGeom prst="roundRect">
            <a:avLst>
              <a:gd name="adj" fmla="val 12000"/>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Reports conflict</a:t>
            </a:r>
            <a:endParaRPr lang="en-US" sz="1800" dirty="0"/>
          </a:p>
        </p:txBody>
      </p:sp>
      <p:sp>
        <p:nvSpPr>
          <p:cNvPr id="21" name="Bio 3"/>
          <p:cNvSpPr/>
          <p:nvPr/>
        </p:nvSpPr>
        <p:spPr>
          <a:xfrm>
            <a:off x="4160520" y="3063240"/>
            <a:ext cx="3337560" cy="457200"/>
          </a:xfrm>
          <a:prstGeom prst="roundRect">
            <a:avLst>
              <a:gd name="adj" fmla="val 12000"/>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Checks logs, asks a tech</a:t>
            </a:r>
            <a:endParaRPr lang="en-US" sz="1800" dirty="0"/>
          </a:p>
        </p:txBody>
      </p:sp>
      <p:sp>
        <p:nvSpPr>
          <p:cNvPr id="22" name="Quotes card"/>
          <p:cNvSpPr/>
          <p:nvPr/>
        </p:nvSpPr>
        <p:spPr>
          <a:xfrm>
            <a:off x="7772400" y="1554480"/>
            <a:ext cx="3566160" cy="2103120"/>
          </a:xfrm>
          <a:prstGeom prst="roundRect">
            <a:avLst>
              <a:gd name="adj" fmla="val 4348"/>
            </a:avLst>
          </a:prstGeom>
          <a:solidFill>
            <a:schemeClr val="tx2"/>
          </a:solidFill>
          <a:ln w="15875">
            <a:solidFill>
              <a:schemeClr val="bg1"/>
            </a:solidFill>
            <a:prstDash val="solid"/>
          </a:ln>
        </p:spPr>
      </p:sp>
      <p:sp>
        <p:nvSpPr>
          <p:cNvPr id="23" name="Quotes label"/>
          <p:cNvSpPr txBox="1"/>
          <p:nvPr/>
        </p:nvSpPr>
        <p:spPr>
          <a:xfrm>
            <a:off x="7909560" y="1645920"/>
            <a:ext cx="329184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QUOTES</a:t>
            </a:r>
            <a:endParaRPr lang="en-US" sz="1400" dirty="0"/>
          </a:p>
        </p:txBody>
      </p:sp>
      <p:sp>
        <p:nvSpPr>
          <p:cNvPr id="24" name="Pill UNKNOWN"/>
          <p:cNvSpPr/>
          <p:nvPr/>
        </p:nvSpPr>
        <p:spPr>
          <a:xfrm>
            <a:off x="8595360" y="2194560"/>
            <a:ext cx="1920240" cy="502920"/>
          </a:xfrm>
          <a:prstGeom prst="roundRect">
            <a:avLst>
              <a:gd name="adj" fmla="val 50000"/>
            </a:avLst>
          </a:prstGeom>
          <a:solidFill>
            <a:schemeClr val="accent4"/>
          </a:solidFill>
          <a:ln/>
        </p:spPr>
        <p:txBody>
          <a:bodyPr wrap="square" lIns="0" tIns="0" rIns="0" bIns="0" rtlCol="0" anchor="ctr"/>
          <a:lstStyle/>
          <a:p>
            <a:pPr algn="ctr" indent="0" marL="0">
              <a:buNone/>
            </a:pPr>
            <a:r>
              <a:rPr lang="en-US" sz="1800" spc="150" kern="0" dirty="0">
                <a:solidFill>
                  <a:schemeClr val="tx1"/>
                </a:solidFill>
                <a:latin typeface="Clash Display Semibold" pitchFamily="34" charset="0"/>
                <a:ea typeface="Clash Display Semibold" pitchFamily="34" charset="-122"/>
                <a:cs typeface="Clash Display Semibold" pitchFamily="34" charset="-120"/>
              </a:rPr>
              <a:t>UNKNOWN</a:t>
            </a:r>
            <a:endParaRPr lang="en-US" sz="1800" dirty="0"/>
          </a:p>
        </p:txBody>
      </p:sp>
      <p:sp>
        <p:nvSpPr>
          <p:cNvPr id="25" name="Quotes text"/>
          <p:cNvSpPr txBox="1"/>
          <p:nvPr/>
        </p:nvSpPr>
        <p:spPr>
          <a:xfrm>
            <a:off x="7909560" y="2926080"/>
            <a:ext cx="3291840" cy="457200"/>
          </a:xfrm>
          <a:prstGeom prst="rect">
            <a:avLst/>
          </a:prstGeom>
          <a:noFill/>
          <a:ln/>
        </p:spPr>
        <p:txBody>
          <a:bodyPr wrap="square" lIns="0" tIns="0" rIns="0" bIns="0" rtlCol="0" anchor="t"/>
          <a:lstStyle/>
          <a:p>
            <a:pPr algn="ctr" indent="0" marL="0">
              <a:buNone/>
            </a:pPr>
            <a:r>
              <a:rPr lang="en-US" sz="1800" dirty="0">
                <a:solidFill>
                  <a:schemeClr val="bg1"/>
                </a:solidFill>
                <a:latin typeface="PP Mori" pitchFamily="34" charset="0"/>
                <a:ea typeface="PP Mori" pitchFamily="34" charset="-122"/>
                <a:cs typeface="PP Mori" pitchFamily="34" charset="-120"/>
              </a:rPr>
              <a:t>No interviews, no quotes</a:t>
            </a:r>
            <a:endParaRPr lang="en-US" sz="1800" dirty="0"/>
          </a:p>
        </p:txBody>
      </p:sp>
      <p:sp>
        <p:nvSpPr>
          <p:cNvPr id="26" name="Outcomes card"/>
          <p:cNvSpPr/>
          <p:nvPr/>
        </p:nvSpPr>
        <p:spPr>
          <a:xfrm>
            <a:off x="4023360" y="3749040"/>
            <a:ext cx="3611880" cy="1920240"/>
          </a:xfrm>
          <a:prstGeom prst="roundRect">
            <a:avLst>
              <a:gd name="adj" fmla="val 4762"/>
            </a:avLst>
          </a:prstGeom>
          <a:solidFill>
            <a:schemeClr val="tx2"/>
          </a:solidFill>
          <a:ln w="15875">
            <a:solidFill>
              <a:schemeClr val="bg1"/>
            </a:solidFill>
            <a:prstDash val="solid"/>
          </a:ln>
        </p:spPr>
      </p:sp>
      <p:sp>
        <p:nvSpPr>
          <p:cNvPr id="27" name="Outcomes label"/>
          <p:cNvSpPr txBox="1"/>
          <p:nvPr/>
        </p:nvSpPr>
        <p:spPr>
          <a:xfrm>
            <a:off x="4160520" y="3840480"/>
            <a:ext cx="333756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OUTCOMES</a:t>
            </a:r>
            <a:endParaRPr lang="en-US" sz="1400" dirty="0"/>
          </a:p>
        </p:txBody>
      </p:sp>
      <p:sp>
        <p:nvSpPr>
          <p:cNvPr id="28" name="Outcome 1"/>
          <p:cNvSpPr/>
          <p:nvPr/>
        </p:nvSpPr>
        <p:spPr>
          <a:xfrm>
            <a:off x="4160520" y="4160520"/>
            <a:ext cx="3337560" cy="502920"/>
          </a:xfrm>
          <a:prstGeom prst="roundRect">
            <a:avLst>
              <a:gd name="adj" fmla="val 10909"/>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Clearer decisions</a:t>
            </a:r>
            <a:endParaRPr lang="en-US" sz="1800" dirty="0"/>
          </a:p>
        </p:txBody>
      </p:sp>
      <p:sp>
        <p:nvSpPr>
          <p:cNvPr id="29" name="Outcome 2"/>
          <p:cNvSpPr/>
          <p:nvPr/>
        </p:nvSpPr>
        <p:spPr>
          <a:xfrm>
            <a:off x="4160520" y="4754880"/>
            <a:ext cx="3337560" cy="502920"/>
          </a:xfrm>
          <a:prstGeom prst="roundRect">
            <a:avLst>
              <a:gd name="adj" fmla="val 10909"/>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A choice I can explain</a:t>
            </a:r>
            <a:endParaRPr lang="en-US" sz="1800" dirty="0"/>
          </a:p>
        </p:txBody>
      </p:sp>
      <p:sp>
        <p:nvSpPr>
          <p:cNvPr id="30" name="Pains card"/>
          <p:cNvSpPr/>
          <p:nvPr/>
        </p:nvSpPr>
        <p:spPr>
          <a:xfrm>
            <a:off x="7772400" y="3749040"/>
            <a:ext cx="3566160" cy="1920240"/>
          </a:xfrm>
          <a:prstGeom prst="roundRect">
            <a:avLst>
              <a:gd name="adj" fmla="val 4762"/>
            </a:avLst>
          </a:prstGeom>
          <a:solidFill>
            <a:schemeClr val="tx2"/>
          </a:solidFill>
          <a:ln w="15875">
            <a:solidFill>
              <a:schemeClr val="bg1"/>
            </a:solidFill>
            <a:prstDash val="solid"/>
          </a:ln>
        </p:spPr>
      </p:sp>
      <p:sp>
        <p:nvSpPr>
          <p:cNvPr id="31" name="Pains label"/>
          <p:cNvSpPr txBox="1"/>
          <p:nvPr/>
        </p:nvSpPr>
        <p:spPr>
          <a:xfrm>
            <a:off x="7909560" y="3840480"/>
            <a:ext cx="329184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PAINS</a:t>
            </a:r>
            <a:endParaRPr lang="en-US" sz="1400" dirty="0"/>
          </a:p>
        </p:txBody>
      </p:sp>
      <p:sp>
        <p:nvSpPr>
          <p:cNvPr id="32" name="Pain 1"/>
          <p:cNvSpPr/>
          <p:nvPr/>
        </p:nvSpPr>
        <p:spPr>
          <a:xfrm>
            <a:off x="7909560" y="4160520"/>
            <a:ext cx="3291840" cy="502920"/>
          </a:xfrm>
          <a:prstGeom prst="roundRect">
            <a:avLst>
              <a:gd name="adj" fmla="val 10909"/>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Reports disagree</a:t>
            </a:r>
            <a:endParaRPr lang="en-US" sz="1800" dirty="0"/>
          </a:p>
        </p:txBody>
      </p:sp>
      <p:sp>
        <p:nvSpPr>
          <p:cNvPr id="33" name="Pain 2"/>
          <p:cNvSpPr/>
          <p:nvPr/>
        </p:nvSpPr>
        <p:spPr>
          <a:xfrm>
            <a:off x="7909560" y="4754880"/>
            <a:ext cx="3291840" cy="502920"/>
          </a:xfrm>
          <a:prstGeom prst="roundRect">
            <a:avLst>
              <a:gd name="adj" fmla="val 10909"/>
            </a:avLst>
          </a:prstGeom>
          <a:solidFill>
            <a:srgbClr val="B3F1FF"/>
          </a:solidFill>
          <a:ln w="15875">
            <a:solidFill>
              <a:srgbClr val="B3F1FF"/>
            </a:solidFill>
          </a:ln>
        </p:spPr>
        <p:txBody>
          <a:bodyPr wrap="square" lIns="38100" tIns="101600" rIns="101600" bIns="38100" rtlCol="0" anchor="ctr"/>
          <a:lstStyle/>
          <a:p>
            <a:pPr algn="l" indent="0" marL="0">
              <a:buNone/>
            </a:pPr>
            <a:r>
              <a:rPr lang="en-US" sz="1800" dirty="0">
                <a:solidFill>
                  <a:schemeClr val="tx1"/>
                </a:solidFill>
                <a:latin typeface="PP Mori" pitchFamily="34" charset="0"/>
                <a:ea typeface="PP Mori" pitchFamily="34" charset="-122"/>
                <a:cs typeface="PP Mori" pitchFamily="34" charset="-120"/>
              </a:rPr>
              <a:t>Permission? UNKNOWN</a:t>
            </a:r>
            <a:endParaRPr lang="en-US" sz="18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Where do we play,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where do we win?</a:t>
            </a:r>
            <a:endParaRPr lang="en-US" sz="6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04</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Opportunity Solution Tree</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Which needs are worth pursuing, and which solutions and cheap experiments hang off them?</a:t>
            </a:r>
            <a:endParaRPr lang="en-US" sz="2200" dirty="0"/>
          </a:p>
        </p:txBody>
      </p:sp>
      <p:sp>
        <p:nvSpPr>
          <p:cNvPr id="5" name="Artifact pill"/>
          <p:cNvSpPr/>
          <p:nvPr/>
        </p:nvSpPr>
        <p:spPr>
          <a:xfrm>
            <a:off x="548640" y="4572000"/>
            <a:ext cx="4617720"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OPPORTUNITY SOLUTION TREE</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A dashboard is a solution candidate, not a need.</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Text 6"/>
          <p:cNvSpPr txBox="1"/>
          <p:nvPr/>
        </p:nvSpPr>
        <p:spPr>
          <a:xfrm>
            <a:off x="6492240" y="777240"/>
            <a:ext cx="1737360" cy="274320"/>
          </a:xfrm>
          <a:prstGeom prst="rect">
            <a:avLst/>
          </a:prstGeom>
          <a:noFill/>
          <a:ln/>
        </p:spPr>
        <p:txBody>
          <a:bodyPr wrap="square" lIns="0" tIns="0" rIns="0" bIns="0" rtlCol="0" anchor="t"/>
          <a:lstStyle/>
          <a:p>
            <a:pPr indent="0" marL="0">
              <a:buNone/>
            </a:pPr>
            <a:r>
              <a:rPr lang="en-US" sz="1400" spc="100" kern="0" dirty="0">
                <a:solidFill>
                  <a:schemeClr val="accent1"/>
                </a:solidFill>
                <a:latin typeface="Clash Display Semibold" pitchFamily="34" charset="0"/>
                <a:ea typeface="Clash Display Semibold" pitchFamily="34" charset="-122"/>
                <a:cs typeface="Clash Display Semibold" pitchFamily="34" charset="-120"/>
              </a:rPr>
              <a:t>OUTCOME</a:t>
            </a:r>
            <a:endParaRPr lang="en-US" sz="1400" dirty="0"/>
          </a:p>
        </p:txBody>
      </p:sp>
      <p:sp>
        <p:nvSpPr>
          <p:cNvPr id="9" name="Text 7"/>
          <p:cNvSpPr txBox="1"/>
          <p:nvPr/>
        </p:nvSpPr>
        <p:spPr>
          <a:xfrm>
            <a:off x="8092440" y="777240"/>
            <a:ext cx="1737360" cy="274320"/>
          </a:xfrm>
          <a:prstGeom prst="rect">
            <a:avLst/>
          </a:prstGeom>
          <a:noFill/>
          <a:ln/>
        </p:spPr>
        <p:txBody>
          <a:bodyPr wrap="square" lIns="0" tIns="0" rIns="0" bIns="0" rtlCol="0" anchor="t"/>
          <a:lstStyle/>
          <a:p>
            <a:pPr indent="0" marL="0">
              <a:buNone/>
            </a:pPr>
            <a:r>
              <a:rPr lang="en-US" sz="1400" spc="100" kern="0" dirty="0">
                <a:solidFill>
                  <a:schemeClr val="accent1"/>
                </a:solidFill>
                <a:latin typeface="Clash Display Semibold" pitchFamily="34" charset="0"/>
                <a:ea typeface="Clash Display Semibold" pitchFamily="34" charset="-122"/>
                <a:cs typeface="Clash Display Semibold" pitchFamily="34" charset="-120"/>
              </a:rPr>
              <a:t>NEEDS</a:t>
            </a:r>
            <a:endParaRPr lang="en-US" sz="1400" dirty="0"/>
          </a:p>
        </p:txBody>
      </p:sp>
      <p:sp>
        <p:nvSpPr>
          <p:cNvPr id="10" name="Text 8"/>
          <p:cNvSpPr txBox="1"/>
          <p:nvPr/>
        </p:nvSpPr>
        <p:spPr>
          <a:xfrm>
            <a:off x="9875520" y="777240"/>
            <a:ext cx="1737360" cy="274320"/>
          </a:xfrm>
          <a:prstGeom prst="rect">
            <a:avLst/>
          </a:prstGeom>
          <a:noFill/>
          <a:ln/>
        </p:spPr>
        <p:txBody>
          <a:bodyPr wrap="square" lIns="0" tIns="0" rIns="0" bIns="0" rtlCol="0" anchor="t"/>
          <a:lstStyle/>
          <a:p>
            <a:pPr indent="0" marL="0">
              <a:buNone/>
            </a:pPr>
            <a:r>
              <a:rPr lang="en-US" sz="1400" spc="100" kern="0" dirty="0">
                <a:solidFill>
                  <a:schemeClr val="accent1"/>
                </a:solidFill>
                <a:latin typeface="Clash Display Semibold" pitchFamily="34" charset="0"/>
                <a:ea typeface="Clash Display Semibold" pitchFamily="34" charset="-122"/>
                <a:cs typeface="Clash Display Semibold" pitchFamily="34" charset="-120"/>
              </a:rPr>
              <a:t>SOLUTIONS</a:t>
            </a:r>
            <a:endParaRPr lang="en-US" sz="1400" dirty="0"/>
          </a:p>
        </p:txBody>
      </p:sp>
      <p:sp>
        <p:nvSpPr>
          <p:cNvPr id="11" name="Outcome"/>
          <p:cNvSpPr/>
          <p:nvPr/>
        </p:nvSpPr>
        <p:spPr>
          <a:xfrm>
            <a:off x="6492240" y="2377440"/>
            <a:ext cx="137160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600" dirty="0">
                <a:solidFill>
                  <a:schemeClr val="tx1"/>
                </a:solidFill>
                <a:latin typeface="PP Mori" pitchFamily="34" charset="0"/>
                <a:ea typeface="PP Mori" pitchFamily="34" charset="-122"/>
                <a:cs typeface="PP Mori" pitchFamily="34" charset="-120"/>
              </a:rPr>
              <a:t>Clearer decisions</a:t>
            </a:r>
            <a:endParaRPr lang="en-US" sz="1600" dirty="0"/>
          </a:p>
        </p:txBody>
      </p:sp>
      <p:sp>
        <p:nvSpPr>
          <p:cNvPr id="12" name="Opportunity 1"/>
          <p:cNvSpPr/>
          <p:nvPr/>
        </p:nvSpPr>
        <p:spPr>
          <a:xfrm>
            <a:off x="8092440" y="1463040"/>
            <a:ext cx="155448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600" dirty="0">
                <a:solidFill>
                  <a:schemeClr val="tx1"/>
                </a:solidFill>
                <a:latin typeface="PP Mori" pitchFamily="34" charset="0"/>
                <a:ea typeface="PP Mori" pitchFamily="34" charset="-122"/>
                <a:cs typeface="PP Mori" pitchFamily="34" charset="-120"/>
              </a:rPr>
              <a:t>Know which report is current</a:t>
            </a:r>
            <a:endParaRPr lang="en-US" sz="1600" dirty="0"/>
          </a:p>
        </p:txBody>
      </p:sp>
      <p:sp>
        <p:nvSpPr>
          <p:cNvPr id="13" name="Opportunity 2"/>
          <p:cNvSpPr/>
          <p:nvPr/>
        </p:nvSpPr>
        <p:spPr>
          <a:xfrm>
            <a:off x="8092440" y="3749040"/>
            <a:ext cx="1554480" cy="1371600"/>
          </a:xfrm>
          <a:prstGeom prst="roundRect">
            <a:avLst>
              <a:gd name="adj" fmla="val 8000"/>
            </a:avLst>
          </a:prstGeom>
          <a:solidFill>
            <a:schemeClr val="bg1"/>
          </a:solidFill>
          <a:ln w="15875">
            <a:solidFill>
              <a:schemeClr val="bg1"/>
            </a:solidFill>
          </a:ln>
        </p:spPr>
        <p:txBody>
          <a:bodyPr wrap="square" lIns="50800" tIns="101600" rIns="101600" bIns="50800" rtlCol="0" anchor="ctr"/>
          <a:lstStyle/>
          <a:p>
            <a:pPr algn="l" indent="0" marL="0">
              <a:buNone/>
            </a:pPr>
            <a:r>
              <a:rPr lang="en-US" sz="1600" dirty="0">
                <a:solidFill>
                  <a:schemeClr val="tx1"/>
                </a:solidFill>
                <a:latin typeface="PP Mori" pitchFamily="34" charset="0"/>
                <a:ea typeface="PP Mori" pitchFamily="34" charset="-122"/>
                <a:cs typeface="PP Mori" pitchFamily="34" charset="-120"/>
              </a:rPr>
              <a:t>Get permission and coordination</a:t>
            </a:r>
            <a:endParaRPr lang="en-US" sz="1600" dirty="0"/>
          </a:p>
        </p:txBody>
      </p:sp>
      <p:sp>
        <p:nvSpPr>
          <p:cNvPr id="14" name="Solution process"/>
          <p:cNvSpPr/>
          <p:nvPr/>
        </p:nvSpPr>
        <p:spPr>
          <a:xfrm>
            <a:off x="9875520" y="2331720"/>
            <a:ext cx="1600200" cy="822960"/>
          </a:xfrm>
          <a:prstGeom prst="roundRect">
            <a:avLst>
              <a:gd name="adj" fmla="val 13333"/>
            </a:avLst>
          </a:prstGeom>
          <a:solidFill>
            <a:schemeClr val="tx2"/>
          </a:solidFill>
          <a:ln w="15875">
            <a:solidFill>
              <a:schemeClr val="bg1"/>
            </a:solidFill>
          </a:ln>
        </p:spPr>
        <p:txBody>
          <a:bodyPr wrap="square" lIns="50800" tIns="101600" rIns="101600" bIns="50800" rtlCol="0" anchor="ctr"/>
          <a:lstStyle/>
          <a:p>
            <a:pPr algn="l" indent="0" marL="0">
              <a:buNone/>
            </a:pPr>
            <a:r>
              <a:rPr lang="en-US" sz="1600" dirty="0">
                <a:solidFill>
                  <a:schemeClr val="bg1"/>
                </a:solidFill>
                <a:latin typeface="PP Mori" pitchFamily="34" charset="0"/>
                <a:ea typeface="PP Mori" pitchFamily="34" charset="-122"/>
                <a:cs typeface="PP Mori" pitchFamily="34" charset="-120"/>
              </a:rPr>
              <a:t>Process change</a:t>
            </a:r>
            <a:endParaRPr lang="en-US" sz="1600" dirty="0"/>
          </a:p>
        </p:txBody>
      </p:sp>
      <p:sp>
        <p:nvSpPr>
          <p:cNvPr id="15" name="Solution dashboard"/>
          <p:cNvSpPr/>
          <p:nvPr/>
        </p:nvSpPr>
        <p:spPr>
          <a:xfrm>
            <a:off x="9875520" y="1280160"/>
            <a:ext cx="1600200" cy="822960"/>
          </a:xfrm>
          <a:prstGeom prst="roundRect">
            <a:avLst>
              <a:gd name="adj" fmla="val 13333"/>
            </a:avLst>
          </a:prstGeom>
          <a:solidFill>
            <a:schemeClr val="tx2"/>
          </a:solidFill>
          <a:ln w="15875">
            <a:solidFill>
              <a:schemeClr val="bg1"/>
            </a:solidFill>
          </a:ln>
        </p:spPr>
        <p:txBody>
          <a:bodyPr wrap="square" lIns="50800" tIns="101600" rIns="101600" bIns="50800" rtlCol="0" anchor="ctr"/>
          <a:lstStyle/>
          <a:p>
            <a:pPr algn="l" indent="0" marL="0">
              <a:buNone/>
            </a:pPr>
            <a:r>
              <a:rPr lang="en-US" sz="1600" dirty="0">
                <a:solidFill>
                  <a:schemeClr val="bg1"/>
                </a:solidFill>
                <a:latin typeface="PP Mori" pitchFamily="34" charset="0"/>
                <a:ea typeface="PP Mori" pitchFamily="34" charset="-122"/>
                <a:cs typeface="PP Mori" pitchFamily="34" charset="-120"/>
              </a:rPr>
              <a:t>Predictive dashboard</a:t>
            </a:r>
            <a:endParaRPr lang="en-US" sz="1600" dirty="0"/>
          </a:p>
        </p:txBody>
      </p:sp>
      <p:sp>
        <p:nvSpPr>
          <p:cNvPr id="16" name="Experiment"/>
          <p:cNvSpPr/>
          <p:nvPr/>
        </p:nvSpPr>
        <p:spPr>
          <a:xfrm>
            <a:off x="9875520" y="3474720"/>
            <a:ext cx="1600200" cy="822960"/>
          </a:xfrm>
          <a:prstGeom prst="roundRect">
            <a:avLst>
              <a:gd name="adj" fmla="val 13333"/>
            </a:avLst>
          </a:prstGeom>
          <a:solidFill>
            <a:schemeClr val="accent1"/>
          </a:solidFill>
          <a:ln w="15875">
            <a:solidFill>
              <a:schemeClr val="accent1"/>
            </a:solidFill>
          </a:ln>
        </p:spPr>
        <p:txBody>
          <a:bodyPr wrap="square" lIns="50800" tIns="101600" rIns="101600" bIns="50800" rtlCol="0" anchor="ctr"/>
          <a:lstStyle/>
          <a:p>
            <a:pPr algn="l" indent="0" marL="0">
              <a:buNone/>
            </a:pPr>
            <a:r>
              <a:rPr lang="en-US" sz="1600" dirty="0">
                <a:solidFill>
                  <a:schemeClr val="tx1"/>
                </a:solidFill>
                <a:latin typeface="PP Mori" pitchFamily="34" charset="0"/>
                <a:ea typeface="PP Mori" pitchFamily="34" charset="-122"/>
                <a:cs typeface="PP Mori" pitchFamily="34" charset="-120"/>
              </a:rPr>
              <a:t>Test: storyboard</a:t>
            </a:r>
            <a:endParaRPr lang="en-US" sz="1600" dirty="0"/>
          </a:p>
        </p:txBody>
      </p:sp>
      <p:sp>
        <p:nvSpPr>
          <p:cNvPr id="17" name="Link outcome to opportunity 1"/>
          <p:cNvSpPr/>
          <p:nvPr/>
        </p:nvSpPr>
        <p:spPr>
          <a:xfrm flipV="1">
            <a:off x="7863840" y="2148840"/>
            <a:ext cx="228600" cy="914400"/>
          </a:xfrm>
          <a:prstGeom prst="line">
            <a:avLst/>
          </a:prstGeom>
          <a:noFill/>
          <a:ln w="25400">
            <a:solidFill>
              <a:schemeClr val="bg1"/>
            </a:solidFill>
            <a:prstDash val="solid"/>
            <a:tailEnd type="triangle"/>
          </a:ln>
        </p:spPr>
      </p:sp>
      <p:sp>
        <p:nvSpPr>
          <p:cNvPr id="18" name="Link outcome to opportunity 2"/>
          <p:cNvSpPr/>
          <p:nvPr/>
        </p:nvSpPr>
        <p:spPr>
          <a:xfrm>
            <a:off x="7863840" y="3063240"/>
            <a:ext cx="228600" cy="1371600"/>
          </a:xfrm>
          <a:prstGeom prst="line">
            <a:avLst/>
          </a:prstGeom>
          <a:noFill/>
          <a:ln w="25400">
            <a:solidFill>
              <a:schemeClr val="bg1"/>
            </a:solidFill>
            <a:prstDash val="solid"/>
            <a:tailEnd type="triangle"/>
          </a:ln>
        </p:spPr>
      </p:sp>
      <p:sp>
        <p:nvSpPr>
          <p:cNvPr id="19" name="Link opportunity to process"/>
          <p:cNvSpPr/>
          <p:nvPr/>
        </p:nvSpPr>
        <p:spPr>
          <a:xfrm>
            <a:off x="9646920" y="2148840"/>
            <a:ext cx="228600" cy="594360"/>
          </a:xfrm>
          <a:prstGeom prst="line">
            <a:avLst/>
          </a:prstGeom>
          <a:noFill/>
          <a:ln w="25400">
            <a:solidFill>
              <a:schemeClr val="bg1"/>
            </a:solidFill>
            <a:prstDash val="solid"/>
            <a:tailEnd type="triangle"/>
          </a:ln>
        </p:spPr>
      </p:sp>
      <p:sp>
        <p:nvSpPr>
          <p:cNvPr id="20" name="Link opportunity to dashboard"/>
          <p:cNvSpPr/>
          <p:nvPr/>
        </p:nvSpPr>
        <p:spPr>
          <a:xfrm flipV="1">
            <a:off x="9646920" y="1691640"/>
            <a:ext cx="228600" cy="457200"/>
          </a:xfrm>
          <a:prstGeom prst="line">
            <a:avLst/>
          </a:prstGeom>
          <a:noFill/>
          <a:ln w="25400">
            <a:solidFill>
              <a:schemeClr val="bg1"/>
            </a:solidFill>
            <a:prstDash val="solid"/>
            <a:tailEnd type="triangle"/>
          </a:ln>
        </p:spPr>
      </p:sp>
      <p:sp>
        <p:nvSpPr>
          <p:cNvPr id="21" name="Link process to experiment"/>
          <p:cNvSpPr/>
          <p:nvPr/>
        </p:nvSpPr>
        <p:spPr>
          <a:xfrm>
            <a:off x="10675620" y="3154680"/>
            <a:ext cx="0" cy="320040"/>
          </a:xfrm>
          <a:prstGeom prst="line">
            <a:avLst/>
          </a:prstGeom>
          <a:noFill/>
          <a:ln w="25400">
            <a:solidFill>
              <a:schemeClr val="accent1"/>
            </a:solidFill>
            <a:prstDash val="solid"/>
            <a:tailEnd type="triangle"/>
          </a:ln>
        </p:spPr>
      </p:sp>
      <p:sp>
        <p:nvSpPr>
          <p:cNvPr id="22" name="Text 20"/>
          <p:cNvSpPr txBox="1"/>
          <p:nvPr/>
        </p:nvSpPr>
        <p:spPr>
          <a:xfrm>
            <a:off x="6492240" y="5486400"/>
            <a:ext cx="4937760" cy="36576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Synthetic. A person picks at the gate.</a:t>
            </a:r>
            <a:endParaRPr lang="en-US" sz="16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05</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Value Prop vs. Differentiation 2x2</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Where does each solution from the tree sit? Does the value matter, and is the difference meaningful?</a:t>
            </a:r>
            <a:endParaRPr lang="en-US" sz="2200" dirty="0"/>
          </a:p>
        </p:txBody>
      </p:sp>
      <p:sp>
        <p:nvSpPr>
          <p:cNvPr id="5" name="Artifact pill"/>
          <p:cNvSpPr/>
          <p:nvPr/>
        </p:nvSpPr>
        <p:spPr>
          <a:xfrm>
            <a:off x="548640" y="4572000"/>
            <a:ext cx="2002536"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2X2</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Different is not the same as valuable. AI novelty is evidence of neither.</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Value axis"/>
          <p:cNvSpPr/>
          <p:nvPr/>
        </p:nvSpPr>
        <p:spPr>
          <a:xfrm>
            <a:off x="7086600" y="5120640"/>
            <a:ext cx="4206240" cy="0"/>
          </a:xfrm>
          <a:prstGeom prst="line">
            <a:avLst/>
          </a:prstGeom>
          <a:noFill/>
          <a:ln w="38100">
            <a:solidFill>
              <a:schemeClr val="bg1"/>
            </a:solidFill>
            <a:prstDash val="solid"/>
            <a:tailEnd type="triangle"/>
          </a:ln>
        </p:spPr>
      </p:sp>
      <p:sp>
        <p:nvSpPr>
          <p:cNvPr id="9" name="Difference axis"/>
          <p:cNvSpPr/>
          <p:nvPr/>
        </p:nvSpPr>
        <p:spPr>
          <a:xfrm flipV="1">
            <a:off x="7086600" y="1280160"/>
            <a:ext cx="0" cy="3840480"/>
          </a:xfrm>
          <a:prstGeom prst="line">
            <a:avLst/>
          </a:prstGeom>
          <a:noFill/>
          <a:ln w="38100">
            <a:solidFill>
              <a:schemeClr val="bg1"/>
            </a:solidFill>
            <a:prstDash val="solid"/>
            <a:headEnd type="triangle"/>
          </a:ln>
        </p:spPr>
      </p:sp>
      <p:sp>
        <p:nvSpPr>
          <p:cNvPr id="10" name="Midline vertical"/>
          <p:cNvSpPr/>
          <p:nvPr/>
        </p:nvSpPr>
        <p:spPr>
          <a:xfrm>
            <a:off x="9189720" y="1280160"/>
            <a:ext cx="0" cy="3840480"/>
          </a:xfrm>
          <a:prstGeom prst="line">
            <a:avLst/>
          </a:prstGeom>
          <a:noFill/>
          <a:ln w="19050">
            <a:solidFill>
              <a:srgbClr val="3A3A3A"/>
            </a:solidFill>
            <a:prstDash val="solid"/>
          </a:ln>
        </p:spPr>
      </p:sp>
      <p:sp>
        <p:nvSpPr>
          <p:cNvPr id="11" name="Midline horizontal"/>
          <p:cNvSpPr/>
          <p:nvPr/>
        </p:nvSpPr>
        <p:spPr>
          <a:xfrm>
            <a:off x="7086600" y="3200400"/>
            <a:ext cx="4206240" cy="0"/>
          </a:xfrm>
          <a:prstGeom prst="line">
            <a:avLst/>
          </a:prstGeom>
          <a:noFill/>
          <a:ln w="19050">
            <a:solidFill>
              <a:srgbClr val="3A3A3A"/>
            </a:solidFill>
            <a:prstDash val="solid"/>
          </a:ln>
        </p:spPr>
      </p:sp>
      <p:sp>
        <p:nvSpPr>
          <p:cNvPr id="12" name="Value axis label"/>
          <p:cNvSpPr txBox="1"/>
          <p:nvPr/>
        </p:nvSpPr>
        <p:spPr>
          <a:xfrm>
            <a:off x="7086600" y="5230368"/>
            <a:ext cx="4206240" cy="274320"/>
          </a:xfrm>
          <a:prstGeom prst="rect">
            <a:avLst/>
          </a:prstGeom>
          <a:noFill/>
          <a:ln/>
        </p:spPr>
        <p:txBody>
          <a:bodyPr wrap="square" lIns="0" tIns="0" rIns="0" bIns="0" rtlCol="0" anchor="t"/>
          <a:lstStyle/>
          <a:p>
            <a:pPr algn="ctr" indent="0" marL="0">
              <a:buNone/>
            </a:pPr>
            <a:r>
              <a:rPr lang="en-US" sz="1600" dirty="0">
                <a:solidFill>
                  <a:schemeClr val="bg1"/>
                </a:solidFill>
                <a:latin typeface="PP Mori" pitchFamily="34" charset="0"/>
                <a:ea typeface="PP Mori" pitchFamily="34" charset="-122"/>
                <a:cs typeface="PP Mori" pitchFamily="34" charset="-120"/>
              </a:rPr>
              <a:t>Value to the persona</a:t>
            </a:r>
            <a:endParaRPr lang="en-US" sz="1600" dirty="0"/>
          </a:p>
        </p:txBody>
      </p:sp>
      <p:sp>
        <p:nvSpPr>
          <p:cNvPr id="13" name="Difference axis label"/>
          <p:cNvSpPr txBox="1"/>
          <p:nvPr/>
        </p:nvSpPr>
        <p:spPr>
          <a:xfrm rot="16200000">
            <a:off x="4892040" y="3040380"/>
            <a:ext cx="3840480" cy="320040"/>
          </a:xfrm>
          <a:prstGeom prst="rect">
            <a:avLst/>
          </a:prstGeom>
          <a:noFill/>
          <a:ln/>
        </p:spPr>
        <p:txBody>
          <a:bodyPr wrap="square" lIns="0" tIns="0" rIns="0" bIns="0" rtlCol="0" anchor="t"/>
          <a:lstStyle/>
          <a:p>
            <a:pPr algn="ctr" indent="0" marL="0">
              <a:buNone/>
            </a:pPr>
            <a:r>
              <a:rPr lang="en-US" sz="1600" dirty="0">
                <a:solidFill>
                  <a:schemeClr val="bg1"/>
                </a:solidFill>
                <a:latin typeface="PP Mori" pitchFamily="34" charset="0"/>
                <a:ea typeface="PP Mori" pitchFamily="34" charset="-122"/>
                <a:cs typeface="PP Mori" pitchFamily="34" charset="-120"/>
              </a:rPr>
              <a:t>Meaningful difference</a:t>
            </a:r>
            <a:endParaRPr lang="en-US" sz="1600" dirty="0"/>
          </a:p>
        </p:txBody>
      </p:sp>
      <p:sp>
        <p:nvSpPr>
          <p:cNvPr id="14" name="Text 12"/>
          <p:cNvSpPr txBox="1"/>
          <p:nvPr/>
        </p:nvSpPr>
        <p:spPr>
          <a:xfrm>
            <a:off x="7223760" y="1417320"/>
            <a:ext cx="18288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Different, not valuable</a:t>
            </a:r>
            <a:endParaRPr lang="en-US" sz="1400" dirty="0"/>
          </a:p>
        </p:txBody>
      </p:sp>
      <p:sp>
        <p:nvSpPr>
          <p:cNvPr id="15" name="Text 13"/>
          <p:cNvSpPr txBox="1"/>
          <p:nvPr/>
        </p:nvSpPr>
        <p:spPr>
          <a:xfrm>
            <a:off x="9326880" y="1417320"/>
            <a:ext cx="18288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Valuable and different</a:t>
            </a:r>
            <a:endParaRPr lang="en-US" sz="1400" dirty="0"/>
          </a:p>
        </p:txBody>
      </p:sp>
      <p:sp>
        <p:nvSpPr>
          <p:cNvPr id="16" name="Text 14"/>
          <p:cNvSpPr txBox="1"/>
          <p:nvPr/>
        </p:nvSpPr>
        <p:spPr>
          <a:xfrm>
            <a:off x="7223760" y="3337560"/>
            <a:ext cx="18288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Neither</a:t>
            </a:r>
            <a:endParaRPr lang="en-US" sz="1400" dirty="0"/>
          </a:p>
        </p:txBody>
      </p:sp>
      <p:sp>
        <p:nvSpPr>
          <p:cNvPr id="17" name="Text 15"/>
          <p:cNvSpPr txBox="1"/>
          <p:nvPr/>
        </p:nvSpPr>
        <p:spPr>
          <a:xfrm>
            <a:off x="9326880" y="3337560"/>
            <a:ext cx="1828800" cy="54864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Valuable, not different</a:t>
            </a:r>
            <a:endParaRPr lang="en-US" sz="1400" dirty="0"/>
          </a:p>
        </p:txBody>
      </p:sp>
      <p:sp>
        <p:nvSpPr>
          <p:cNvPr id="18" name="Solution A"/>
          <p:cNvSpPr/>
          <p:nvPr/>
        </p:nvSpPr>
        <p:spPr>
          <a:xfrm>
            <a:off x="7882128" y="2121408"/>
            <a:ext cx="512064" cy="512064"/>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A</a:t>
            </a:r>
            <a:endParaRPr lang="en-US" sz="1600" dirty="0"/>
          </a:p>
        </p:txBody>
      </p:sp>
      <p:sp>
        <p:nvSpPr>
          <p:cNvPr id="19" name="Solution A label"/>
          <p:cNvSpPr txBox="1"/>
          <p:nvPr/>
        </p:nvSpPr>
        <p:spPr>
          <a:xfrm>
            <a:off x="7223760" y="2697480"/>
            <a:ext cx="1828800" cy="274320"/>
          </a:xfrm>
          <a:prstGeom prst="rect">
            <a:avLst/>
          </a:prstGeom>
          <a:noFill/>
          <a:ln/>
        </p:spPr>
        <p:txBody>
          <a:bodyPr wrap="square" lIns="0" tIns="0" rIns="0" bIns="0" rtlCol="0" anchor="t"/>
          <a:lstStyle/>
          <a:p>
            <a:pPr algn="ctr" indent="0" marL="0">
              <a:buNone/>
            </a:pPr>
            <a:r>
              <a:rPr lang="en-US" sz="1500" dirty="0">
                <a:solidFill>
                  <a:schemeClr val="bg1"/>
                </a:solidFill>
                <a:latin typeface="PP Mori" pitchFamily="34" charset="0"/>
                <a:ea typeface="PP Mori" pitchFamily="34" charset="-122"/>
                <a:cs typeface="PP Mori" pitchFamily="34" charset="-120"/>
              </a:rPr>
              <a:t>Predictive dashboard</a:t>
            </a:r>
            <a:endParaRPr lang="en-US" sz="1500" dirty="0"/>
          </a:p>
        </p:txBody>
      </p:sp>
      <p:sp>
        <p:nvSpPr>
          <p:cNvPr id="20" name="Solution B"/>
          <p:cNvSpPr/>
          <p:nvPr/>
        </p:nvSpPr>
        <p:spPr>
          <a:xfrm>
            <a:off x="9939528" y="3767328"/>
            <a:ext cx="512064" cy="512064"/>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dirty="0">
                <a:solidFill>
                  <a:schemeClr val="tx1"/>
                </a:solidFill>
                <a:latin typeface="Clash Grotesk Medium" pitchFamily="34" charset="0"/>
                <a:ea typeface="Clash Grotesk Medium" pitchFamily="34" charset="-122"/>
                <a:cs typeface="Clash Grotesk Medium" pitchFamily="34" charset="-120"/>
              </a:rPr>
              <a:t>B</a:t>
            </a:r>
            <a:endParaRPr lang="en-US" sz="1600" dirty="0"/>
          </a:p>
        </p:txBody>
      </p:sp>
      <p:sp>
        <p:nvSpPr>
          <p:cNvPr id="21" name="Solution B label"/>
          <p:cNvSpPr txBox="1"/>
          <p:nvPr/>
        </p:nvSpPr>
        <p:spPr>
          <a:xfrm>
            <a:off x="9281160" y="4343400"/>
            <a:ext cx="1828800" cy="274320"/>
          </a:xfrm>
          <a:prstGeom prst="rect">
            <a:avLst/>
          </a:prstGeom>
          <a:noFill/>
          <a:ln/>
        </p:spPr>
        <p:txBody>
          <a:bodyPr wrap="square" lIns="0" tIns="0" rIns="0" bIns="0" rtlCol="0" anchor="t"/>
          <a:lstStyle/>
          <a:p>
            <a:pPr algn="ctr" indent="0" marL="0">
              <a:buNone/>
            </a:pPr>
            <a:r>
              <a:rPr lang="en-US" sz="1500" dirty="0">
                <a:solidFill>
                  <a:schemeClr val="bg1"/>
                </a:solidFill>
                <a:latin typeface="PP Mori" pitchFamily="34" charset="0"/>
                <a:ea typeface="PP Mori" pitchFamily="34" charset="-122"/>
                <a:cs typeface="PP Mori" pitchFamily="34" charset="-120"/>
              </a:rPr>
              <a:t>Process change</a:t>
            </a:r>
            <a:endParaRPr lang="en-US" sz="1500" dirty="0"/>
          </a:p>
        </p:txBody>
      </p:sp>
      <p:sp>
        <p:nvSpPr>
          <p:cNvPr id="22" name="Competitor marker"/>
          <p:cNvSpPr/>
          <p:nvPr/>
        </p:nvSpPr>
        <p:spPr>
          <a:xfrm>
            <a:off x="9957816" y="1956816"/>
            <a:ext cx="475488" cy="475488"/>
          </a:xfrm>
          <a:prstGeom prst="roundRect">
            <a:avLst>
              <a:gd name="adj" fmla="val 15385"/>
            </a:avLst>
          </a:prstGeom>
          <a:solidFill>
            <a:schemeClr val="tx2"/>
          </a:solidFill>
          <a:ln w="31750">
            <a:solidFill>
              <a:schemeClr val="bg1"/>
            </a:solidFill>
            <a:prstDash val="solid"/>
          </a:ln>
        </p:spPr>
      </p:sp>
      <p:sp>
        <p:nvSpPr>
          <p:cNvPr id="23" name="Competitor label"/>
          <p:cNvSpPr txBox="1"/>
          <p:nvPr/>
        </p:nvSpPr>
        <p:spPr>
          <a:xfrm>
            <a:off x="9281160" y="2514600"/>
            <a:ext cx="1828800" cy="274320"/>
          </a:xfrm>
          <a:prstGeom prst="rect">
            <a:avLst/>
          </a:prstGeom>
          <a:noFill/>
          <a:ln/>
        </p:spPr>
        <p:txBody>
          <a:bodyPr wrap="square" lIns="0" tIns="0" rIns="0" bIns="0" rtlCol="0" anchor="t"/>
          <a:lstStyle/>
          <a:p>
            <a:pPr algn="ctr" indent="0" marL="0">
              <a:buNone/>
            </a:pPr>
            <a:r>
              <a:rPr lang="en-US" sz="1500" dirty="0">
                <a:solidFill>
                  <a:schemeClr val="bg1"/>
                </a:solidFill>
                <a:latin typeface="PP Mori" pitchFamily="34" charset="0"/>
                <a:ea typeface="PP Mori" pitchFamily="34" charset="-122"/>
                <a:cs typeface="PP Mori" pitchFamily="34" charset="-120"/>
              </a:rPr>
              <a:t>Incumbent</a:t>
            </a:r>
            <a:endParaRPr lang="en-US" sz="1500" dirty="0"/>
          </a:p>
        </p:txBody>
      </p:sp>
      <p:sp>
        <p:nvSpPr>
          <p:cNvPr id="24" name="Workaround marker"/>
          <p:cNvSpPr/>
          <p:nvPr/>
        </p:nvSpPr>
        <p:spPr>
          <a:xfrm>
            <a:off x="7900416" y="4059936"/>
            <a:ext cx="475488" cy="475488"/>
          </a:xfrm>
          <a:prstGeom prst="ellipse">
            <a:avLst/>
          </a:prstGeom>
          <a:ln w="31750">
            <a:solidFill>
              <a:schemeClr val="bg1"/>
            </a:solidFill>
            <a:prstDash val="dash"/>
          </a:ln>
        </p:spPr>
      </p:sp>
      <p:sp>
        <p:nvSpPr>
          <p:cNvPr id="25" name="Workaround label"/>
          <p:cNvSpPr txBox="1"/>
          <p:nvPr/>
        </p:nvSpPr>
        <p:spPr>
          <a:xfrm>
            <a:off x="7223760" y="4617720"/>
            <a:ext cx="1828800" cy="274320"/>
          </a:xfrm>
          <a:prstGeom prst="rect">
            <a:avLst/>
          </a:prstGeom>
          <a:noFill/>
          <a:ln/>
        </p:spPr>
        <p:txBody>
          <a:bodyPr wrap="square" lIns="0" tIns="0" rIns="0" bIns="0" rtlCol="0" anchor="t"/>
          <a:lstStyle/>
          <a:p>
            <a:pPr algn="ctr" indent="0" marL="0">
              <a:buNone/>
            </a:pPr>
            <a:r>
              <a:rPr lang="en-US" sz="1500" dirty="0">
                <a:solidFill>
                  <a:schemeClr val="bg1"/>
                </a:solidFill>
                <a:latin typeface="PP Mori" pitchFamily="34" charset="0"/>
                <a:ea typeface="PP Mori" pitchFamily="34" charset="-122"/>
                <a:cs typeface="PP Mori" pitchFamily="34" charset="-120"/>
              </a:rPr>
              <a:t>Current workaround</a:t>
            </a:r>
            <a:endParaRPr lang="en-US" sz="1500" dirty="0"/>
          </a:p>
        </p:txBody>
      </p:sp>
      <p:sp>
        <p:nvSpPr>
          <p:cNvPr id="26" name="Legend solution"/>
          <p:cNvSpPr/>
          <p:nvPr/>
        </p:nvSpPr>
        <p:spPr>
          <a:xfrm>
            <a:off x="6583680" y="5650992"/>
            <a:ext cx="182880" cy="182880"/>
          </a:xfrm>
          <a:prstGeom prst="ellipse">
            <a:avLst/>
          </a:prstGeom>
          <a:solidFill>
            <a:schemeClr val="accent1"/>
          </a:solidFill>
          <a:ln w="12700">
            <a:solidFill>
              <a:schemeClr val="accent1"/>
            </a:solidFill>
            <a:prstDash val="solid"/>
          </a:ln>
        </p:spPr>
      </p:sp>
      <p:sp>
        <p:nvSpPr>
          <p:cNvPr id="27" name="Legend solution text"/>
          <p:cNvSpPr txBox="1"/>
          <p:nvPr/>
        </p:nvSpPr>
        <p:spPr>
          <a:xfrm>
            <a:off x="6812280" y="5596128"/>
            <a:ext cx="91440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Solution</a:t>
            </a:r>
            <a:endParaRPr lang="en-US" sz="1400" dirty="0"/>
          </a:p>
        </p:txBody>
      </p:sp>
      <p:sp>
        <p:nvSpPr>
          <p:cNvPr id="28" name="Legend competitor"/>
          <p:cNvSpPr/>
          <p:nvPr/>
        </p:nvSpPr>
        <p:spPr>
          <a:xfrm>
            <a:off x="8001000" y="5650992"/>
            <a:ext cx="182880" cy="182880"/>
          </a:xfrm>
          <a:prstGeom prst="roundRect">
            <a:avLst>
              <a:gd name="adj" fmla="val 20000"/>
            </a:avLst>
          </a:prstGeom>
          <a:solidFill>
            <a:schemeClr val="tx2"/>
          </a:solidFill>
          <a:ln w="19050">
            <a:solidFill>
              <a:schemeClr val="bg1"/>
            </a:solidFill>
            <a:prstDash val="solid"/>
          </a:ln>
        </p:spPr>
      </p:sp>
      <p:sp>
        <p:nvSpPr>
          <p:cNvPr id="29" name="Legend competitor text"/>
          <p:cNvSpPr txBox="1"/>
          <p:nvPr/>
        </p:nvSpPr>
        <p:spPr>
          <a:xfrm>
            <a:off x="8257032" y="5596128"/>
            <a:ext cx="100584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Competitor</a:t>
            </a:r>
            <a:endParaRPr lang="en-US" sz="1400" dirty="0"/>
          </a:p>
        </p:txBody>
      </p:sp>
      <p:sp>
        <p:nvSpPr>
          <p:cNvPr id="30" name="Legend workaround"/>
          <p:cNvSpPr/>
          <p:nvPr/>
        </p:nvSpPr>
        <p:spPr>
          <a:xfrm>
            <a:off x="9418320" y="5650992"/>
            <a:ext cx="182880" cy="182880"/>
          </a:xfrm>
          <a:prstGeom prst="ellipse">
            <a:avLst/>
          </a:prstGeom>
          <a:ln w="19050">
            <a:solidFill>
              <a:schemeClr val="bg1"/>
            </a:solidFill>
            <a:prstDash val="dash"/>
          </a:ln>
        </p:spPr>
      </p:sp>
      <p:sp>
        <p:nvSpPr>
          <p:cNvPr id="31" name="Legend workaround text"/>
          <p:cNvSpPr txBox="1"/>
          <p:nvPr/>
        </p:nvSpPr>
        <p:spPr>
          <a:xfrm>
            <a:off x="9674352" y="5596128"/>
            <a:ext cx="1737360" cy="274320"/>
          </a:xfrm>
          <a:prstGeom prst="rect">
            <a:avLst/>
          </a:prstGeom>
          <a:noFill/>
          <a:ln/>
        </p:spPr>
        <p:txBody>
          <a:bodyPr wrap="square" lIns="0" tIns="0" rIns="0" bIns="0" rtlCol="0" anchor="t"/>
          <a:lstStyle/>
          <a:p>
            <a:pPr indent="0" marL="0">
              <a:buNone/>
            </a:pPr>
            <a:r>
              <a:rPr lang="en-US" sz="1400" dirty="0">
                <a:solidFill>
                  <a:srgbClr val="B3B3B3"/>
                </a:solidFill>
                <a:latin typeface="PP Mori" pitchFamily="34" charset="0"/>
                <a:ea typeface="PP Mori" pitchFamily="34" charset="-122"/>
                <a:cs typeface="PP Mori" pitchFamily="34" charset="-120"/>
              </a:rPr>
              <a:t>Workaround</a:t>
            </a:r>
            <a:endParaRPr lang="en-US" sz="1400" dirty="0"/>
          </a:p>
        </p:txBody>
      </p:sp>
      <p:sp>
        <p:nvSpPr>
          <p:cNvPr id="32" name="Evidence label ESTIMATE"/>
          <p:cNvSpPr/>
          <p:nvPr/>
        </p:nvSpPr>
        <p:spPr>
          <a:xfrm>
            <a:off x="8366760" y="731520"/>
            <a:ext cx="301752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ESTIMATE: ILLUSTRATIVE</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06</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Positioning Statement</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Why is this for this person, and why would they choose it over today's workaround?</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414223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POSITIONING STATEMENT</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A proposed difference is not a reason to believe.</a:t>
            </a:r>
            <a:endParaRPr lang="en-US" sz="1600" dirty="0"/>
          </a:p>
        </p:txBody>
      </p:sp>
      <p:sp>
        <p:nvSpPr>
          <p:cNvPr id="9" name="Row For label"/>
          <p:cNvSpPr txBox="1"/>
          <p:nvPr/>
        </p:nvSpPr>
        <p:spPr>
          <a:xfrm>
            <a:off x="822960" y="1572768"/>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For</a:t>
            </a:r>
            <a:endParaRPr lang="en-US" sz="2200" dirty="0"/>
          </a:p>
        </p:txBody>
      </p:sp>
      <p:sp>
        <p:nvSpPr>
          <p:cNvPr id="10" name="Row For text"/>
          <p:cNvSpPr txBox="1"/>
          <p:nvPr/>
        </p:nvSpPr>
        <p:spPr>
          <a:xfrm>
            <a:off x="3840480" y="1572768"/>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maintenance managers</a:t>
            </a:r>
            <a:endParaRPr lang="en-US" sz="2600" dirty="0"/>
          </a:p>
        </p:txBody>
      </p:sp>
      <p:sp>
        <p:nvSpPr>
          <p:cNvPr id="11" name="Row For rule"/>
          <p:cNvSpPr/>
          <p:nvPr/>
        </p:nvSpPr>
        <p:spPr>
          <a:xfrm>
            <a:off x="3840480" y="2103120"/>
            <a:ext cx="7498080" cy="0"/>
          </a:xfrm>
          <a:prstGeom prst="line">
            <a:avLst/>
          </a:prstGeom>
          <a:noFill/>
          <a:ln w="12700">
            <a:solidFill>
              <a:srgbClr val="3A3A3A"/>
            </a:solidFill>
            <a:prstDash val="solid"/>
          </a:ln>
        </p:spPr>
      </p:sp>
      <p:sp>
        <p:nvSpPr>
          <p:cNvPr id="12" name="Row Who label"/>
          <p:cNvSpPr txBox="1"/>
          <p:nvPr/>
        </p:nvSpPr>
        <p:spPr>
          <a:xfrm>
            <a:off x="822960" y="2157984"/>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Who</a:t>
            </a:r>
            <a:endParaRPr lang="en-US" sz="2200" dirty="0"/>
          </a:p>
        </p:txBody>
      </p:sp>
      <p:sp>
        <p:nvSpPr>
          <p:cNvPr id="13" name="Row Who text"/>
          <p:cNvSpPr txBox="1"/>
          <p:nvPr/>
        </p:nvSpPr>
        <p:spPr>
          <a:xfrm>
            <a:off x="3840480" y="2157984"/>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must pick what to check next</a:t>
            </a:r>
            <a:endParaRPr lang="en-US" sz="2600" dirty="0"/>
          </a:p>
        </p:txBody>
      </p:sp>
      <p:sp>
        <p:nvSpPr>
          <p:cNvPr id="14" name="Row Who rule"/>
          <p:cNvSpPr/>
          <p:nvPr/>
        </p:nvSpPr>
        <p:spPr>
          <a:xfrm>
            <a:off x="3840480" y="2688336"/>
            <a:ext cx="7498080" cy="0"/>
          </a:xfrm>
          <a:prstGeom prst="line">
            <a:avLst/>
          </a:prstGeom>
          <a:noFill/>
          <a:ln w="12700">
            <a:solidFill>
              <a:srgbClr val="3A3A3A"/>
            </a:solidFill>
            <a:prstDash val="solid"/>
          </a:ln>
        </p:spPr>
      </p:sp>
      <p:sp>
        <p:nvSpPr>
          <p:cNvPr id="15" name="Row The label"/>
          <p:cNvSpPr txBox="1"/>
          <p:nvPr/>
        </p:nvSpPr>
        <p:spPr>
          <a:xfrm>
            <a:off x="822960" y="2743200"/>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The</a:t>
            </a:r>
            <a:endParaRPr lang="en-US" sz="2200" dirty="0"/>
          </a:p>
        </p:txBody>
      </p:sp>
      <p:sp>
        <p:nvSpPr>
          <p:cNvPr id="16" name="Row The text"/>
          <p:cNvSpPr txBox="1"/>
          <p:nvPr/>
        </p:nvSpPr>
        <p:spPr>
          <a:xfrm>
            <a:off x="3840480" y="2743200"/>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shared report view</a:t>
            </a:r>
            <a:endParaRPr lang="en-US" sz="2600" dirty="0"/>
          </a:p>
        </p:txBody>
      </p:sp>
      <p:sp>
        <p:nvSpPr>
          <p:cNvPr id="17" name="Row The rule"/>
          <p:cNvSpPr/>
          <p:nvPr/>
        </p:nvSpPr>
        <p:spPr>
          <a:xfrm>
            <a:off x="3840480" y="3273552"/>
            <a:ext cx="7498080" cy="0"/>
          </a:xfrm>
          <a:prstGeom prst="line">
            <a:avLst/>
          </a:prstGeom>
          <a:noFill/>
          <a:ln w="12700">
            <a:solidFill>
              <a:srgbClr val="3A3A3A"/>
            </a:solidFill>
            <a:prstDash val="solid"/>
          </a:ln>
        </p:spPr>
      </p:sp>
      <p:sp>
        <p:nvSpPr>
          <p:cNvPr id="18" name="Row Is a label"/>
          <p:cNvSpPr txBox="1"/>
          <p:nvPr/>
        </p:nvSpPr>
        <p:spPr>
          <a:xfrm>
            <a:off x="822960" y="3328416"/>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Is a</a:t>
            </a:r>
            <a:endParaRPr lang="en-US" sz="2200" dirty="0"/>
          </a:p>
        </p:txBody>
      </p:sp>
      <p:sp>
        <p:nvSpPr>
          <p:cNvPr id="19" name="Row Is a text"/>
          <p:cNvSpPr txBox="1"/>
          <p:nvPr/>
        </p:nvSpPr>
        <p:spPr>
          <a:xfrm>
            <a:off x="3840480" y="3328416"/>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decision aid</a:t>
            </a:r>
            <a:endParaRPr lang="en-US" sz="2600" dirty="0"/>
          </a:p>
        </p:txBody>
      </p:sp>
      <p:sp>
        <p:nvSpPr>
          <p:cNvPr id="20" name="Row Is a rule"/>
          <p:cNvSpPr/>
          <p:nvPr/>
        </p:nvSpPr>
        <p:spPr>
          <a:xfrm>
            <a:off x="3840480" y="3858768"/>
            <a:ext cx="7498080" cy="0"/>
          </a:xfrm>
          <a:prstGeom prst="line">
            <a:avLst/>
          </a:prstGeom>
          <a:noFill/>
          <a:ln w="12700">
            <a:solidFill>
              <a:srgbClr val="3A3A3A"/>
            </a:solidFill>
            <a:prstDash val="solid"/>
          </a:ln>
        </p:spPr>
      </p:sp>
      <p:sp>
        <p:nvSpPr>
          <p:cNvPr id="21" name="Row That label"/>
          <p:cNvSpPr txBox="1"/>
          <p:nvPr/>
        </p:nvSpPr>
        <p:spPr>
          <a:xfrm>
            <a:off x="822960" y="3913632"/>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That</a:t>
            </a:r>
            <a:endParaRPr lang="en-US" sz="2200" dirty="0"/>
          </a:p>
        </p:txBody>
      </p:sp>
      <p:sp>
        <p:nvSpPr>
          <p:cNvPr id="22" name="Row That text"/>
          <p:cNvSpPr txBox="1"/>
          <p:nvPr/>
        </p:nvSpPr>
        <p:spPr>
          <a:xfrm>
            <a:off x="3840480" y="3913632"/>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shows source and timing</a:t>
            </a:r>
            <a:endParaRPr lang="en-US" sz="2600" dirty="0"/>
          </a:p>
        </p:txBody>
      </p:sp>
      <p:sp>
        <p:nvSpPr>
          <p:cNvPr id="23" name="Row That rule"/>
          <p:cNvSpPr/>
          <p:nvPr/>
        </p:nvSpPr>
        <p:spPr>
          <a:xfrm>
            <a:off x="3840480" y="4443984"/>
            <a:ext cx="7498080" cy="0"/>
          </a:xfrm>
          <a:prstGeom prst="line">
            <a:avLst/>
          </a:prstGeom>
          <a:noFill/>
          <a:ln w="12700">
            <a:solidFill>
              <a:srgbClr val="3A3A3A"/>
            </a:solidFill>
            <a:prstDash val="solid"/>
          </a:ln>
        </p:spPr>
      </p:sp>
      <p:sp>
        <p:nvSpPr>
          <p:cNvPr id="24" name="Row Unlike label"/>
          <p:cNvSpPr txBox="1"/>
          <p:nvPr/>
        </p:nvSpPr>
        <p:spPr>
          <a:xfrm>
            <a:off x="822960" y="4498848"/>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Unlike</a:t>
            </a:r>
            <a:endParaRPr lang="en-US" sz="2200" dirty="0"/>
          </a:p>
        </p:txBody>
      </p:sp>
      <p:sp>
        <p:nvSpPr>
          <p:cNvPr id="25" name="Row Unlike text"/>
          <p:cNvSpPr txBox="1"/>
          <p:nvPr/>
        </p:nvSpPr>
        <p:spPr>
          <a:xfrm>
            <a:off x="3840480" y="4498848"/>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log review and chats</a:t>
            </a:r>
            <a:endParaRPr lang="en-US" sz="2600" dirty="0"/>
          </a:p>
        </p:txBody>
      </p:sp>
      <p:sp>
        <p:nvSpPr>
          <p:cNvPr id="26" name="Row Unlike rule"/>
          <p:cNvSpPr/>
          <p:nvPr/>
        </p:nvSpPr>
        <p:spPr>
          <a:xfrm>
            <a:off x="3840480" y="5029200"/>
            <a:ext cx="7498080" cy="0"/>
          </a:xfrm>
          <a:prstGeom prst="line">
            <a:avLst/>
          </a:prstGeom>
          <a:noFill/>
          <a:ln w="12700">
            <a:solidFill>
              <a:srgbClr val="3A3A3A"/>
            </a:solidFill>
            <a:prstDash val="solid"/>
          </a:ln>
        </p:spPr>
      </p:sp>
      <p:sp>
        <p:nvSpPr>
          <p:cNvPr id="27" name="Row Our product gives label"/>
          <p:cNvSpPr txBox="1"/>
          <p:nvPr/>
        </p:nvSpPr>
        <p:spPr>
          <a:xfrm>
            <a:off x="822960" y="5084064"/>
            <a:ext cx="2743200" cy="502920"/>
          </a:xfrm>
          <a:prstGeom prst="rect">
            <a:avLst/>
          </a:prstGeom>
          <a:noFill/>
          <a:ln/>
        </p:spPr>
        <p:txBody>
          <a:bodyPr wrap="square" lIns="0" tIns="0" rIns="0" bIns="0" rtlCol="0" anchor="ctr"/>
          <a:lstStyle/>
          <a:p>
            <a:pPr algn="r" indent="0" marL="0">
              <a:buNone/>
            </a:pPr>
            <a:r>
              <a:rPr lang="en-US" sz="2200" dirty="0">
                <a:solidFill>
                  <a:schemeClr val="accent1"/>
                </a:solidFill>
                <a:latin typeface="Clash Grotesk Medium" pitchFamily="34" charset="0"/>
                <a:ea typeface="Clash Grotesk Medium" pitchFamily="34" charset="-122"/>
                <a:cs typeface="Clash Grotesk Medium" pitchFamily="34" charset="-120"/>
              </a:rPr>
              <a:t>Our product gives</a:t>
            </a:r>
            <a:endParaRPr lang="en-US" sz="2200" dirty="0"/>
          </a:p>
        </p:txBody>
      </p:sp>
      <p:sp>
        <p:nvSpPr>
          <p:cNvPr id="28" name="Row Our product gives text"/>
          <p:cNvSpPr txBox="1"/>
          <p:nvPr/>
        </p:nvSpPr>
        <p:spPr>
          <a:xfrm>
            <a:off x="3840480" y="5084064"/>
            <a:ext cx="7498080" cy="502920"/>
          </a:xfrm>
          <a:prstGeom prst="rect">
            <a:avLst/>
          </a:prstGeom>
          <a:noFill/>
          <a:ln/>
        </p:spPr>
        <p:txBody>
          <a:bodyPr wrap="square" lIns="0" tIns="0" rIns="0" bIns="0" rtlCol="0" anchor="ctr"/>
          <a:lstStyle/>
          <a:p>
            <a:pPr indent="0" marL="0">
              <a:buNone/>
            </a:pPr>
            <a:r>
              <a:rPr lang="en-US" sz="2600" dirty="0">
                <a:solidFill>
                  <a:schemeClr val="bg1"/>
                </a:solidFill>
                <a:latin typeface="PP Mori" pitchFamily="34" charset="0"/>
                <a:ea typeface="PP Mori" pitchFamily="34" charset="-122"/>
                <a:cs typeface="PP Mori" pitchFamily="34" charset="-120"/>
              </a:rPr>
              <a:t>a reason others can inspect</a:t>
            </a:r>
            <a:endParaRPr lang="en-US" sz="2600" dirty="0"/>
          </a:p>
        </p:txBody>
      </p:sp>
      <p:sp>
        <p:nvSpPr>
          <p:cNvPr id="29" name="Row Our product gives rule"/>
          <p:cNvSpPr/>
          <p:nvPr/>
        </p:nvSpPr>
        <p:spPr>
          <a:xfrm>
            <a:off x="3840480" y="5614416"/>
            <a:ext cx="7498080" cy="0"/>
          </a:xfrm>
          <a:prstGeom prst="line">
            <a:avLst/>
          </a:prstGeom>
          <a:noFill/>
          <a:ln w="12700">
            <a:solidFill>
              <a:srgbClr val="3A3A3A"/>
            </a:solidFill>
            <a:prstDash val="solid"/>
          </a:ln>
        </p:spPr>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question"/>
          <p:cNvSpPr txBox="1"/>
          <p:nvPr/>
        </p:nvSpPr>
        <p:spPr>
          <a:xfrm>
            <a:off x="548640" y="1463040"/>
            <a:ext cx="10607040" cy="3840480"/>
          </a:xfrm>
          <a:prstGeom prst="rect">
            <a:avLst/>
          </a:prstGeom>
          <a:noFill/>
          <a:ln/>
        </p:spPr>
        <p:txBody>
          <a:bodyPr wrap="square" lIns="0" tIns="0" rIns="0" bIns="0" rtlCol="0" anchor="ctr"/>
          <a:lstStyle/>
          <a:p>
            <a:pPr indent="0" marL="0">
              <a:buNone/>
            </a:pPr>
            <a:r>
              <a:rPr lang="en-US" sz="6600" dirty="0">
                <a:solidFill>
                  <a:schemeClr val="bg1"/>
                </a:solidFill>
                <a:latin typeface="FR Kraken Slab Medium" pitchFamily="34" charset="0"/>
                <a:ea typeface="FR Kraken Slab Medium" pitchFamily="34" charset="-122"/>
                <a:cs typeface="FR Kraken Slab Medium" pitchFamily="34" charset="-120"/>
              </a:rPr>
              <a:t>What must be true, </a:t>
            </a:r>
            <a:pPr indent="0" marL="0">
              <a:buNone/>
            </a:pPr>
            <a:r>
              <a:rPr lang="en-US" sz="6600" dirty="0">
                <a:solidFill>
                  <a:schemeClr val="accent1"/>
                </a:solidFill>
                <a:latin typeface="FR Kraken Slab Medium" pitchFamily="34" charset="0"/>
                <a:ea typeface="FR Kraken Slab Medium" pitchFamily="34" charset="-122"/>
                <a:cs typeface="FR Kraken Slab Medium" pitchFamily="34" charset="-120"/>
              </a:rPr>
              <a:t>how do we learn?</a:t>
            </a:r>
            <a:endParaRPr lang="en-US" sz="6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07</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Solution Hypothesis</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What do we believe will change, and what would make us revise or stop?</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3904488"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SOLUTION HYPOTHESIS</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Write the rule before the result exists.</a:t>
            </a:r>
            <a:endParaRPr lang="en-US" sz="1600" dirty="0"/>
          </a:p>
        </p:txBody>
      </p:sp>
      <p:sp>
        <p:nvSpPr>
          <p:cNvPr id="9" name="Label IF / THEN"/>
          <p:cNvSpPr txBox="1"/>
          <p:nvPr/>
        </p:nvSpPr>
        <p:spPr>
          <a:xfrm>
            <a:off x="822960" y="1536192"/>
            <a:ext cx="45720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IF / THEN</a:t>
            </a:r>
            <a:endParaRPr lang="en-US" sz="1400" dirty="0"/>
          </a:p>
        </p:txBody>
      </p:sp>
      <p:sp>
        <p:nvSpPr>
          <p:cNvPr id="10" name="If then card"/>
          <p:cNvSpPr/>
          <p:nvPr/>
        </p:nvSpPr>
        <p:spPr>
          <a:xfrm>
            <a:off x="822960" y="1828800"/>
            <a:ext cx="10515600" cy="1097280"/>
          </a:xfrm>
          <a:prstGeom prst="roundRect">
            <a:avLst>
              <a:gd name="adj" fmla="val 10000"/>
            </a:avLst>
          </a:prstGeom>
          <a:solidFill>
            <a:schemeClr val="bg1"/>
          </a:solidFill>
          <a:ln w="12700">
            <a:solidFill>
              <a:schemeClr val="bg1"/>
            </a:solidFill>
            <a:prstDash val="solid"/>
          </a:ln>
        </p:spPr>
      </p:sp>
      <p:sp>
        <p:nvSpPr>
          <p:cNvPr id="11" name="If then statement"/>
          <p:cNvSpPr txBox="1"/>
          <p:nvPr/>
        </p:nvSpPr>
        <p:spPr>
          <a:xfrm>
            <a:off x="1051560" y="1874520"/>
            <a:ext cx="10058400" cy="1005840"/>
          </a:xfrm>
          <a:prstGeom prst="rect">
            <a:avLst/>
          </a:prstGeom>
          <a:noFill/>
          <a:ln/>
        </p:spPr>
        <p:txBody>
          <a:bodyPr wrap="square" lIns="0" tIns="0" rIns="0" bIns="0" rtlCol="0" anchor="ctr"/>
          <a:lstStyle/>
          <a:p>
            <a:pPr indent="0" marL="0">
              <a:buNone/>
            </a:pPr>
            <a:r>
              <a:rPr lang="en-US" sz="2400" b="1" dirty="0">
                <a:solidFill>
                  <a:schemeClr val="tx1"/>
                </a:solidFill>
                <a:latin typeface="PP Mori" pitchFamily="34" charset="0"/>
                <a:ea typeface="PP Mori" pitchFamily="34" charset="-122"/>
                <a:cs typeface="PP Mori" pitchFamily="34" charset="-120"/>
              </a:rPr>
              <a:t>If we </a:t>
            </a:r>
            <a:pPr indent="0" marL="0">
              <a:buNone/>
            </a:pPr>
            <a:r>
              <a:rPr lang="en-US" sz="2400" dirty="0">
                <a:solidFill>
                  <a:schemeClr val="tx1"/>
                </a:solidFill>
                <a:latin typeface="PP Mori" pitchFamily="34" charset="0"/>
                <a:ea typeface="PP Mori" pitchFamily="34" charset="-122"/>
                <a:cs typeface="PP Mori" pitchFamily="34" charset="-120"/>
              </a:rPr>
              <a:t>show source and timing, </a:t>
            </a:r>
            <a:pPr indent="0" marL="0">
              <a:buNone/>
            </a:pPr>
            <a:r>
              <a:rPr lang="en-US" sz="2400" b="1" dirty="0">
                <a:solidFill>
                  <a:schemeClr val="tx1"/>
                </a:solidFill>
                <a:latin typeface="PP Mori" pitchFamily="34" charset="0"/>
                <a:ea typeface="PP Mori" pitchFamily="34" charset="-122"/>
                <a:cs typeface="PP Mori" pitchFamily="34" charset="-120"/>
              </a:rPr>
              <a:t>for </a:t>
            </a:r>
            <a:pPr indent="0" marL="0">
              <a:buNone/>
            </a:pPr>
            <a:r>
              <a:rPr lang="en-US" sz="2400" dirty="0">
                <a:solidFill>
                  <a:schemeClr val="tx1"/>
                </a:solidFill>
                <a:latin typeface="PP Mori" pitchFamily="34" charset="0"/>
                <a:ea typeface="PP Mori" pitchFamily="34" charset="-122"/>
                <a:cs typeface="PP Mori" pitchFamily="34" charset="-120"/>
              </a:rPr>
              <a:t>maintenance managers, </a:t>
            </a:r>
            <a:pPr indent="0" marL="0">
              <a:buNone/>
            </a:pPr>
            <a:r>
              <a:rPr lang="en-US" sz="2400" b="1" dirty="0">
                <a:solidFill>
                  <a:schemeClr val="tx1"/>
                </a:solidFill>
                <a:latin typeface="PP Mori" pitchFamily="34" charset="0"/>
                <a:ea typeface="PP Mori" pitchFamily="34" charset="-122"/>
                <a:cs typeface="PP Mori" pitchFamily="34" charset="-120"/>
              </a:rPr>
              <a:t>then we will </a:t>
            </a:r>
            <a:pPr indent="0" marL="0">
              <a:buNone/>
            </a:pPr>
            <a:r>
              <a:rPr lang="en-US" sz="2400" dirty="0">
                <a:solidFill>
                  <a:schemeClr val="tx1"/>
                </a:solidFill>
                <a:latin typeface="PP Mori" pitchFamily="34" charset="0"/>
                <a:ea typeface="PP Mori" pitchFamily="34" charset="-122"/>
                <a:cs typeface="PP Mori" pitchFamily="34" charset="-120"/>
              </a:rPr>
              <a:t>help them pick and explain the next check.</a:t>
            </a:r>
            <a:endParaRPr lang="en-US" sz="2400" dirty="0"/>
          </a:p>
        </p:txBody>
      </p:sp>
      <p:sp>
        <p:nvSpPr>
          <p:cNvPr id="12" name="Label 2 TINY ACTS OF DISCOVERY"/>
          <p:cNvSpPr txBox="1"/>
          <p:nvPr/>
        </p:nvSpPr>
        <p:spPr>
          <a:xfrm>
            <a:off x="822960" y="3017520"/>
            <a:ext cx="50292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2 TINY ACTS OF DISCOVERY</a:t>
            </a:r>
            <a:endParaRPr lang="en-US" sz="1400" dirty="0"/>
          </a:p>
        </p:txBody>
      </p:sp>
      <p:sp>
        <p:nvSpPr>
          <p:cNvPr id="13" name="Tiny acts card"/>
          <p:cNvSpPr/>
          <p:nvPr/>
        </p:nvSpPr>
        <p:spPr>
          <a:xfrm>
            <a:off x="822960" y="3310128"/>
            <a:ext cx="5166360" cy="1417320"/>
          </a:xfrm>
          <a:prstGeom prst="roundRect">
            <a:avLst>
              <a:gd name="adj" fmla="val 7742"/>
            </a:avLst>
          </a:prstGeom>
          <a:solidFill>
            <a:schemeClr val="tx2"/>
          </a:solidFill>
          <a:ln w="15875">
            <a:solidFill>
              <a:schemeClr val="bg1"/>
            </a:solidFill>
            <a:prstDash val="solid"/>
          </a:ln>
        </p:spPr>
      </p:sp>
      <p:sp>
        <p:nvSpPr>
          <p:cNvPr id="14" name="Tiny acts text"/>
          <p:cNvSpPr txBox="1"/>
          <p:nvPr/>
        </p:nvSpPr>
        <p:spPr>
          <a:xfrm>
            <a:off x="1005840" y="3429000"/>
            <a:ext cx="4846320" cy="1188720"/>
          </a:xfrm>
          <a:prstGeom prst="rect">
            <a:avLst/>
          </a:prstGeom>
          <a:noFill/>
          <a:ln/>
        </p:spPr>
        <p:txBody>
          <a:bodyPr wrap="square" lIns="0" tIns="0" rIns="0" bIns="0" rtlCol="0" anchor="ctr"/>
          <a:lstStyle/>
          <a:p>
            <a:pPr marL="342900" indent="-342900">
              <a:spcAft>
                <a:spcPts val="600"/>
              </a:spcAft>
              <a:buSzPct val="100000"/>
              <a:buFont typeface="+mj-lt"/>
              <a:buAutoNum type="arabicPeriod" startAt="1"/>
            </a:pPr>
            <a:r>
              <a:rPr lang="en-US" sz="2000" dirty="0">
                <a:solidFill>
                  <a:schemeClr val="bg1"/>
                </a:solidFill>
                <a:latin typeface="PP Mori" pitchFamily="34" charset="0"/>
                <a:ea typeface="PP Mori" pitchFamily="34" charset="-122"/>
                <a:cs typeface="PP Mori" pitchFamily="34" charset="-120"/>
              </a:rPr>
              <a:t>Compare with and without source</a:t>
            </a:r>
            <a:endParaRPr lang="en-US" sz="2000" dirty="0"/>
          </a:p>
          <a:p>
            <a:pPr marL="342900" indent="-342900">
              <a:spcAft>
                <a:spcPts val="600"/>
              </a:spcAft>
              <a:buSzPct val="100000"/>
              <a:buFont typeface="+mj-lt"/>
              <a:buAutoNum type="arabicPeriod" startAt="1"/>
            </a:pPr>
            <a:r>
              <a:rPr lang="en-US" sz="2000" dirty="0">
                <a:solidFill>
                  <a:schemeClr val="bg1"/>
                </a:solidFill>
                <a:latin typeface="PP Mori" pitchFamily="34" charset="0"/>
                <a:ea typeface="PP Mori" pitchFamily="34" charset="-122"/>
                <a:cs typeface="PP Mori" pitchFamily="34" charset="-120"/>
              </a:rPr>
              <a:t>Walk one real past decision</a:t>
            </a:r>
            <a:endParaRPr lang="en-US" sz="2000" dirty="0"/>
          </a:p>
        </p:txBody>
      </p:sp>
      <p:sp>
        <p:nvSpPr>
          <p:cNvPr id="15" name="Label 1 QUANT + 1 QUAL METRIC"/>
          <p:cNvSpPr txBox="1"/>
          <p:nvPr/>
        </p:nvSpPr>
        <p:spPr>
          <a:xfrm>
            <a:off x="6172200" y="3017520"/>
            <a:ext cx="521208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1 QUANT + 1 QUAL METRIC</a:t>
            </a:r>
            <a:endParaRPr lang="en-US" sz="1400" dirty="0"/>
          </a:p>
        </p:txBody>
      </p:sp>
      <p:sp>
        <p:nvSpPr>
          <p:cNvPr id="16" name="Metrics card"/>
          <p:cNvSpPr/>
          <p:nvPr/>
        </p:nvSpPr>
        <p:spPr>
          <a:xfrm>
            <a:off x="6172200" y="3310128"/>
            <a:ext cx="5166360" cy="1417320"/>
          </a:xfrm>
          <a:prstGeom prst="roundRect">
            <a:avLst>
              <a:gd name="adj" fmla="val 7742"/>
            </a:avLst>
          </a:prstGeom>
          <a:solidFill>
            <a:schemeClr val="tx2"/>
          </a:solidFill>
          <a:ln w="15875">
            <a:solidFill>
              <a:schemeClr val="bg1"/>
            </a:solidFill>
            <a:prstDash val="solid"/>
          </a:ln>
        </p:spPr>
      </p:sp>
      <p:sp>
        <p:nvSpPr>
          <p:cNvPr id="17" name="Metrics text"/>
          <p:cNvSpPr txBox="1"/>
          <p:nvPr/>
        </p:nvSpPr>
        <p:spPr>
          <a:xfrm>
            <a:off x="6355080" y="3429000"/>
            <a:ext cx="4846320" cy="1188720"/>
          </a:xfrm>
          <a:prstGeom prst="rect">
            <a:avLst/>
          </a:prstGeom>
          <a:noFill/>
          <a:ln/>
        </p:spPr>
        <p:txBody>
          <a:bodyPr wrap="square" lIns="0" tIns="0" rIns="0" bIns="0" rtlCol="0" anchor="ctr"/>
          <a:lstStyle/>
          <a:p>
            <a:pPr marL="342900" indent="-342900">
              <a:spcAft>
                <a:spcPts val="600"/>
              </a:spcAft>
              <a:buSzPct val="100000"/>
              <a:buFont typeface="+mj-lt"/>
              <a:buAutoNum type="arabicPeriod" startAt="1"/>
            </a:pPr>
            <a:r>
              <a:rPr lang="en-US" sz="2000" dirty="0">
                <a:solidFill>
                  <a:schemeClr val="bg1"/>
                </a:solidFill>
                <a:latin typeface="PP Mori" pitchFamily="34" charset="0"/>
                <a:ea typeface="PP Mori" pitchFamily="34" charset="-122"/>
                <a:cs typeface="PP Mori" pitchFamily="34" charset="-120"/>
              </a:rPr>
              <a:t>Time to explain the choice</a:t>
            </a:r>
            <a:endParaRPr lang="en-US" sz="2000" dirty="0"/>
          </a:p>
          <a:p>
            <a:pPr marL="342900" indent="-342900">
              <a:spcAft>
                <a:spcPts val="600"/>
              </a:spcAft>
              <a:buSzPct val="100000"/>
              <a:buFont typeface="+mj-lt"/>
              <a:buAutoNum type="arabicPeriod" startAt="1"/>
            </a:pPr>
            <a:r>
              <a:rPr lang="en-US" sz="2000" dirty="0">
                <a:solidFill>
                  <a:schemeClr val="bg1"/>
                </a:solidFill>
                <a:latin typeface="PP Mori" pitchFamily="34" charset="0"/>
                <a:ea typeface="PP Mori" pitchFamily="34" charset="-122"/>
                <a:cs typeface="PP Mori" pitchFamily="34" charset="-120"/>
              </a:rPr>
              <a:t>Easier to defend, they say</a:t>
            </a:r>
            <a:endParaRPr lang="en-US" sz="2000" dirty="0"/>
          </a:p>
        </p:txBody>
      </p:sp>
      <p:sp>
        <p:nvSpPr>
          <p:cNvPr id="18" name="Label REVISE OR STOP IF"/>
          <p:cNvSpPr txBox="1"/>
          <p:nvPr/>
        </p:nvSpPr>
        <p:spPr>
          <a:xfrm>
            <a:off x="822960" y="4846320"/>
            <a:ext cx="54864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REVISE OR STOP IF</a:t>
            </a:r>
            <a:endParaRPr lang="en-US" sz="1400" dirty="0"/>
          </a:p>
        </p:txBody>
      </p:sp>
      <p:sp>
        <p:nvSpPr>
          <p:cNvPr id="19" name="Revise or stop rule"/>
          <p:cNvSpPr/>
          <p:nvPr/>
        </p:nvSpPr>
        <p:spPr>
          <a:xfrm>
            <a:off x="822960" y="5138928"/>
            <a:ext cx="10515600" cy="502920"/>
          </a:xfrm>
          <a:prstGeom prst="roundRect">
            <a:avLst>
              <a:gd name="adj" fmla="val 18182"/>
            </a:avLst>
          </a:prstGeom>
          <a:solidFill>
            <a:schemeClr val="tx2"/>
          </a:solidFill>
          <a:ln w="15875">
            <a:solidFill>
              <a:schemeClr val="accent1"/>
            </a:solidFill>
          </a:ln>
        </p:spPr>
        <p:txBody>
          <a:bodyPr wrap="square" lIns="25400" tIns="177800" rIns="177800" bIns="25400" rtlCol="0" anchor="ctr"/>
          <a:lstStyle/>
          <a:p>
            <a:pPr algn="l" indent="0" marL="0">
              <a:buNone/>
            </a:pPr>
            <a:r>
              <a:rPr lang="en-US" sz="2000" dirty="0">
                <a:solidFill>
                  <a:schemeClr val="bg1"/>
                </a:solidFill>
                <a:latin typeface="PP Mori" pitchFamily="34" charset="0"/>
                <a:ea typeface="PP Mori" pitchFamily="34" charset="-122"/>
                <a:cs typeface="PP Mori" pitchFamily="34" charset="-120"/>
              </a:rPr>
              <a:t>Permission, not data, decides the choice.</a:t>
            </a:r>
            <a:endParaRPr lang="en-US" sz="2000" dirty="0"/>
          </a:p>
        </p:txBody>
      </p:sp>
      <p:sp>
        <p:nvSpPr>
          <p:cNvPr id="20" name="Pill NOT RUN"/>
          <p:cNvSpPr/>
          <p:nvPr/>
        </p:nvSpPr>
        <p:spPr>
          <a:xfrm>
            <a:off x="10058400" y="1463040"/>
            <a:ext cx="1280160"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NOT RUN</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08</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Storyboard</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What does the story look like, from who has the problem to who else gets the win?</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2834640"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STORYBOARD</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Aim for authenticity, simplicity and emotion.</a:t>
            </a:r>
            <a:endParaRPr lang="en-US" sz="1600" dirty="0"/>
          </a:p>
        </p:txBody>
      </p:sp>
      <p:sp>
        <p:nvSpPr>
          <p:cNvPr id="9" name="Summary label"/>
          <p:cNvSpPr txBox="1"/>
          <p:nvPr/>
        </p:nvSpPr>
        <p:spPr>
          <a:xfrm>
            <a:off x="822960" y="1536192"/>
            <a:ext cx="3657600" cy="274320"/>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SOLUTION SUMMARY</a:t>
            </a:r>
            <a:endParaRPr lang="en-US" sz="1400" dirty="0"/>
          </a:p>
        </p:txBody>
      </p:sp>
      <p:sp>
        <p:nvSpPr>
          <p:cNvPr id="10" name="Status note"/>
          <p:cNvSpPr txBox="1"/>
          <p:nvPr/>
        </p:nvSpPr>
        <p:spPr>
          <a:xfrm>
            <a:off x="7498080" y="1536192"/>
            <a:ext cx="3840480" cy="274320"/>
          </a:xfrm>
          <a:prstGeom prst="rect">
            <a:avLst/>
          </a:prstGeom>
          <a:noFill/>
          <a:ln/>
        </p:spPr>
        <p:txBody>
          <a:bodyPr wrap="square" lIns="0" tIns="0" rIns="0" bIns="0" rtlCol="0" anchor="t"/>
          <a:lstStyle/>
          <a:p>
            <a:pPr algn="r" indent="0" marL="0">
              <a:buNone/>
            </a:pPr>
            <a:r>
              <a:rPr lang="en-US" sz="1400" spc="120" kern="0" dirty="0">
                <a:solidFill>
                  <a:schemeClr val="accent4"/>
                </a:solidFill>
                <a:latin typeface="Clash Display Semibold" pitchFamily="34" charset="0"/>
                <a:ea typeface="Clash Display Semibold" pitchFamily="34" charset="-122"/>
                <a:cs typeface="Clash Display Semibold" pitchFamily="34" charset="-120"/>
              </a:rPr>
              <a:t>NOT RENDERED  |  SYNTHETIC</a:t>
            </a:r>
            <a:endParaRPr lang="en-US" sz="1400" dirty="0"/>
          </a:p>
        </p:txBody>
      </p:sp>
      <p:sp>
        <p:nvSpPr>
          <p:cNvPr id="11" name="Solution summary"/>
          <p:cNvSpPr/>
          <p:nvPr/>
        </p:nvSpPr>
        <p:spPr>
          <a:xfrm>
            <a:off x="822960" y="1874520"/>
            <a:ext cx="10515600" cy="640080"/>
          </a:xfrm>
          <a:prstGeom prst="roundRect">
            <a:avLst>
              <a:gd name="adj" fmla="val 17143"/>
            </a:avLst>
          </a:prstGeom>
          <a:solidFill>
            <a:schemeClr val="tx2"/>
          </a:solidFill>
          <a:ln w="15875">
            <a:solidFill>
              <a:schemeClr val="bg1"/>
            </a:solidFill>
          </a:ln>
        </p:spPr>
        <p:txBody>
          <a:bodyPr wrap="square" lIns="50800" tIns="177800" rIns="177800" bIns="50800" rtlCol="0" anchor="ctr"/>
          <a:lstStyle/>
          <a:p>
            <a:pPr algn="l" indent="0" marL="0">
              <a:buNone/>
            </a:pPr>
            <a:r>
              <a:rPr lang="en-US" sz="2200" dirty="0">
                <a:solidFill>
                  <a:schemeClr val="bg1"/>
                </a:solidFill>
                <a:latin typeface="PP Mori" pitchFamily="34" charset="0"/>
                <a:ea typeface="PP Mori" pitchFamily="34" charset="-122"/>
                <a:cs typeface="PP Mori" pitchFamily="34" charset="-120"/>
              </a:rPr>
              <a:t>If we show source and timing, managers choose with less doubt.</a:t>
            </a:r>
            <a:endParaRPr lang="en-US" sz="2200" dirty="0"/>
          </a:p>
        </p:txBody>
      </p:sp>
      <p:sp>
        <p:nvSpPr>
          <p:cNvPr id="12" name="Frame 1"/>
          <p:cNvSpPr/>
          <p:nvPr/>
        </p:nvSpPr>
        <p:spPr>
          <a:xfrm>
            <a:off x="822960" y="2697480"/>
            <a:ext cx="1645920" cy="1234440"/>
          </a:xfrm>
          <a:prstGeom prst="roundRect">
            <a:avLst>
              <a:gd name="adj" fmla="val 7407"/>
            </a:avLst>
          </a:prstGeom>
          <a:solidFill>
            <a:schemeClr val="bg1"/>
          </a:solidFill>
          <a:ln w="25400">
            <a:solidFill>
              <a:schemeClr val="accent1"/>
            </a:solidFill>
            <a:prstDash val="solid"/>
          </a:ln>
        </p:spPr>
      </p:sp>
      <p:sp>
        <p:nvSpPr>
          <p:cNvPr id="13" name="Frame 1 number"/>
          <p:cNvSpPr txBox="1"/>
          <p:nvPr/>
        </p:nvSpPr>
        <p:spPr>
          <a:xfrm>
            <a:off x="914400"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1</a:t>
            </a:r>
            <a:endParaRPr lang="en-US" sz="1600" dirty="0"/>
          </a:p>
        </p:txBody>
      </p:sp>
      <p:sp>
        <p:nvSpPr>
          <p:cNvPr id="14" name="Frame 1 label"/>
          <p:cNvSpPr txBox="1"/>
          <p:nvPr/>
        </p:nvSpPr>
        <p:spPr>
          <a:xfrm>
            <a:off x="822960"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Who has the problem?</a:t>
            </a:r>
            <a:endParaRPr lang="en-US" sz="1600" dirty="0"/>
          </a:p>
        </p:txBody>
      </p:sp>
      <p:sp>
        <p:nvSpPr>
          <p:cNvPr id="15" name="Frame 1 caption"/>
          <p:cNvSpPr txBox="1"/>
          <p:nvPr/>
        </p:nvSpPr>
        <p:spPr>
          <a:xfrm>
            <a:off x="822960"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A maintenance manager</a:t>
            </a:r>
            <a:endParaRPr lang="en-US" sz="1600" dirty="0"/>
          </a:p>
        </p:txBody>
      </p:sp>
      <p:sp>
        <p:nvSpPr>
          <p:cNvPr id="16" name="Arrow 1"/>
          <p:cNvSpPr/>
          <p:nvPr/>
        </p:nvSpPr>
        <p:spPr>
          <a:xfrm>
            <a:off x="2478024" y="3310128"/>
            <a:ext cx="109728" cy="0"/>
          </a:xfrm>
          <a:prstGeom prst="line">
            <a:avLst/>
          </a:prstGeom>
          <a:noFill/>
          <a:ln w="25400">
            <a:solidFill>
              <a:schemeClr val="accent1"/>
            </a:solidFill>
            <a:prstDash val="solid"/>
            <a:tailEnd type="triangle"/>
          </a:ln>
        </p:spPr>
      </p:sp>
      <p:sp>
        <p:nvSpPr>
          <p:cNvPr id="17" name="Frame 2"/>
          <p:cNvSpPr/>
          <p:nvPr/>
        </p:nvSpPr>
        <p:spPr>
          <a:xfrm>
            <a:off x="2596896" y="2697480"/>
            <a:ext cx="1645920" cy="1234440"/>
          </a:xfrm>
          <a:prstGeom prst="roundRect">
            <a:avLst>
              <a:gd name="adj" fmla="val 7407"/>
            </a:avLst>
          </a:prstGeom>
          <a:solidFill>
            <a:schemeClr val="bg1"/>
          </a:solidFill>
          <a:ln w="25400">
            <a:solidFill>
              <a:schemeClr val="accent1"/>
            </a:solidFill>
            <a:prstDash val="solid"/>
          </a:ln>
        </p:spPr>
      </p:sp>
      <p:sp>
        <p:nvSpPr>
          <p:cNvPr id="18" name="Frame 2 number"/>
          <p:cNvSpPr txBox="1"/>
          <p:nvPr/>
        </p:nvSpPr>
        <p:spPr>
          <a:xfrm>
            <a:off x="2688336"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2</a:t>
            </a:r>
            <a:endParaRPr lang="en-US" sz="1600" dirty="0"/>
          </a:p>
        </p:txBody>
      </p:sp>
      <p:sp>
        <p:nvSpPr>
          <p:cNvPr id="19" name="Frame 2 label"/>
          <p:cNvSpPr txBox="1"/>
          <p:nvPr/>
        </p:nvSpPr>
        <p:spPr>
          <a:xfrm>
            <a:off x="2596896"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What is the problem?</a:t>
            </a:r>
            <a:endParaRPr lang="en-US" sz="1600" dirty="0"/>
          </a:p>
        </p:txBody>
      </p:sp>
      <p:sp>
        <p:nvSpPr>
          <p:cNvPr id="20" name="Frame 2 caption"/>
          <p:cNvSpPr txBox="1"/>
          <p:nvPr/>
        </p:nvSpPr>
        <p:spPr>
          <a:xfrm>
            <a:off x="2596896"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Reports disagree</a:t>
            </a:r>
            <a:endParaRPr lang="en-US" sz="1600" dirty="0"/>
          </a:p>
        </p:txBody>
      </p:sp>
      <p:sp>
        <p:nvSpPr>
          <p:cNvPr id="21" name="Arrow 2"/>
          <p:cNvSpPr/>
          <p:nvPr/>
        </p:nvSpPr>
        <p:spPr>
          <a:xfrm>
            <a:off x="4251960" y="3310128"/>
            <a:ext cx="109728" cy="0"/>
          </a:xfrm>
          <a:prstGeom prst="line">
            <a:avLst/>
          </a:prstGeom>
          <a:noFill/>
          <a:ln w="25400">
            <a:solidFill>
              <a:schemeClr val="accent1"/>
            </a:solidFill>
            <a:prstDash val="solid"/>
            <a:tailEnd type="triangle"/>
          </a:ln>
        </p:spPr>
      </p:sp>
      <p:sp>
        <p:nvSpPr>
          <p:cNvPr id="22" name="Frame 3"/>
          <p:cNvSpPr/>
          <p:nvPr/>
        </p:nvSpPr>
        <p:spPr>
          <a:xfrm>
            <a:off x="4370832" y="2697480"/>
            <a:ext cx="1645920" cy="1234440"/>
          </a:xfrm>
          <a:prstGeom prst="roundRect">
            <a:avLst>
              <a:gd name="adj" fmla="val 7407"/>
            </a:avLst>
          </a:prstGeom>
          <a:solidFill>
            <a:schemeClr val="bg1"/>
          </a:solidFill>
          <a:ln w="25400">
            <a:solidFill>
              <a:schemeClr val="accent1"/>
            </a:solidFill>
            <a:prstDash val="solid"/>
          </a:ln>
        </p:spPr>
      </p:sp>
      <p:sp>
        <p:nvSpPr>
          <p:cNvPr id="23" name="Frame 3 number"/>
          <p:cNvSpPr txBox="1"/>
          <p:nvPr/>
        </p:nvSpPr>
        <p:spPr>
          <a:xfrm>
            <a:off x="4462272"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3</a:t>
            </a:r>
            <a:endParaRPr lang="en-US" sz="1600" dirty="0"/>
          </a:p>
        </p:txBody>
      </p:sp>
      <p:sp>
        <p:nvSpPr>
          <p:cNvPr id="24" name="Frame 3 label"/>
          <p:cNvSpPr txBox="1"/>
          <p:nvPr/>
        </p:nvSpPr>
        <p:spPr>
          <a:xfrm>
            <a:off x="4370832"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Oh crap</a:t>
            </a:r>
            <a:endParaRPr lang="en-US" sz="1600" dirty="0"/>
          </a:p>
        </p:txBody>
      </p:sp>
      <p:sp>
        <p:nvSpPr>
          <p:cNvPr id="25" name="Frame 3 caption"/>
          <p:cNvSpPr txBox="1"/>
          <p:nvPr/>
        </p:nvSpPr>
        <p:spPr>
          <a:xfrm>
            <a:off x="4370832"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Deadline. Wrong call looms.</a:t>
            </a:r>
            <a:endParaRPr lang="en-US" sz="1600" dirty="0"/>
          </a:p>
        </p:txBody>
      </p:sp>
      <p:sp>
        <p:nvSpPr>
          <p:cNvPr id="26" name="Arrow 3"/>
          <p:cNvSpPr/>
          <p:nvPr/>
        </p:nvSpPr>
        <p:spPr>
          <a:xfrm>
            <a:off x="6025896" y="3310128"/>
            <a:ext cx="109728" cy="0"/>
          </a:xfrm>
          <a:prstGeom prst="line">
            <a:avLst/>
          </a:prstGeom>
          <a:noFill/>
          <a:ln w="25400">
            <a:solidFill>
              <a:schemeClr val="accent1"/>
            </a:solidFill>
            <a:prstDash val="solid"/>
            <a:tailEnd type="triangle"/>
          </a:ln>
        </p:spPr>
      </p:sp>
      <p:sp>
        <p:nvSpPr>
          <p:cNvPr id="27" name="Frame 4"/>
          <p:cNvSpPr/>
          <p:nvPr/>
        </p:nvSpPr>
        <p:spPr>
          <a:xfrm>
            <a:off x="6144768" y="2697480"/>
            <a:ext cx="1645920" cy="1234440"/>
          </a:xfrm>
          <a:prstGeom prst="roundRect">
            <a:avLst>
              <a:gd name="adj" fmla="val 7407"/>
            </a:avLst>
          </a:prstGeom>
          <a:solidFill>
            <a:schemeClr val="bg1"/>
          </a:solidFill>
          <a:ln w="25400">
            <a:solidFill>
              <a:schemeClr val="accent1"/>
            </a:solidFill>
            <a:prstDash val="solid"/>
          </a:ln>
        </p:spPr>
      </p:sp>
      <p:sp>
        <p:nvSpPr>
          <p:cNvPr id="28" name="Frame 4 number"/>
          <p:cNvSpPr txBox="1"/>
          <p:nvPr/>
        </p:nvSpPr>
        <p:spPr>
          <a:xfrm>
            <a:off x="6236208"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4</a:t>
            </a:r>
            <a:endParaRPr lang="en-US" sz="1600" dirty="0"/>
          </a:p>
        </p:txBody>
      </p:sp>
      <p:sp>
        <p:nvSpPr>
          <p:cNvPr id="29" name="Frame 4 label"/>
          <p:cNvSpPr txBox="1"/>
          <p:nvPr/>
        </p:nvSpPr>
        <p:spPr>
          <a:xfrm>
            <a:off x="6144768"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Solution arrives</a:t>
            </a:r>
            <a:endParaRPr lang="en-US" sz="1600" dirty="0"/>
          </a:p>
        </p:txBody>
      </p:sp>
      <p:sp>
        <p:nvSpPr>
          <p:cNvPr id="30" name="Frame 4 caption"/>
          <p:cNvSpPr txBox="1"/>
          <p:nvPr/>
        </p:nvSpPr>
        <p:spPr>
          <a:xfrm>
            <a:off x="6144768"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Shared report view</a:t>
            </a:r>
            <a:endParaRPr lang="en-US" sz="1600" dirty="0"/>
          </a:p>
        </p:txBody>
      </p:sp>
      <p:sp>
        <p:nvSpPr>
          <p:cNvPr id="31" name="Arrow 4"/>
          <p:cNvSpPr/>
          <p:nvPr/>
        </p:nvSpPr>
        <p:spPr>
          <a:xfrm>
            <a:off x="7799832" y="3310128"/>
            <a:ext cx="109728" cy="0"/>
          </a:xfrm>
          <a:prstGeom prst="line">
            <a:avLst/>
          </a:prstGeom>
          <a:noFill/>
          <a:ln w="25400">
            <a:solidFill>
              <a:schemeClr val="accent1"/>
            </a:solidFill>
            <a:prstDash val="solid"/>
            <a:tailEnd type="triangle"/>
          </a:ln>
        </p:spPr>
      </p:sp>
      <p:sp>
        <p:nvSpPr>
          <p:cNvPr id="32" name="Frame 5"/>
          <p:cNvSpPr/>
          <p:nvPr/>
        </p:nvSpPr>
        <p:spPr>
          <a:xfrm>
            <a:off x="7918704" y="2697480"/>
            <a:ext cx="1645920" cy="1234440"/>
          </a:xfrm>
          <a:prstGeom prst="roundRect">
            <a:avLst>
              <a:gd name="adj" fmla="val 7407"/>
            </a:avLst>
          </a:prstGeom>
          <a:solidFill>
            <a:schemeClr val="bg1"/>
          </a:solidFill>
          <a:ln w="25400">
            <a:solidFill>
              <a:schemeClr val="accent1"/>
            </a:solidFill>
            <a:prstDash val="solid"/>
          </a:ln>
        </p:spPr>
      </p:sp>
      <p:sp>
        <p:nvSpPr>
          <p:cNvPr id="33" name="Frame 5 number"/>
          <p:cNvSpPr txBox="1"/>
          <p:nvPr/>
        </p:nvSpPr>
        <p:spPr>
          <a:xfrm>
            <a:off x="8010144"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5</a:t>
            </a:r>
            <a:endParaRPr lang="en-US" sz="1600" dirty="0"/>
          </a:p>
        </p:txBody>
      </p:sp>
      <p:sp>
        <p:nvSpPr>
          <p:cNvPr id="34" name="Frame 5 label"/>
          <p:cNvSpPr txBox="1"/>
          <p:nvPr/>
        </p:nvSpPr>
        <p:spPr>
          <a:xfrm>
            <a:off x="7918704"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Aha moment</a:t>
            </a:r>
            <a:endParaRPr lang="en-US" sz="1600" dirty="0"/>
          </a:p>
        </p:txBody>
      </p:sp>
      <p:sp>
        <p:nvSpPr>
          <p:cNvPr id="35" name="Frame 5 caption"/>
          <p:cNvSpPr txBox="1"/>
          <p:nvPr/>
        </p:nvSpPr>
        <p:spPr>
          <a:xfrm>
            <a:off x="7918704"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Explains the choice fast</a:t>
            </a:r>
            <a:endParaRPr lang="en-US" sz="1600" dirty="0"/>
          </a:p>
        </p:txBody>
      </p:sp>
      <p:sp>
        <p:nvSpPr>
          <p:cNvPr id="36" name="Arrow 5"/>
          <p:cNvSpPr/>
          <p:nvPr/>
        </p:nvSpPr>
        <p:spPr>
          <a:xfrm>
            <a:off x="9573768" y="3310128"/>
            <a:ext cx="109728" cy="0"/>
          </a:xfrm>
          <a:prstGeom prst="line">
            <a:avLst/>
          </a:prstGeom>
          <a:noFill/>
          <a:ln w="25400">
            <a:solidFill>
              <a:schemeClr val="accent1"/>
            </a:solidFill>
            <a:prstDash val="solid"/>
            <a:tailEnd type="triangle"/>
          </a:ln>
        </p:spPr>
      </p:sp>
      <p:sp>
        <p:nvSpPr>
          <p:cNvPr id="37" name="Frame 6"/>
          <p:cNvSpPr/>
          <p:nvPr/>
        </p:nvSpPr>
        <p:spPr>
          <a:xfrm>
            <a:off x="9692640" y="2697480"/>
            <a:ext cx="1645920" cy="1234440"/>
          </a:xfrm>
          <a:prstGeom prst="roundRect">
            <a:avLst>
              <a:gd name="adj" fmla="val 7407"/>
            </a:avLst>
          </a:prstGeom>
          <a:solidFill>
            <a:schemeClr val="bg1"/>
          </a:solidFill>
          <a:ln w="25400">
            <a:solidFill>
              <a:schemeClr val="accent1"/>
            </a:solidFill>
            <a:prstDash val="solid"/>
          </a:ln>
        </p:spPr>
      </p:sp>
      <p:sp>
        <p:nvSpPr>
          <p:cNvPr id="38" name="Frame 6 number"/>
          <p:cNvSpPr txBox="1"/>
          <p:nvPr/>
        </p:nvSpPr>
        <p:spPr>
          <a:xfrm>
            <a:off x="9784080" y="2743200"/>
            <a:ext cx="365760" cy="320040"/>
          </a:xfrm>
          <a:prstGeom prst="rect">
            <a:avLst/>
          </a:prstGeom>
          <a:noFill/>
          <a:ln/>
        </p:spPr>
        <p:txBody>
          <a:bodyPr wrap="square" lIns="0" tIns="0" rIns="0" bIns="0" rtlCol="0" anchor="t"/>
          <a:lstStyle/>
          <a:p>
            <a:pPr indent="0" marL="0">
              <a:buNone/>
            </a:pPr>
            <a:r>
              <a:rPr lang="en-US" sz="1600" dirty="0">
                <a:solidFill>
                  <a:srgbClr val="007A3D"/>
                </a:solidFill>
                <a:latin typeface="Clash Display Semibold" pitchFamily="34" charset="0"/>
                <a:ea typeface="Clash Display Semibold" pitchFamily="34" charset="-122"/>
                <a:cs typeface="Clash Display Semibold" pitchFamily="34" charset="-120"/>
              </a:rPr>
              <a:t>6</a:t>
            </a:r>
            <a:endParaRPr lang="en-US" sz="1600" dirty="0"/>
          </a:p>
        </p:txBody>
      </p:sp>
      <p:sp>
        <p:nvSpPr>
          <p:cNvPr id="39" name="Frame 6 label"/>
          <p:cNvSpPr txBox="1"/>
          <p:nvPr/>
        </p:nvSpPr>
        <p:spPr>
          <a:xfrm>
            <a:off x="9692640" y="4023360"/>
            <a:ext cx="1645920" cy="594360"/>
          </a:xfrm>
          <a:prstGeom prst="rect">
            <a:avLst/>
          </a:prstGeom>
          <a:noFill/>
          <a:ln/>
        </p:spPr>
        <p:txBody>
          <a:bodyPr wrap="square" lIns="0" tIns="0" rIns="0" bIns="0" rtlCol="0" anchor="t"/>
          <a:lstStyle/>
          <a:p>
            <a:pPr indent="0" marL="0">
              <a:buNone/>
            </a:pPr>
            <a:r>
              <a:rPr lang="en-US" sz="1600" dirty="0">
                <a:solidFill>
                  <a:schemeClr val="bg1"/>
                </a:solidFill>
                <a:latin typeface="Clash Grotesk Medium" pitchFamily="34" charset="0"/>
                <a:ea typeface="Clash Grotesk Medium" pitchFamily="34" charset="-122"/>
                <a:cs typeface="Clash Grotesk Medium" pitchFamily="34" charset="-120"/>
              </a:rPr>
              <a:t>Sharing the love</a:t>
            </a:r>
            <a:endParaRPr lang="en-US" sz="1600" dirty="0"/>
          </a:p>
        </p:txBody>
      </p:sp>
      <p:sp>
        <p:nvSpPr>
          <p:cNvPr id="40" name="Frame 6 caption"/>
          <p:cNvSpPr txBox="1"/>
          <p:nvPr/>
        </p:nvSpPr>
        <p:spPr>
          <a:xfrm>
            <a:off x="9692640" y="4663440"/>
            <a:ext cx="1645920" cy="91440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Team reuses it</a:t>
            </a:r>
            <a:endParaRPr lang="en-US" sz="16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Motion number"/>
          <p:cNvSpPr txBox="1"/>
          <p:nvPr/>
        </p:nvSpPr>
        <p:spPr>
          <a:xfrm>
            <a:off x="548640" y="365760"/>
            <a:ext cx="1097280" cy="822960"/>
          </a:xfrm>
          <a:prstGeom prst="rect">
            <a:avLst/>
          </a:prstGeom>
          <a:noFill/>
          <a:ln/>
        </p:spPr>
        <p:txBody>
          <a:bodyPr wrap="square" lIns="0" tIns="0" rIns="0" bIns="0" rtlCol="0" anchor="t"/>
          <a:lstStyle/>
          <a:p>
            <a:pPr indent="0" marL="0">
              <a:buNone/>
            </a:pPr>
            <a:r>
              <a:rPr lang="en-US" sz="4400" dirty="0">
                <a:solidFill>
                  <a:schemeClr val="accent1"/>
                </a:solidFill>
                <a:latin typeface="Clash Display Semibold" pitchFamily="34" charset="0"/>
                <a:ea typeface="Clash Display Semibold" pitchFamily="34" charset="-122"/>
                <a:cs typeface="Clash Display Semibold" pitchFamily="34" charset="-120"/>
              </a:rPr>
              <a:t>09</a:t>
            </a:r>
            <a:endParaRPr lang="en-US" sz="4400" dirty="0"/>
          </a:p>
        </p:txBody>
      </p:sp>
      <p:sp>
        <p:nvSpPr>
          <p:cNvPr id="3" name="Title"/>
          <p:cNvSpPr txBox="1"/>
          <p:nvPr/>
        </p:nvSpPr>
        <p:spPr>
          <a:xfrm>
            <a:off x="1645920" y="365760"/>
            <a:ext cx="4023360" cy="868680"/>
          </a:xfrm>
          <a:prstGeom prst="rect">
            <a:avLst/>
          </a:prstGeom>
          <a:noFill/>
          <a:ln/>
        </p:spPr>
        <p:txBody>
          <a:bodyPr wrap="square" lIns="0" tIns="0" rIns="0" bIns="0" rtlCol="0" anchor="ctr"/>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Minimum Viable Narrative</a:t>
            </a:r>
            <a:endParaRPr lang="en-US" sz="3000" dirty="0"/>
          </a:p>
        </p:txBody>
      </p:sp>
      <p:sp>
        <p:nvSpPr>
          <p:cNvPr id="4" name="Question"/>
          <p:cNvSpPr txBox="1"/>
          <p:nvPr/>
        </p:nvSpPr>
        <p:spPr>
          <a:xfrm>
            <a:off x="5852160" y="411480"/>
            <a:ext cx="5760720" cy="822960"/>
          </a:xfrm>
          <a:prstGeom prst="rect">
            <a:avLst/>
          </a:prstGeom>
          <a:noFill/>
          <a:ln/>
        </p:spPr>
        <p:txBody>
          <a:bodyPr wrap="square" lIns="0" tIns="0" rIns="0" bIns="0" rtlCol="0" anchor="ctr"/>
          <a:lstStyle/>
          <a:p>
            <a:pPr indent="0" marL="0">
              <a:buNone/>
            </a:pPr>
            <a:r>
              <a:rPr lang="en-US" sz="1800" dirty="0">
                <a:solidFill>
                  <a:srgbClr val="B3B3B3"/>
                </a:solidFill>
                <a:latin typeface="PP Mori" pitchFamily="34" charset="0"/>
                <a:ea typeface="PP Mori" pitchFamily="34" charset="-122"/>
                <a:cs typeface="PP Mori" pitchFamily="34" charset="-120"/>
              </a:rPr>
              <a:t>What is the smallest story worth testing?</a:t>
            </a:r>
            <a:endParaRPr lang="en-US" sz="1800" dirty="0"/>
          </a:p>
        </p:txBody>
      </p:sp>
      <p:sp>
        <p:nvSpPr>
          <p:cNvPr id="5" name="Visual panel"/>
          <p:cNvSpPr/>
          <p:nvPr/>
        </p:nvSpPr>
        <p:spPr>
          <a:xfrm>
            <a:off x="548640" y="1417320"/>
            <a:ext cx="11064240" cy="4389120"/>
          </a:xfrm>
          <a:prstGeom prst="roundRect">
            <a:avLst>
              <a:gd name="adj" fmla="val 6250"/>
            </a:avLst>
          </a:prstGeom>
          <a:solidFill>
            <a:schemeClr val="tx2"/>
          </a:solidFill>
          <a:ln w="12700">
            <a:solidFill>
              <a:srgbClr val="262626"/>
            </a:solidFill>
            <a:prstDash val="solid"/>
          </a:ln>
        </p:spPr>
      </p:sp>
      <p:sp>
        <p:nvSpPr>
          <p:cNvPr id="6" name="Artifact pill"/>
          <p:cNvSpPr/>
          <p:nvPr/>
        </p:nvSpPr>
        <p:spPr>
          <a:xfrm>
            <a:off x="548640" y="5943600"/>
            <a:ext cx="4498848"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MINIMUM VIABLE NARRATIVE</a:t>
            </a:r>
            <a:endParaRPr lang="en-US" sz="1200" dirty="0"/>
          </a:p>
        </p:txBody>
      </p:sp>
      <p:sp>
        <p:nvSpPr>
          <p:cNvPr id="7" name="Rule"/>
          <p:cNvSpPr txBox="1"/>
          <p:nvPr/>
        </p:nvSpPr>
        <p:spPr>
          <a:xfrm>
            <a:off x="5394960" y="5943600"/>
            <a:ext cx="6217920" cy="329184"/>
          </a:xfrm>
          <a:prstGeom prst="rect">
            <a:avLst/>
          </a:prstGeom>
          <a:noFill/>
          <a:ln/>
        </p:spPr>
        <p:txBody>
          <a:bodyPr wrap="square" lIns="0" tIns="0" rIns="0" bIns="0" rtlCol="0" anchor="ctr"/>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600" dirty="0">
                <a:solidFill>
                  <a:schemeClr val="accent1"/>
                </a:solidFill>
                <a:latin typeface="PP Mori" pitchFamily="34" charset="0"/>
                <a:ea typeface="PP Mori" pitchFamily="34" charset="-122"/>
                <a:cs typeface="PP Mori" pitchFamily="34" charset="-120"/>
              </a:rPr>
              <a:t>The smallest story worth testing.</a:t>
            </a:r>
            <a:endParaRPr lang="en-US" sz="1600" dirty="0"/>
          </a:p>
        </p:txBody>
      </p:sp>
      <p:sp>
        <p:nvSpPr>
          <p:cNvPr id="9" name="Prototype hypothesis card"/>
          <p:cNvSpPr/>
          <p:nvPr/>
        </p:nvSpPr>
        <p:spPr>
          <a:xfrm>
            <a:off x="822960" y="1554480"/>
            <a:ext cx="10515600" cy="868680"/>
          </a:xfrm>
          <a:prstGeom prst="roundRect">
            <a:avLst>
              <a:gd name="adj" fmla="val 10526"/>
            </a:avLst>
          </a:prstGeom>
          <a:solidFill>
            <a:schemeClr val="tx2"/>
          </a:solidFill>
          <a:ln w="15875">
            <a:solidFill>
              <a:schemeClr val="bg1"/>
            </a:solidFill>
            <a:prstDash val="solid"/>
          </a:ln>
        </p:spPr>
      </p:sp>
      <p:sp>
        <p:nvSpPr>
          <p:cNvPr id="10" name="Label PROTOTYPE HYPOTHESIS"/>
          <p:cNvSpPr txBox="1"/>
          <p:nvPr/>
        </p:nvSpPr>
        <p:spPr>
          <a:xfrm>
            <a:off x="960120" y="1627632"/>
            <a:ext cx="1024128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PROTOTYPE HYPOTHESIS</a:t>
            </a:r>
            <a:endParaRPr lang="en-US" sz="1400" dirty="0"/>
          </a:p>
        </p:txBody>
      </p:sp>
      <p:sp>
        <p:nvSpPr>
          <p:cNvPr id="11" name="Prototype hypothesis text"/>
          <p:cNvSpPr txBox="1"/>
          <p:nvPr/>
        </p:nvSpPr>
        <p:spPr>
          <a:xfrm>
            <a:off x="960120" y="1938528"/>
            <a:ext cx="10241280" cy="411480"/>
          </a:xfrm>
          <a:prstGeom prst="rect">
            <a:avLst/>
          </a:prstGeom>
          <a:noFill/>
          <a:ln/>
        </p:spPr>
        <p:txBody>
          <a:bodyPr wrap="square" lIns="0" tIns="0" rIns="0" bIns="0" rtlCol="0" anchor="t"/>
          <a:lstStyle/>
          <a:p>
            <a:pPr indent="0" marL="0">
              <a:buNone/>
            </a:pPr>
            <a:r>
              <a:rPr lang="en-US" sz="2000" dirty="0">
                <a:solidFill>
                  <a:schemeClr val="bg1"/>
                </a:solidFill>
                <a:latin typeface="PP Mori" pitchFamily="34" charset="0"/>
                <a:ea typeface="PP Mori" pitchFamily="34" charset="-122"/>
                <a:cs typeface="PP Mori" pitchFamily="34" charset="-120"/>
              </a:rPr>
              <a:t>Source and timing visible, so managers choose and explain faster.</a:t>
            </a:r>
            <a:endParaRPr lang="en-US" sz="2000" dirty="0"/>
          </a:p>
        </p:txBody>
      </p:sp>
      <p:sp>
        <p:nvSpPr>
          <p:cNvPr id="12" name="Target audience card"/>
          <p:cNvSpPr/>
          <p:nvPr/>
        </p:nvSpPr>
        <p:spPr>
          <a:xfrm>
            <a:off x="822960" y="2514600"/>
            <a:ext cx="10515600" cy="868680"/>
          </a:xfrm>
          <a:prstGeom prst="roundRect">
            <a:avLst>
              <a:gd name="adj" fmla="val 10526"/>
            </a:avLst>
          </a:prstGeom>
          <a:solidFill>
            <a:schemeClr val="tx2"/>
          </a:solidFill>
          <a:ln w="15875">
            <a:solidFill>
              <a:schemeClr val="bg1"/>
            </a:solidFill>
            <a:prstDash val="solid"/>
          </a:ln>
        </p:spPr>
      </p:sp>
      <p:sp>
        <p:nvSpPr>
          <p:cNvPr id="13" name="Label TARGET AUDIENCE"/>
          <p:cNvSpPr txBox="1"/>
          <p:nvPr/>
        </p:nvSpPr>
        <p:spPr>
          <a:xfrm>
            <a:off x="960120" y="2587752"/>
            <a:ext cx="1024128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TARGET AUDIENCE</a:t>
            </a:r>
            <a:endParaRPr lang="en-US" sz="1400" dirty="0"/>
          </a:p>
        </p:txBody>
      </p:sp>
      <p:sp>
        <p:nvSpPr>
          <p:cNvPr id="14" name="Target audience text"/>
          <p:cNvSpPr txBox="1"/>
          <p:nvPr/>
        </p:nvSpPr>
        <p:spPr>
          <a:xfrm>
            <a:off x="960120" y="2898648"/>
            <a:ext cx="10241280" cy="411480"/>
          </a:xfrm>
          <a:prstGeom prst="rect">
            <a:avLst/>
          </a:prstGeom>
          <a:noFill/>
          <a:ln/>
        </p:spPr>
        <p:txBody>
          <a:bodyPr wrap="square" lIns="0" tIns="0" rIns="0" bIns="0" rtlCol="0" anchor="t"/>
          <a:lstStyle/>
          <a:p>
            <a:pPr indent="0" marL="0">
              <a:buNone/>
            </a:pPr>
            <a:r>
              <a:rPr lang="en-US" sz="2000" dirty="0">
                <a:solidFill>
                  <a:schemeClr val="bg1"/>
                </a:solidFill>
                <a:latin typeface="PP Mori" pitchFamily="34" charset="0"/>
                <a:ea typeface="PP Mori" pitchFamily="34" charset="-122"/>
                <a:cs typeface="PP Mori" pitchFamily="34" charset="-120"/>
              </a:rPr>
              <a:t>A maintenance manager at a mid-sized plant</a:t>
            </a:r>
            <a:endParaRPr lang="en-US" sz="2000" dirty="0"/>
          </a:p>
        </p:txBody>
      </p:sp>
      <p:sp>
        <p:nvSpPr>
          <p:cNvPr id="15" name="Setup card"/>
          <p:cNvSpPr/>
          <p:nvPr/>
        </p:nvSpPr>
        <p:spPr>
          <a:xfrm>
            <a:off x="822960" y="3520440"/>
            <a:ext cx="2103120" cy="1600200"/>
          </a:xfrm>
          <a:prstGeom prst="roundRect">
            <a:avLst>
              <a:gd name="adj" fmla="val 5714"/>
            </a:avLst>
          </a:prstGeom>
          <a:solidFill>
            <a:schemeClr val="tx2"/>
          </a:solidFill>
          <a:ln w="15875">
            <a:solidFill>
              <a:schemeClr val="bg1"/>
            </a:solidFill>
            <a:prstDash val="solid"/>
          </a:ln>
        </p:spPr>
      </p:sp>
      <p:sp>
        <p:nvSpPr>
          <p:cNvPr id="16" name="Label SETUP"/>
          <p:cNvSpPr txBox="1"/>
          <p:nvPr/>
        </p:nvSpPr>
        <p:spPr>
          <a:xfrm>
            <a:off x="960120" y="3593592"/>
            <a:ext cx="182880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SETUP</a:t>
            </a:r>
            <a:endParaRPr lang="en-US" sz="1400" dirty="0"/>
          </a:p>
        </p:txBody>
      </p:sp>
      <p:sp>
        <p:nvSpPr>
          <p:cNvPr id="17" name="Setup text"/>
          <p:cNvSpPr txBox="1"/>
          <p:nvPr/>
        </p:nvSpPr>
        <p:spPr>
          <a:xfrm>
            <a:off x="960120" y="3904488"/>
            <a:ext cx="1828800" cy="1143000"/>
          </a:xfrm>
          <a:prstGeom prst="rect">
            <a:avLst/>
          </a:prstGeom>
          <a:noFill/>
          <a:ln/>
        </p:spPr>
        <p:txBody>
          <a:bodyPr wrap="square" lIns="0" tIns="0" rIns="0" bIns="0" rtlCol="0" anchor="t"/>
          <a:lstStyle/>
          <a:p>
            <a:pPr indent="0" marL="0">
              <a:buNone/>
            </a:pPr>
            <a:r>
              <a:rPr lang="en-US" sz="1800" dirty="0">
                <a:solidFill>
                  <a:schemeClr val="bg1"/>
                </a:solidFill>
                <a:latin typeface="PP Mori" pitchFamily="34" charset="0"/>
                <a:ea typeface="PP Mori" pitchFamily="34" charset="-122"/>
                <a:cs typeface="PP Mori" pitchFamily="34" charset="-120"/>
              </a:rPr>
              <a:t>Two reports disagree</a:t>
            </a:r>
            <a:endParaRPr lang="en-US" sz="1800" dirty="0"/>
          </a:p>
        </p:txBody>
      </p:sp>
      <p:sp>
        <p:nvSpPr>
          <p:cNvPr id="18" name="Encounter card"/>
          <p:cNvSpPr/>
          <p:nvPr/>
        </p:nvSpPr>
        <p:spPr>
          <a:xfrm>
            <a:off x="3044952" y="3520440"/>
            <a:ext cx="2103120" cy="1600200"/>
          </a:xfrm>
          <a:prstGeom prst="roundRect">
            <a:avLst>
              <a:gd name="adj" fmla="val 5714"/>
            </a:avLst>
          </a:prstGeom>
          <a:solidFill>
            <a:schemeClr val="tx2"/>
          </a:solidFill>
          <a:ln w="15875">
            <a:solidFill>
              <a:schemeClr val="bg1"/>
            </a:solidFill>
            <a:prstDash val="solid"/>
          </a:ln>
        </p:spPr>
      </p:sp>
      <p:sp>
        <p:nvSpPr>
          <p:cNvPr id="19" name="Label ENCOUNTER"/>
          <p:cNvSpPr txBox="1"/>
          <p:nvPr/>
        </p:nvSpPr>
        <p:spPr>
          <a:xfrm>
            <a:off x="3182112" y="3593592"/>
            <a:ext cx="182880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ENCOUNTER</a:t>
            </a:r>
            <a:endParaRPr lang="en-US" sz="1400" dirty="0"/>
          </a:p>
        </p:txBody>
      </p:sp>
      <p:sp>
        <p:nvSpPr>
          <p:cNvPr id="20" name="Encounter text"/>
          <p:cNvSpPr txBox="1"/>
          <p:nvPr/>
        </p:nvSpPr>
        <p:spPr>
          <a:xfrm>
            <a:off x="3182112" y="3904488"/>
            <a:ext cx="1828800" cy="1143000"/>
          </a:xfrm>
          <a:prstGeom prst="rect">
            <a:avLst/>
          </a:prstGeom>
          <a:noFill/>
          <a:ln/>
        </p:spPr>
        <p:txBody>
          <a:bodyPr wrap="square" lIns="0" tIns="0" rIns="0" bIns="0" rtlCol="0" anchor="t"/>
          <a:lstStyle/>
          <a:p>
            <a:pPr indent="0" marL="0">
              <a:buNone/>
            </a:pPr>
            <a:r>
              <a:rPr lang="en-US" sz="1800" dirty="0">
                <a:solidFill>
                  <a:schemeClr val="bg1"/>
                </a:solidFill>
                <a:latin typeface="PP Mori" pitchFamily="34" charset="0"/>
                <a:ea typeface="PP Mori" pitchFamily="34" charset="-122"/>
                <a:cs typeface="PP Mori" pitchFamily="34" charset="-120"/>
              </a:rPr>
              <a:t>A shared report view</a:t>
            </a:r>
            <a:endParaRPr lang="en-US" sz="1800" dirty="0"/>
          </a:p>
        </p:txBody>
      </p:sp>
      <p:sp>
        <p:nvSpPr>
          <p:cNvPr id="21" name="Action Response loop container"/>
          <p:cNvSpPr/>
          <p:nvPr/>
        </p:nvSpPr>
        <p:spPr>
          <a:xfrm>
            <a:off x="5266944" y="3520440"/>
            <a:ext cx="3931920" cy="1600200"/>
          </a:xfrm>
          <a:prstGeom prst="roundRect">
            <a:avLst>
              <a:gd name="adj" fmla="val 5714"/>
            </a:avLst>
          </a:prstGeom>
          <a:ln w="25400">
            <a:solidFill>
              <a:schemeClr val="accent1"/>
            </a:solidFill>
            <a:prstDash val="dash"/>
          </a:ln>
        </p:spPr>
      </p:sp>
      <p:sp>
        <p:nvSpPr>
          <p:cNvPr id="22" name="Loop label"/>
          <p:cNvSpPr txBox="1"/>
          <p:nvPr/>
        </p:nvSpPr>
        <p:spPr>
          <a:xfrm>
            <a:off x="5394960" y="3575304"/>
            <a:ext cx="365760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LOOP: 3 TO 6 EXCHANGES</a:t>
            </a:r>
            <a:endParaRPr lang="en-US" sz="1400" dirty="0"/>
          </a:p>
        </p:txBody>
      </p:sp>
      <p:sp>
        <p:nvSpPr>
          <p:cNvPr id="23" name="Action card"/>
          <p:cNvSpPr/>
          <p:nvPr/>
        </p:nvSpPr>
        <p:spPr>
          <a:xfrm>
            <a:off x="5376672" y="3886200"/>
            <a:ext cx="1828800" cy="1143000"/>
          </a:xfrm>
          <a:prstGeom prst="roundRect">
            <a:avLst>
              <a:gd name="adj" fmla="val 8000"/>
            </a:avLst>
          </a:prstGeom>
          <a:solidFill>
            <a:schemeClr val="tx2"/>
          </a:solidFill>
          <a:ln w="15875">
            <a:solidFill>
              <a:schemeClr val="bg1"/>
            </a:solidFill>
            <a:prstDash val="solid"/>
          </a:ln>
        </p:spPr>
      </p:sp>
      <p:sp>
        <p:nvSpPr>
          <p:cNvPr id="24" name="Label ACTION"/>
          <p:cNvSpPr txBox="1"/>
          <p:nvPr/>
        </p:nvSpPr>
        <p:spPr>
          <a:xfrm>
            <a:off x="5513832" y="3959352"/>
            <a:ext cx="155448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ACTION</a:t>
            </a:r>
            <a:endParaRPr lang="en-US" sz="1400" dirty="0"/>
          </a:p>
        </p:txBody>
      </p:sp>
      <p:sp>
        <p:nvSpPr>
          <p:cNvPr id="25" name="Action text"/>
          <p:cNvSpPr txBox="1"/>
          <p:nvPr/>
        </p:nvSpPr>
        <p:spPr>
          <a:xfrm>
            <a:off x="5513832" y="4270248"/>
            <a:ext cx="1554480" cy="685800"/>
          </a:xfrm>
          <a:prstGeom prst="rect">
            <a:avLst/>
          </a:prstGeom>
          <a:noFill/>
          <a:ln/>
        </p:spPr>
        <p:txBody>
          <a:bodyPr wrap="square" lIns="0" tIns="0" rIns="0" bIns="0" rtlCol="0" anchor="t"/>
          <a:lstStyle/>
          <a:p>
            <a:pPr indent="0" marL="0">
              <a:buNone/>
            </a:pPr>
            <a:r>
              <a:rPr lang="en-US" sz="1600" dirty="0">
                <a:solidFill>
                  <a:schemeClr val="bg1"/>
                </a:solidFill>
                <a:latin typeface="PP Mori" pitchFamily="34" charset="0"/>
                <a:ea typeface="PP Mori" pitchFamily="34" charset="-122"/>
                <a:cs typeface="PP Mori" pitchFamily="34" charset="-120"/>
              </a:rPr>
              <a:t>Asks what is behind it</a:t>
            </a:r>
            <a:endParaRPr lang="en-US" sz="1600" dirty="0"/>
          </a:p>
        </p:txBody>
      </p:sp>
      <p:sp>
        <p:nvSpPr>
          <p:cNvPr id="26" name="Response card"/>
          <p:cNvSpPr/>
          <p:nvPr/>
        </p:nvSpPr>
        <p:spPr>
          <a:xfrm>
            <a:off x="7260336" y="3886200"/>
            <a:ext cx="1828800" cy="1143000"/>
          </a:xfrm>
          <a:prstGeom prst="roundRect">
            <a:avLst>
              <a:gd name="adj" fmla="val 8000"/>
            </a:avLst>
          </a:prstGeom>
          <a:solidFill>
            <a:schemeClr val="tx2"/>
          </a:solidFill>
          <a:ln w="15875">
            <a:solidFill>
              <a:schemeClr val="bg1"/>
            </a:solidFill>
            <a:prstDash val="solid"/>
          </a:ln>
        </p:spPr>
      </p:sp>
      <p:sp>
        <p:nvSpPr>
          <p:cNvPr id="27" name="Label RESPONSE"/>
          <p:cNvSpPr txBox="1"/>
          <p:nvPr/>
        </p:nvSpPr>
        <p:spPr>
          <a:xfrm>
            <a:off x="7397496" y="3959352"/>
            <a:ext cx="155448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RESPONSE</a:t>
            </a:r>
            <a:endParaRPr lang="en-US" sz="1400" dirty="0"/>
          </a:p>
        </p:txBody>
      </p:sp>
      <p:sp>
        <p:nvSpPr>
          <p:cNvPr id="28" name="Response text"/>
          <p:cNvSpPr txBox="1"/>
          <p:nvPr/>
        </p:nvSpPr>
        <p:spPr>
          <a:xfrm>
            <a:off x="7397496" y="4270248"/>
            <a:ext cx="1554480" cy="685800"/>
          </a:xfrm>
          <a:prstGeom prst="rect">
            <a:avLst/>
          </a:prstGeom>
          <a:noFill/>
          <a:ln/>
        </p:spPr>
        <p:txBody>
          <a:bodyPr wrap="square" lIns="0" tIns="0" rIns="0" bIns="0" rtlCol="0" anchor="t"/>
          <a:lstStyle/>
          <a:p>
            <a:pPr indent="0" marL="0">
              <a:buNone/>
            </a:pPr>
            <a:r>
              <a:rPr lang="en-US" sz="1600" dirty="0">
                <a:solidFill>
                  <a:schemeClr val="bg1"/>
                </a:solidFill>
                <a:latin typeface="PP Mori" pitchFamily="34" charset="0"/>
                <a:ea typeface="PP Mori" pitchFamily="34" charset="-122"/>
                <a:cs typeface="PP Mori" pitchFamily="34" charset="-120"/>
              </a:rPr>
              <a:t>Shows source, time</a:t>
            </a:r>
            <a:endParaRPr lang="en-US" sz="1600" dirty="0"/>
          </a:p>
        </p:txBody>
      </p:sp>
      <p:sp>
        <p:nvSpPr>
          <p:cNvPr id="29" name="Resolution card"/>
          <p:cNvSpPr/>
          <p:nvPr/>
        </p:nvSpPr>
        <p:spPr>
          <a:xfrm>
            <a:off x="9317736" y="3520440"/>
            <a:ext cx="2020824" cy="1600200"/>
          </a:xfrm>
          <a:prstGeom prst="roundRect">
            <a:avLst>
              <a:gd name="adj" fmla="val 5714"/>
            </a:avLst>
          </a:prstGeom>
          <a:solidFill>
            <a:schemeClr val="tx2"/>
          </a:solidFill>
          <a:ln w="15875">
            <a:solidFill>
              <a:schemeClr val="bg1"/>
            </a:solidFill>
            <a:prstDash val="solid"/>
          </a:ln>
        </p:spPr>
      </p:sp>
      <p:sp>
        <p:nvSpPr>
          <p:cNvPr id="30" name="Label RESOLUTION"/>
          <p:cNvSpPr txBox="1"/>
          <p:nvPr/>
        </p:nvSpPr>
        <p:spPr>
          <a:xfrm>
            <a:off x="9454896" y="3593592"/>
            <a:ext cx="1746504"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RESOLUTION</a:t>
            </a:r>
            <a:endParaRPr lang="en-US" sz="1400" dirty="0"/>
          </a:p>
        </p:txBody>
      </p:sp>
      <p:sp>
        <p:nvSpPr>
          <p:cNvPr id="31" name="Resolution text"/>
          <p:cNvSpPr txBox="1"/>
          <p:nvPr/>
        </p:nvSpPr>
        <p:spPr>
          <a:xfrm>
            <a:off x="9454896" y="3904488"/>
            <a:ext cx="1746504" cy="1143000"/>
          </a:xfrm>
          <a:prstGeom prst="rect">
            <a:avLst/>
          </a:prstGeom>
          <a:noFill/>
          <a:ln/>
        </p:spPr>
        <p:txBody>
          <a:bodyPr wrap="square" lIns="0" tIns="0" rIns="0" bIns="0" rtlCol="0" anchor="t"/>
          <a:lstStyle/>
          <a:p>
            <a:pPr indent="0" marL="0">
              <a:buNone/>
            </a:pPr>
            <a:r>
              <a:rPr lang="en-US" sz="1800" dirty="0">
                <a:solidFill>
                  <a:schemeClr val="bg1"/>
                </a:solidFill>
                <a:latin typeface="PP Mori" pitchFamily="34" charset="0"/>
                <a:ea typeface="PP Mori" pitchFamily="34" charset="-122"/>
                <a:cs typeface="PP Mori" pitchFamily="34" charset="-120"/>
              </a:rPr>
              <a:t>Explains it and acts</a:t>
            </a:r>
            <a:endParaRPr lang="en-US" sz="1800" dirty="0"/>
          </a:p>
        </p:txBody>
      </p:sp>
      <p:sp>
        <p:nvSpPr>
          <p:cNvPr id="32" name="Label BUILDER PROMPT"/>
          <p:cNvSpPr txBox="1"/>
          <p:nvPr/>
        </p:nvSpPr>
        <p:spPr>
          <a:xfrm>
            <a:off x="822960" y="5230368"/>
            <a:ext cx="3657600" cy="256032"/>
          </a:xfrm>
          <a:prstGeom prst="rect">
            <a:avLst/>
          </a:prstGeom>
          <a:noFill/>
          <a:ln/>
        </p:spPr>
        <p:txBody>
          <a:bodyPr wrap="square" lIns="0" tIns="0" rIns="0" bIns="0" rtlCol="0" anchor="t"/>
          <a:lstStyle/>
          <a:p>
            <a:pPr indent="0" marL="0">
              <a:buNone/>
            </a:pPr>
            <a:r>
              <a:rPr lang="en-US" sz="1400" spc="120" kern="0" dirty="0">
                <a:solidFill>
                  <a:schemeClr val="accent1"/>
                </a:solidFill>
                <a:latin typeface="Clash Display Semibold" pitchFamily="34" charset="0"/>
                <a:ea typeface="Clash Display Semibold" pitchFamily="34" charset="-122"/>
                <a:cs typeface="Clash Display Semibold" pitchFamily="34" charset="-120"/>
              </a:rPr>
              <a:t>BUILDER PROMPT</a:t>
            </a:r>
            <a:endParaRPr lang="en-US" sz="1400" dirty="0"/>
          </a:p>
        </p:txBody>
      </p:sp>
      <p:sp>
        <p:nvSpPr>
          <p:cNvPr id="33" name="Builder prompt text"/>
          <p:cNvSpPr txBox="1"/>
          <p:nvPr/>
        </p:nvSpPr>
        <p:spPr>
          <a:xfrm>
            <a:off x="822960" y="5468112"/>
            <a:ext cx="7315200" cy="320040"/>
          </a:xfrm>
          <a:prstGeom prst="rect">
            <a:avLst/>
          </a:prstGeom>
          <a:noFill/>
          <a:ln/>
        </p:spPr>
        <p:txBody>
          <a:bodyPr wrap="square" lIns="0" tIns="0" rIns="0" bIns="0" rtlCol="0" anchor="t"/>
          <a:lstStyle/>
          <a:p>
            <a:pPr indent="0" marL="0">
              <a:buNone/>
            </a:pPr>
            <a:r>
              <a:rPr lang="en-US" sz="2000" dirty="0">
                <a:solidFill>
                  <a:schemeClr val="bg1"/>
                </a:solidFill>
                <a:latin typeface="PP Mori" pitchFamily="34" charset="0"/>
                <a:ea typeface="PP Mori" pitchFamily="34" charset="-122"/>
                <a:cs typeface="PP Mori" pitchFamily="34" charset="-120"/>
              </a:rPr>
              <a:t>Descriptive, not prescriptive.</a:t>
            </a:r>
            <a:endParaRPr lang="en-US" sz="2000" dirty="0"/>
          </a:p>
        </p:txBody>
      </p:sp>
      <p:sp>
        <p:nvSpPr>
          <p:cNvPr id="34" name="Pill NOT BUILT"/>
          <p:cNvSpPr/>
          <p:nvPr/>
        </p:nvSpPr>
        <p:spPr>
          <a:xfrm>
            <a:off x="9921240" y="5440680"/>
            <a:ext cx="1417320" cy="310896"/>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NOT BUILT</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Motion number"/>
          <p:cNvSpPr txBox="1"/>
          <p:nvPr/>
        </p:nvSpPr>
        <p:spPr>
          <a:xfrm>
            <a:off x="548640" y="457200"/>
            <a:ext cx="2743200" cy="1097280"/>
          </a:xfrm>
          <a:prstGeom prst="rect">
            <a:avLst/>
          </a:prstGeom>
          <a:noFill/>
          <a:ln/>
        </p:spPr>
        <p:txBody>
          <a:bodyPr wrap="square" lIns="0" tIns="0" rIns="0" bIns="0" rtlCol="0" anchor="t"/>
          <a:lstStyle/>
          <a:p>
            <a:pPr indent="0" marL="0">
              <a:buNone/>
            </a:pPr>
            <a:r>
              <a:rPr lang="en-US" sz="8000" dirty="0">
                <a:solidFill>
                  <a:schemeClr val="accent1"/>
                </a:solidFill>
                <a:latin typeface="Clash Display Semibold" pitchFamily="34" charset="0"/>
                <a:ea typeface="Clash Display Semibold" pitchFamily="34" charset="-122"/>
                <a:cs typeface="Clash Display Semibold" pitchFamily="34" charset="-120"/>
              </a:rPr>
              <a:t>10</a:t>
            </a:r>
            <a:endParaRPr lang="en-US" sz="8000" dirty="0"/>
          </a:p>
        </p:txBody>
      </p:sp>
      <p:sp>
        <p:nvSpPr>
          <p:cNvPr id="3" name="Text 0"/>
          <p:cNvSpPr/>
          <p:nvPr>
            <p:ph idx="101" type="title" hasCustomPrompt="1"/>
          </p:nvPr>
        </p:nvSpPr>
        <p:spPr>
          <a:xfrm>
            <a:off x="548640" y="1600200"/>
            <a:ext cx="5212080" cy="1143000"/>
          </a:xfrm>
          <a:prstGeom prst="rect">
            <a:avLst/>
          </a:prstGeom>
          <a:noFill/>
          <a:ln/>
        </p:spPr>
        <p:txBody>
          <a:bodyPr wrap="square" lIns="0" tIns="0" rIns="0" bIns="0" rtlCol="0" anchor="t"/>
          <a:lstStyle/>
          <a:p>
            <a:pPr algn="l"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Prototyping</a:t>
            </a:r>
            <a:endParaRPr lang="en-US" sz="4000" dirty="0"/>
          </a:p>
        </p:txBody>
      </p:sp>
      <p:sp>
        <p:nvSpPr>
          <p:cNvPr id="4" name="Question"/>
          <p:cNvSpPr txBox="1"/>
          <p:nvPr/>
        </p:nvSpPr>
        <p:spPr>
          <a:xfrm>
            <a:off x="548640" y="3154680"/>
            <a:ext cx="5212080" cy="1280160"/>
          </a:xfrm>
          <a:prstGeom prst="rect">
            <a:avLst/>
          </a:prstGeom>
          <a:noFill/>
          <a:ln/>
        </p:spPr>
        <p:txBody>
          <a:bodyPr wrap="square" lIns="0" tIns="0" rIns="0" bIns="0" rtlCol="0" anchor="t"/>
          <a:lstStyle/>
          <a:p>
            <a:pPr indent="0" marL="0">
              <a:buNone/>
            </a:pPr>
            <a:r>
              <a:rPr lang="en-US" sz="2200" dirty="0">
                <a:solidFill>
                  <a:schemeClr val="bg1"/>
                </a:solidFill>
                <a:latin typeface="PP Mori" pitchFamily="34" charset="0"/>
                <a:ea typeface="PP Mori" pitchFamily="34" charset="-122"/>
                <a:cs typeface="PP Mori" pitchFamily="34" charset="-120"/>
              </a:rPr>
              <a:t>What is the smallest, cheapest test we can run to learn the most brutal truth?</a:t>
            </a:r>
            <a:endParaRPr lang="en-US" sz="2200" dirty="0"/>
          </a:p>
        </p:txBody>
      </p:sp>
      <p:sp>
        <p:nvSpPr>
          <p:cNvPr id="5" name="Artifact pill"/>
          <p:cNvSpPr/>
          <p:nvPr/>
        </p:nvSpPr>
        <p:spPr>
          <a:xfrm>
            <a:off x="548640" y="4572000"/>
            <a:ext cx="4736592" cy="329184"/>
          </a:xfrm>
          <a:prstGeom prst="roundRect">
            <a:avLst>
              <a:gd name="adj" fmla="val 50000"/>
            </a:avLst>
          </a:prstGeom>
          <a:solidFill>
            <a:schemeClr val="tx1"/>
          </a:solidFill>
          <a:ln w="12700">
            <a:solidFill>
              <a:srgbClr val="7A7A7A"/>
            </a:solidFill>
          </a:ln>
        </p:spPr>
        <p:txBody>
          <a:bodyPr wrap="square" lIns="0" tIns="0" rIns="0" bIns="0" rtlCol="0" anchor="ctr"/>
          <a:lstStyle/>
          <a:p>
            <a:pPr algn="ctr" indent="0" marL="0">
              <a:buNone/>
            </a:pPr>
            <a:r>
              <a:rPr lang="en-US" sz="1200" spc="150" kern="0" dirty="0">
                <a:solidFill>
                  <a:schemeClr val="bg1"/>
                </a:solidFill>
                <a:latin typeface="Clash Display Semibold" pitchFamily="34" charset="0"/>
                <a:ea typeface="Clash Display Semibold" pitchFamily="34" charset="-122"/>
                <a:cs typeface="Clash Display Semibold" pitchFamily="34" charset="-120"/>
              </a:rPr>
              <a:t>ARTIFACT: PROTOTYPE EXPERIMENT BRIEF</a:t>
            </a:r>
            <a:endParaRPr lang="en-US" sz="1200" dirty="0"/>
          </a:p>
        </p:txBody>
      </p:sp>
      <p:sp>
        <p:nvSpPr>
          <p:cNvPr id="6" name="Rule"/>
          <p:cNvSpPr txBox="1"/>
          <p:nvPr/>
        </p:nvSpPr>
        <p:spPr>
          <a:xfrm>
            <a:off x="548640" y="5303520"/>
            <a:ext cx="5212080" cy="822960"/>
          </a:xfrm>
          <a:prstGeom prst="rect">
            <a:avLst/>
          </a:prstGeom>
          <a:noFill/>
          <a:ln/>
        </p:spPr>
        <p:txBody>
          <a:bodyPr wrap="square" lIns="0" tIns="0" rIns="0" bIns="0" rtlCol="0" anchor="t"/>
          <a:lstStyle/>
          <a:p>
            <a:pPr indent="0" marL="0">
              <a:buNone/>
            </a:pPr>
            <a:r>
              <a:rPr lang="en-US" sz="1200" spc="150" kern="0" dirty="0">
                <a:solidFill>
                  <a:schemeClr val="accent1"/>
                </a:solidFill>
                <a:latin typeface="Clash Display Semibold" pitchFamily="34" charset="0"/>
                <a:ea typeface="Clash Display Semibold" pitchFamily="34" charset="-122"/>
                <a:cs typeface="Clash Display Semibold" pitchFamily="34" charset="-120"/>
              </a:rPr>
              <a:t>RULE  </a:t>
            </a:r>
            <a:pPr indent="0" marL="0">
              <a:buNone/>
            </a:pPr>
            <a:r>
              <a:rPr lang="en-US" sz="1800" dirty="0">
                <a:solidFill>
                  <a:schemeClr val="accent1"/>
                </a:solidFill>
                <a:latin typeface="PP Mori" pitchFamily="34" charset="0"/>
                <a:ea typeface="PP Mori" pitchFamily="34" charset="-122"/>
                <a:cs typeface="PP Mori" pitchFamily="34" charset="-120"/>
              </a:rPr>
              <a:t>The tiniest act that gives enough signal to pivot, punt or pursue.</a:t>
            </a:r>
            <a:endParaRPr lang="en-US" sz="1600" dirty="0"/>
          </a:p>
        </p:txBody>
      </p:sp>
      <p:sp>
        <p:nvSpPr>
          <p:cNvPr id="7" name="Visual panel"/>
          <p:cNvSpPr/>
          <p:nvPr/>
        </p:nvSpPr>
        <p:spPr>
          <a:xfrm>
            <a:off x="6263640" y="548640"/>
            <a:ext cx="5394960" cy="5577840"/>
          </a:xfrm>
          <a:prstGeom prst="roundRect">
            <a:avLst>
              <a:gd name="adj" fmla="val 5085"/>
            </a:avLst>
          </a:prstGeom>
          <a:solidFill>
            <a:schemeClr val="tx2"/>
          </a:solidFill>
          <a:ln w="12700">
            <a:solidFill>
              <a:srgbClr val="262626"/>
            </a:solidFill>
            <a:prstDash val="solid"/>
          </a:ln>
        </p:spPr>
      </p:sp>
      <p:sp>
        <p:nvSpPr>
          <p:cNvPr id="8" name="Brief card"/>
          <p:cNvSpPr/>
          <p:nvPr/>
        </p:nvSpPr>
        <p:spPr>
          <a:xfrm>
            <a:off x="6629400" y="1005840"/>
            <a:ext cx="4663440" cy="4663440"/>
          </a:xfrm>
          <a:prstGeom prst="roundRect">
            <a:avLst>
              <a:gd name="adj" fmla="val 3529"/>
            </a:avLst>
          </a:prstGeom>
          <a:solidFill>
            <a:schemeClr val="bg1"/>
          </a:solidFill>
          <a:ln w="12700">
            <a:solidFill>
              <a:schemeClr val="bg1"/>
            </a:solidFill>
            <a:prstDash val="solid"/>
          </a:ln>
        </p:spPr>
      </p:sp>
      <p:sp>
        <p:nvSpPr>
          <p:cNvPr id="9" name="Struck request"/>
          <p:cNvSpPr txBox="1"/>
          <p:nvPr/>
        </p:nvSpPr>
        <p:spPr>
          <a:xfrm>
            <a:off x="6995160" y="1463040"/>
            <a:ext cx="3931920" cy="1463040"/>
          </a:xfrm>
          <a:prstGeom prst="rect">
            <a:avLst/>
          </a:prstGeom>
          <a:noFill/>
          <a:ln/>
        </p:spPr>
        <p:txBody>
          <a:bodyPr wrap="square" lIns="0" tIns="0" rIns="0" bIns="0" rtlCol="0" anchor="t"/>
          <a:lstStyle/>
          <a:p>
            <a:pPr indent="0" marL="0">
              <a:buNone/>
            </a:pPr>
            <a:r>
              <a:rPr lang="en-US" sz="3000" strike="sngStrike" dirty="0">
                <a:solidFill>
                  <a:srgbClr val="7A7A7A"/>
                </a:solidFill>
                <a:latin typeface="Clash Grotesk Medium" pitchFamily="34" charset="0"/>
                <a:ea typeface="Clash Grotesk Medium" pitchFamily="34" charset="-122"/>
                <a:cs typeface="Clash Grotesk Medium" pitchFamily="34" charset="-120"/>
              </a:rPr>
              <a:t>Build an AI predictive-maintenance dashboard.</a:t>
            </a:r>
            <a:endParaRPr lang="en-US" sz="3000" dirty="0"/>
          </a:p>
        </p:txBody>
      </p:sp>
      <p:sp>
        <p:nvSpPr>
          <p:cNvPr id="10" name="Tiniest act wins stamp"/>
          <p:cNvSpPr/>
          <p:nvPr/>
        </p:nvSpPr>
        <p:spPr>
          <a:xfrm rot="21300000">
            <a:off x="6995160" y="3291840"/>
            <a:ext cx="3931920" cy="1371600"/>
          </a:xfrm>
          <a:prstGeom prst="roundRect">
            <a:avLst>
              <a:gd name="adj" fmla="val 6667"/>
            </a:avLst>
          </a:prstGeom>
          <a:ln w="63500">
            <a:solidFill>
              <a:schemeClr val="accent1"/>
            </a:solidFill>
          </a:ln>
        </p:spPr>
        <p:txBody>
          <a:bodyPr wrap="square" lIns="0" tIns="0" rIns="0" bIns="0" rtlCol="0" anchor="ctr"/>
          <a:lstStyle/>
          <a:p>
            <a:pPr algn="ctr" indent="0" marL="0">
              <a:buNone/>
            </a:pPr>
            <a:r>
              <a:rPr lang="en-US" sz="3400" dirty="0">
                <a:solidFill>
                  <a:srgbClr val="00C765"/>
                </a:solidFill>
                <a:latin typeface="Clash Grotesk Medium" pitchFamily="34" charset="0"/>
                <a:ea typeface="Clash Grotesk Medium" pitchFamily="34" charset="-122"/>
                <a:cs typeface="Clash Grotesk Medium" pitchFamily="34" charset="-120"/>
              </a:rPr>
              <a:t>TINIEST ACT THAT</a:t>
            </a:r>
            <a:endParaRPr lang="en-US" sz="3400" dirty="0"/>
          </a:p>
          <a:p>
            <a:pPr algn="ctr" indent="0" marL="0">
              <a:buNone/>
            </a:pPr>
            <a:r>
              <a:rPr lang="en-US" sz="3400" dirty="0">
                <a:solidFill>
                  <a:srgbClr val="00C765"/>
                </a:solidFill>
                <a:latin typeface="Clash Grotesk Medium" pitchFamily="34" charset="0"/>
                <a:ea typeface="Clash Grotesk Medium" pitchFamily="34" charset="-122"/>
                <a:cs typeface="Clash Grotesk Medium" pitchFamily="34" charset="-120"/>
              </a:rPr>
              <a:t>TELLS THE TRUTH</a:t>
            </a:r>
            <a:endParaRPr lang="en-US" sz="3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640080"/>
            <a:ext cx="7315200" cy="822960"/>
          </a:xfrm>
          <a:prstGeom prst="rect">
            <a:avLst/>
          </a:prstGeom>
          <a:noFill/>
          <a:ln/>
        </p:spPr>
        <p:txBody>
          <a:bodyPr wrap="square" lIns="0" tIns="0" rIns="0" bIns="0" rtlCol="0" anchor="t"/>
          <a:lstStyle/>
          <a:p>
            <a:pPr indent="0" marL="0">
              <a:buNone/>
            </a:pPr>
            <a:r>
              <a:rPr lang="en-US" sz="4400" dirty="0">
                <a:solidFill>
                  <a:schemeClr val="bg1"/>
                </a:solidFill>
                <a:latin typeface="Clash Grotesk Medium" pitchFamily="34" charset="0"/>
                <a:ea typeface="Clash Grotesk Medium" pitchFamily="34" charset="-122"/>
                <a:cs typeface="Clash Grotesk Medium" pitchFamily="34" charset="-120"/>
              </a:rPr>
              <a:t>The fidelity ladder</a:t>
            </a:r>
            <a:endParaRPr lang="en-US" sz="4400" dirty="0"/>
          </a:p>
        </p:txBody>
      </p:sp>
      <p:sp>
        <p:nvSpPr>
          <p:cNvPr id="3" name="Ladder question"/>
          <p:cNvSpPr txBox="1"/>
          <p:nvPr/>
        </p:nvSpPr>
        <p:spPr>
          <a:xfrm>
            <a:off x="548640" y="1463040"/>
            <a:ext cx="7772400" cy="457200"/>
          </a:xfrm>
          <a:prstGeom prst="rect">
            <a:avLst/>
          </a:prstGeom>
          <a:noFill/>
          <a:ln/>
        </p:spPr>
        <p:txBody>
          <a:bodyPr wrap="square" lIns="0" tIns="0" rIns="0" bIns="0" rtlCol="0" anchor="t"/>
          <a:lstStyle/>
          <a:p>
            <a:pPr indent="0" marL="0">
              <a:buNone/>
            </a:pPr>
            <a:r>
              <a:rPr lang="en-US" sz="2200" dirty="0">
                <a:solidFill>
                  <a:srgbClr val="B3B3B3"/>
                </a:solidFill>
                <a:latin typeface="PP Mori" pitchFamily="34" charset="0"/>
                <a:ea typeface="PP Mori" pitchFamily="34" charset="-122"/>
                <a:cs typeface="PP Mori" pitchFamily="34" charset="-120"/>
              </a:rPr>
              <a:t>What can we learn at this fidelity that we could not learn more cheaply?</a:t>
            </a:r>
            <a:endParaRPr lang="en-US" sz="2200" dirty="0"/>
          </a:p>
        </p:txBody>
      </p:sp>
      <p:sp>
        <p:nvSpPr>
          <p:cNvPr id="4" name="Step Conversation"/>
          <p:cNvSpPr/>
          <p:nvPr/>
        </p:nvSpPr>
        <p:spPr>
          <a:xfrm>
            <a:off x="548640" y="4754880"/>
            <a:ext cx="2651760" cy="1097280"/>
          </a:xfrm>
          <a:prstGeom prst="roundRect">
            <a:avLst>
              <a:gd name="adj" fmla="val 8333"/>
            </a:avLst>
          </a:prstGeom>
          <a:solidFill>
            <a:schemeClr val="accent1"/>
          </a:solidFill>
          <a:ln w="15875">
            <a:solidFill>
              <a:schemeClr val="accent1"/>
            </a:solidFill>
          </a:ln>
        </p:spPr>
        <p:txBody>
          <a:bodyPr wrap="square" lIns="50800" tIns="101600" rIns="101600" bIns="50800" rtlCol="0" anchor="ctr"/>
          <a:lstStyle/>
          <a:p>
            <a:pPr algn="l" indent="0" marL="0">
              <a:buNone/>
            </a:pPr>
            <a:endParaRPr lang="en-US" sz="1300" dirty="0"/>
          </a:p>
        </p:txBody>
      </p:sp>
      <p:sp>
        <p:nvSpPr>
          <p:cNvPr id="5" name="Step label Conversation"/>
          <p:cNvSpPr txBox="1"/>
          <p:nvPr/>
        </p:nvSpPr>
        <p:spPr>
          <a:xfrm>
            <a:off x="731520" y="4864608"/>
            <a:ext cx="2377440" cy="640080"/>
          </a:xfrm>
          <a:prstGeom prst="rect">
            <a:avLst/>
          </a:prstGeom>
          <a:noFill/>
          <a:ln/>
        </p:spPr>
        <p:txBody>
          <a:bodyPr wrap="square" lIns="0" tIns="0" rIns="0" bIns="0" rtlCol="0" anchor="t"/>
          <a:lstStyle/>
          <a:p>
            <a:pP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Conversation</a:t>
            </a:r>
            <a:endParaRPr lang="en-US" sz="1800" dirty="0"/>
          </a:p>
        </p:txBody>
      </p:sp>
      <p:sp>
        <p:nvSpPr>
          <p:cNvPr id="6" name="Step cost Conversation"/>
          <p:cNvSpPr txBox="1"/>
          <p:nvPr/>
        </p:nvSpPr>
        <p:spPr>
          <a:xfrm>
            <a:off x="731520" y="5486400"/>
            <a:ext cx="2286000" cy="274320"/>
          </a:xfrm>
          <a:prstGeom prst="rect">
            <a:avLst/>
          </a:prstGeom>
          <a:noFill/>
          <a:ln/>
        </p:spPr>
        <p:txBody>
          <a:bodyPr wrap="square" lIns="0" tIns="0" rIns="0" bIns="0" rtlCol="0" anchor="t"/>
          <a:lstStyle/>
          <a:p>
            <a:pPr indent="0" marL="0">
              <a:buNone/>
            </a:pPr>
            <a:r>
              <a:rPr lang="en-US" sz="1600" dirty="0">
                <a:solidFill>
                  <a:schemeClr val="tx1"/>
                </a:solidFill>
                <a:latin typeface="PP Mori" pitchFamily="34" charset="0"/>
                <a:ea typeface="PP Mori" pitchFamily="34" charset="-122"/>
                <a:cs typeface="PP Mori" pitchFamily="34" charset="-120"/>
              </a:rPr>
              <a:t>Lowest cost</a:t>
            </a:r>
            <a:endParaRPr lang="en-US" sz="1600" dirty="0"/>
          </a:p>
        </p:txBody>
      </p:sp>
      <p:sp>
        <p:nvSpPr>
          <p:cNvPr id="7" name="Step Storyboard / wireframe"/>
          <p:cNvSpPr/>
          <p:nvPr/>
        </p:nvSpPr>
        <p:spPr>
          <a:xfrm>
            <a:off x="3337560" y="3931920"/>
            <a:ext cx="2651760" cy="1920240"/>
          </a:xfrm>
          <a:prstGeom prst="roundRect">
            <a:avLst>
              <a:gd name="adj" fmla="val 4762"/>
            </a:avLst>
          </a:prstGeom>
          <a:solidFill>
            <a:schemeClr val="tx2"/>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8" name="Step label Storyboard / wireframe"/>
          <p:cNvSpPr txBox="1"/>
          <p:nvPr/>
        </p:nvSpPr>
        <p:spPr>
          <a:xfrm>
            <a:off x="3520440" y="4041648"/>
            <a:ext cx="2377440" cy="640080"/>
          </a:xfrm>
          <a:prstGeom prst="rect">
            <a:avLst/>
          </a:prstGeom>
          <a:noFill/>
          <a:ln/>
        </p:spPr>
        <p:txBody>
          <a:bodyPr wrap="square" lIns="0" tIns="0" rIns="0" bIns="0" rtlCol="0" anchor="t"/>
          <a:lstStyle/>
          <a:p>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Storyboard / wireframe</a:t>
            </a:r>
            <a:endParaRPr lang="en-US" sz="1800" dirty="0"/>
          </a:p>
        </p:txBody>
      </p:sp>
      <p:sp>
        <p:nvSpPr>
          <p:cNvPr id="9" name="Step cost Storyboard / wireframe"/>
          <p:cNvSpPr txBox="1"/>
          <p:nvPr/>
        </p:nvSpPr>
        <p:spPr>
          <a:xfrm>
            <a:off x="3520440" y="4663440"/>
            <a:ext cx="2286000" cy="27432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Low cost</a:t>
            </a:r>
            <a:endParaRPr lang="en-US" sz="1600" dirty="0"/>
          </a:p>
        </p:txBody>
      </p:sp>
      <p:sp>
        <p:nvSpPr>
          <p:cNvPr id="10" name="Step Interaction"/>
          <p:cNvSpPr/>
          <p:nvPr/>
        </p:nvSpPr>
        <p:spPr>
          <a:xfrm>
            <a:off x="6126480" y="3108960"/>
            <a:ext cx="2651760" cy="2743200"/>
          </a:xfrm>
          <a:prstGeom prst="roundRect">
            <a:avLst>
              <a:gd name="adj" fmla="val 3448"/>
            </a:avLst>
          </a:prstGeom>
          <a:solidFill>
            <a:schemeClr val="tx2"/>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11" name="Step label Interaction"/>
          <p:cNvSpPr txBox="1"/>
          <p:nvPr/>
        </p:nvSpPr>
        <p:spPr>
          <a:xfrm>
            <a:off x="6309360" y="3218688"/>
            <a:ext cx="2377440" cy="640080"/>
          </a:xfrm>
          <a:prstGeom prst="rect">
            <a:avLst/>
          </a:prstGeom>
          <a:noFill/>
          <a:ln/>
        </p:spPr>
        <p:txBody>
          <a:bodyPr wrap="square" lIns="0" tIns="0" rIns="0" bIns="0" rtlCol="0" anchor="t"/>
          <a:lstStyle/>
          <a:p>
            <a:pPr indent="0" marL="0">
              <a:buNone/>
            </a:pPr>
            <a:r>
              <a:rPr lang="en-US" sz="1800" dirty="0">
                <a:solidFill>
                  <a:schemeClr val="bg1"/>
                </a:solidFill>
                <a:latin typeface="Clash Grotesk Medium" pitchFamily="34" charset="0"/>
                <a:ea typeface="Clash Grotesk Medium" pitchFamily="34" charset="-122"/>
                <a:cs typeface="Clash Grotesk Medium" pitchFamily="34" charset="-120"/>
              </a:rPr>
              <a:t>Interaction</a:t>
            </a:r>
            <a:endParaRPr lang="en-US" sz="1800" dirty="0"/>
          </a:p>
        </p:txBody>
      </p:sp>
      <p:sp>
        <p:nvSpPr>
          <p:cNvPr id="12" name="Step cost Interaction"/>
          <p:cNvSpPr txBox="1"/>
          <p:nvPr/>
        </p:nvSpPr>
        <p:spPr>
          <a:xfrm>
            <a:off x="6309360" y="3840480"/>
            <a:ext cx="2286000" cy="27432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Medium cost</a:t>
            </a:r>
            <a:endParaRPr lang="en-US" sz="1600" dirty="0"/>
          </a:p>
        </p:txBody>
      </p:sp>
      <p:sp>
        <p:nvSpPr>
          <p:cNvPr id="13" name="Step Code / build"/>
          <p:cNvSpPr/>
          <p:nvPr/>
        </p:nvSpPr>
        <p:spPr>
          <a:xfrm>
            <a:off x="8915400" y="2286000"/>
            <a:ext cx="2651760" cy="3566160"/>
          </a:xfrm>
          <a:prstGeom prst="roundRect">
            <a:avLst>
              <a:gd name="adj" fmla="val 3448"/>
            </a:avLst>
          </a:prstGeom>
          <a:solidFill>
            <a:schemeClr val="bg1"/>
          </a:solidFill>
          <a:ln w="15875">
            <a:solidFill>
              <a:schemeClr val="bg1"/>
            </a:solidFill>
          </a:ln>
        </p:spPr>
        <p:txBody>
          <a:bodyPr wrap="square" lIns="50800" tIns="101600" rIns="101600" bIns="50800" rtlCol="0" anchor="ctr"/>
          <a:lstStyle/>
          <a:p>
            <a:pPr algn="l" indent="0" marL="0">
              <a:buNone/>
            </a:pPr>
            <a:endParaRPr lang="en-US" sz="1300" dirty="0"/>
          </a:p>
        </p:txBody>
      </p:sp>
      <p:sp>
        <p:nvSpPr>
          <p:cNvPr id="14" name="Step label Code / build"/>
          <p:cNvSpPr txBox="1"/>
          <p:nvPr/>
        </p:nvSpPr>
        <p:spPr>
          <a:xfrm>
            <a:off x="9098280" y="2395728"/>
            <a:ext cx="2377440" cy="640080"/>
          </a:xfrm>
          <a:prstGeom prst="rect">
            <a:avLst/>
          </a:prstGeom>
          <a:noFill/>
          <a:ln/>
        </p:spPr>
        <p:txBody>
          <a:bodyPr wrap="square" lIns="0" tIns="0" rIns="0" bIns="0" rtlCol="0" anchor="t"/>
          <a:lstStyle/>
          <a:p>
            <a:pPr indent="0" marL="0">
              <a:buNone/>
            </a:pPr>
            <a:r>
              <a:rPr lang="en-US" sz="1800" dirty="0">
                <a:solidFill>
                  <a:schemeClr val="tx1"/>
                </a:solidFill>
                <a:latin typeface="Clash Grotesk Medium" pitchFamily="34" charset="0"/>
                <a:ea typeface="Clash Grotesk Medium" pitchFamily="34" charset="-122"/>
                <a:cs typeface="Clash Grotesk Medium" pitchFamily="34" charset="-120"/>
              </a:rPr>
              <a:t>Code / build</a:t>
            </a:r>
            <a:endParaRPr lang="en-US" sz="1800" dirty="0"/>
          </a:p>
        </p:txBody>
      </p:sp>
      <p:sp>
        <p:nvSpPr>
          <p:cNvPr id="15" name="Step cost Code / build"/>
          <p:cNvSpPr txBox="1"/>
          <p:nvPr/>
        </p:nvSpPr>
        <p:spPr>
          <a:xfrm>
            <a:off x="9098280" y="3017520"/>
            <a:ext cx="2286000" cy="274320"/>
          </a:xfrm>
          <a:prstGeom prst="rect">
            <a:avLst/>
          </a:prstGeom>
          <a:noFill/>
          <a:ln/>
        </p:spPr>
        <p:txBody>
          <a:bodyPr wrap="square" lIns="0" tIns="0" rIns="0" bIns="0" rtlCol="0" anchor="t"/>
          <a:lstStyle/>
          <a:p>
            <a:pPr indent="0" marL="0">
              <a:buNone/>
            </a:pPr>
            <a:r>
              <a:rPr lang="en-US" sz="1600" dirty="0">
                <a:solidFill>
                  <a:schemeClr val="tx1"/>
                </a:solidFill>
                <a:latin typeface="PP Mori" pitchFamily="34" charset="0"/>
                <a:ea typeface="PP Mori" pitchFamily="34" charset="-122"/>
                <a:cs typeface="PP Mori" pitchFamily="34" charset="-120"/>
              </a:rPr>
              <a:t>Highest cost</a:t>
            </a:r>
            <a:endParaRPr lang="en-US" sz="1600" dirty="0"/>
          </a:p>
        </p:txBody>
      </p:sp>
      <p:sp>
        <p:nvSpPr>
          <p:cNvPr id="16" name="Rule"/>
          <p:cNvSpPr txBox="1"/>
          <p:nvPr/>
        </p:nvSpPr>
        <p:spPr>
          <a:xfrm>
            <a:off x="6583680" y="731520"/>
            <a:ext cx="5029200" cy="548640"/>
          </a:xfrm>
          <a:prstGeom prst="rect">
            <a:avLst/>
          </a:prstGeom>
          <a:noFill/>
          <a:ln/>
        </p:spPr>
        <p:txBody>
          <a:bodyPr wrap="square" lIns="0" tIns="0" rIns="0" bIns="0" rtlCol="0" anchor="t"/>
          <a:lstStyle/>
          <a:p>
            <a:pPr algn="r" indent="0" marL="0">
              <a:buNone/>
            </a:pPr>
            <a:r>
              <a:rPr lang="en-US" sz="3000" dirty="0">
                <a:solidFill>
                  <a:schemeClr val="accent1"/>
                </a:solidFill>
                <a:latin typeface="Clash Grotesk Medium" pitchFamily="34" charset="0"/>
                <a:ea typeface="Clash Grotesk Medium" pitchFamily="34" charset="-122"/>
                <a:cs typeface="Clash Grotesk Medium" pitchFamily="34" charset="-120"/>
              </a:rPr>
              <a:t>Lo-fi, if it tells the truth.</a:t>
            </a:r>
            <a:endParaRPr lang="en-US" sz="3000" dirty="0"/>
          </a:p>
        </p:txBody>
      </p:sp>
      <p:sp>
        <p:nvSpPr>
          <p:cNvPr id="17" name="Patton quote"/>
          <p:cNvSpPr txBox="1"/>
          <p:nvPr/>
        </p:nvSpPr>
        <p:spPr>
          <a:xfrm>
            <a:off x="548640" y="2286000"/>
            <a:ext cx="5486400" cy="1463040"/>
          </a:xfrm>
          <a:prstGeom prst="rect">
            <a:avLst/>
          </a:prstGeom>
          <a:noFill/>
          <a:ln/>
        </p:spPr>
        <p:txBody>
          <a:bodyPr wrap="square" lIns="0" tIns="0" rIns="0" bIns="0" rtlCol="0" anchor="t"/>
          <a:lstStyle/>
          <a:p>
            <a:pPr indent="0" marL="0">
              <a:buNone/>
            </a:pPr>
            <a:r>
              <a:rPr lang="en-US" sz="2800" dirty="0">
                <a:solidFill>
                  <a:schemeClr val="bg1"/>
                </a:solidFill>
                <a:latin typeface="Clash Grotesk Medium" pitchFamily="34" charset="0"/>
                <a:ea typeface="Clash Grotesk Medium" pitchFamily="34" charset="-122"/>
                <a:cs typeface="Clash Grotesk Medium" pitchFamily="34" charset="-120"/>
              </a:rPr>
              <a:t>The most expensive way to test your idea is to build </a:t>
            </a:r>
            <a:pPr indent="0" marL="0">
              <a:buNone/>
            </a:pPr>
            <a:r>
              <a:rPr lang="en-US" sz="2800" dirty="0">
                <a:solidFill>
                  <a:schemeClr val="accent1"/>
                </a:solidFill>
                <a:latin typeface="Clash Grotesk Medium" pitchFamily="34" charset="0"/>
                <a:ea typeface="Clash Grotesk Medium" pitchFamily="34" charset="-122"/>
                <a:cs typeface="Clash Grotesk Medium" pitchFamily="34" charset="-120"/>
              </a:rPr>
              <a:t>production quality software.</a:t>
            </a:r>
            <a:endParaRPr lang="en-US" sz="2800" dirty="0"/>
          </a:p>
        </p:txBody>
      </p:sp>
      <p:sp>
        <p:nvSpPr>
          <p:cNvPr id="18" name="Quote attribution"/>
          <p:cNvSpPr txBox="1"/>
          <p:nvPr/>
        </p:nvSpPr>
        <p:spPr>
          <a:xfrm>
            <a:off x="548640" y="3657600"/>
            <a:ext cx="3657600" cy="27432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Jeff Patton</a:t>
            </a:r>
            <a:endParaRPr lang="en-US" sz="16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640080"/>
            <a:ext cx="10058400" cy="822960"/>
          </a:xfrm>
          <a:prstGeom prst="rect">
            <a:avLst/>
          </a:prstGeom>
          <a:noFill/>
          <a:ln/>
        </p:spPr>
        <p:txBody>
          <a:bodyPr wrap="square" lIns="0" tIns="0" rIns="0" bIns="0" rtlCol="0" anchor="t"/>
          <a:lstStyle/>
          <a:p>
            <a:pPr indent="0" marL="0">
              <a:buNone/>
            </a:pPr>
            <a:r>
              <a:rPr lang="en-US" sz="4000" dirty="0">
                <a:solidFill>
                  <a:schemeClr val="bg1"/>
                </a:solidFill>
                <a:latin typeface="Clash Grotesk Medium" pitchFamily="34" charset="0"/>
                <a:ea typeface="Clash Grotesk Medium" pitchFamily="34" charset="-122"/>
                <a:cs typeface="Clash Grotesk Medium" pitchFamily="34" charset="-120"/>
              </a:rPr>
              <a:t>Choose the lightest useful abstraction</a:t>
            </a:r>
            <a:endParaRPr lang="en-US" sz="4000" dirty="0"/>
          </a:p>
        </p:txBody>
      </p:sp>
      <p:sp>
        <p:nvSpPr>
          <p:cNvPr id="3" name="Visual panel"/>
          <p:cNvSpPr/>
          <p:nvPr/>
        </p:nvSpPr>
        <p:spPr>
          <a:xfrm>
            <a:off x="548640" y="1920240"/>
            <a:ext cx="2606040" cy="3108960"/>
          </a:xfrm>
          <a:prstGeom prst="roundRect">
            <a:avLst>
              <a:gd name="adj" fmla="val 10526"/>
            </a:avLst>
          </a:prstGeom>
          <a:solidFill>
            <a:schemeClr val="tx2"/>
          </a:solidFill>
          <a:ln w="12700">
            <a:solidFill>
              <a:srgbClr val="262626"/>
            </a:solidFill>
            <a:prstDash val="solid"/>
          </a:ln>
        </p:spPr>
      </p:sp>
      <p:sp>
        <p:nvSpPr>
          <p:cNvPr id="4" name="Pill PROMPT"/>
          <p:cNvSpPr/>
          <p:nvPr/>
        </p:nvSpPr>
        <p:spPr>
          <a:xfrm>
            <a:off x="82296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PROMPT</a:t>
            </a:r>
            <a:endParaRPr lang="en-US" sz="1400" dirty="0"/>
          </a:p>
        </p:txBody>
      </p:sp>
      <p:sp>
        <p:nvSpPr>
          <p:cNvPr id="5" name="Text 3"/>
          <p:cNvSpPr txBox="1"/>
          <p:nvPr/>
        </p:nvSpPr>
        <p:spPr>
          <a:xfrm>
            <a:off x="82296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Explore</a:t>
            </a:r>
            <a:endParaRPr lang="en-US" sz="3000" dirty="0"/>
          </a:p>
        </p:txBody>
      </p:sp>
      <p:sp>
        <p:nvSpPr>
          <p:cNvPr id="6" name="Text 4"/>
          <p:cNvSpPr txBox="1"/>
          <p:nvPr/>
        </p:nvSpPr>
        <p:spPr>
          <a:xfrm>
            <a:off x="82296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Paste it into any chat.</a:t>
            </a:r>
            <a:endParaRPr lang="en-US" sz="1600" dirty="0"/>
          </a:p>
        </p:txBody>
      </p:sp>
      <p:sp>
        <p:nvSpPr>
          <p:cNvPr id="7" name="Visual panel"/>
          <p:cNvSpPr/>
          <p:nvPr/>
        </p:nvSpPr>
        <p:spPr>
          <a:xfrm>
            <a:off x="3337560" y="1920240"/>
            <a:ext cx="2606040" cy="3108960"/>
          </a:xfrm>
          <a:prstGeom prst="roundRect">
            <a:avLst>
              <a:gd name="adj" fmla="val 10526"/>
            </a:avLst>
          </a:prstGeom>
          <a:solidFill>
            <a:schemeClr val="tx2"/>
          </a:solidFill>
          <a:ln w="12700">
            <a:solidFill>
              <a:srgbClr val="262626"/>
            </a:solidFill>
            <a:prstDash val="solid"/>
          </a:ln>
        </p:spPr>
      </p:sp>
      <p:sp>
        <p:nvSpPr>
          <p:cNvPr id="8" name="Pill SKILL"/>
          <p:cNvSpPr/>
          <p:nvPr/>
        </p:nvSpPr>
        <p:spPr>
          <a:xfrm>
            <a:off x="361188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SKILL</a:t>
            </a:r>
            <a:endParaRPr lang="en-US" sz="1400" dirty="0"/>
          </a:p>
        </p:txBody>
      </p:sp>
      <p:sp>
        <p:nvSpPr>
          <p:cNvPr id="9" name="Text 7"/>
          <p:cNvSpPr txBox="1"/>
          <p:nvPr/>
        </p:nvSpPr>
        <p:spPr>
          <a:xfrm>
            <a:off x="361188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Codify</a:t>
            </a:r>
            <a:endParaRPr lang="en-US" sz="3000" dirty="0"/>
          </a:p>
        </p:txBody>
      </p:sp>
      <p:sp>
        <p:nvSpPr>
          <p:cNvPr id="10" name="Text 8"/>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A bounded, repeatable play.</a:t>
            </a:r>
            <a:endParaRPr lang="en-US" sz="1600" dirty="0"/>
          </a:p>
        </p:txBody>
      </p:sp>
      <p:sp>
        <p:nvSpPr>
          <p:cNvPr id="11" name="Visual panel"/>
          <p:cNvSpPr/>
          <p:nvPr/>
        </p:nvSpPr>
        <p:spPr>
          <a:xfrm>
            <a:off x="6126480" y="1920240"/>
            <a:ext cx="2606040" cy="3108960"/>
          </a:xfrm>
          <a:prstGeom prst="roundRect">
            <a:avLst>
              <a:gd name="adj" fmla="val 10526"/>
            </a:avLst>
          </a:prstGeom>
          <a:solidFill>
            <a:schemeClr val="tx2"/>
          </a:solidFill>
          <a:ln w="12700">
            <a:solidFill>
              <a:srgbClr val="262626"/>
            </a:solidFill>
            <a:prstDash val="solid"/>
          </a:ln>
        </p:spPr>
      </p:sp>
      <p:sp>
        <p:nvSpPr>
          <p:cNvPr id="12" name="Pill AGENT"/>
          <p:cNvSpPr/>
          <p:nvPr/>
        </p:nvSpPr>
        <p:spPr>
          <a:xfrm>
            <a:off x="640080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AGENT</a:t>
            </a:r>
            <a:endParaRPr lang="en-US" sz="1400" dirty="0"/>
          </a:p>
        </p:txBody>
      </p:sp>
      <p:sp>
        <p:nvSpPr>
          <p:cNvPr id="13" name="Text 11"/>
          <p:cNvSpPr txBox="1"/>
          <p:nvPr/>
        </p:nvSpPr>
        <p:spPr>
          <a:xfrm>
            <a:off x="640080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Delegate</a:t>
            </a:r>
            <a:endParaRPr lang="en-US" sz="3000" dirty="0"/>
          </a:p>
        </p:txBody>
      </p:sp>
      <p:sp>
        <p:nvSpPr>
          <p:cNvPr id="14" name="Text 12"/>
          <p:cNvSpPr txBox="1"/>
          <p:nvPr/>
        </p:nvSpPr>
        <p:spPr>
          <a:xfrm>
            <a:off x="640080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An operator pursuing an outcome.</a:t>
            </a:r>
            <a:endParaRPr lang="en-US" sz="1600" dirty="0"/>
          </a:p>
        </p:txBody>
      </p:sp>
      <p:sp>
        <p:nvSpPr>
          <p:cNvPr id="15" name="Visual panel"/>
          <p:cNvSpPr/>
          <p:nvPr/>
        </p:nvSpPr>
        <p:spPr>
          <a:xfrm>
            <a:off x="8915400" y="1920240"/>
            <a:ext cx="2606040" cy="3108960"/>
          </a:xfrm>
          <a:prstGeom prst="roundRect">
            <a:avLst>
              <a:gd name="adj" fmla="val 10526"/>
            </a:avLst>
          </a:prstGeom>
          <a:solidFill>
            <a:schemeClr val="tx2"/>
          </a:solidFill>
          <a:ln w="12700">
            <a:solidFill>
              <a:srgbClr val="262626"/>
            </a:solidFill>
            <a:prstDash val="solid"/>
          </a:ln>
        </p:spPr>
      </p:sp>
      <p:sp>
        <p:nvSpPr>
          <p:cNvPr id="16" name="Pill PLUGIN"/>
          <p:cNvSpPr/>
          <p:nvPr/>
        </p:nvSpPr>
        <p:spPr>
          <a:xfrm>
            <a:off x="9189720" y="2240280"/>
            <a:ext cx="13716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spc="150" kern="0" dirty="0">
                <a:solidFill>
                  <a:schemeClr val="tx1"/>
                </a:solidFill>
                <a:latin typeface="Clash Display Semibold" pitchFamily="34" charset="0"/>
                <a:ea typeface="Clash Display Semibold" pitchFamily="34" charset="-122"/>
                <a:cs typeface="Clash Display Semibold" pitchFamily="34" charset="-120"/>
              </a:rPr>
              <a:t>PLUGIN</a:t>
            </a:r>
            <a:endParaRPr lang="en-US" sz="1400" dirty="0"/>
          </a:p>
        </p:txBody>
      </p:sp>
      <p:sp>
        <p:nvSpPr>
          <p:cNvPr id="17" name="Text 15"/>
          <p:cNvSpPr txBox="1"/>
          <p:nvPr/>
        </p:nvSpPr>
        <p:spPr>
          <a:xfrm>
            <a:off x="9189720" y="2834640"/>
            <a:ext cx="2103120" cy="640080"/>
          </a:xfrm>
          <a:prstGeom prst="rect">
            <a:avLst/>
          </a:prstGeom>
          <a:noFill/>
          <a:ln/>
        </p:spPr>
        <p:txBody>
          <a:bodyPr wrap="square" lIns="0" tIns="0" rIns="0" bIns="0" rtlCol="0" anchor="t"/>
          <a:lstStyle/>
          <a:p>
            <a:pPr indent="0" marL="0">
              <a:buNone/>
            </a:pPr>
            <a:r>
              <a:rPr lang="en-US" sz="3000" dirty="0">
                <a:solidFill>
                  <a:schemeClr val="bg1"/>
                </a:solidFill>
                <a:latin typeface="Clash Grotesk Medium" pitchFamily="34" charset="0"/>
                <a:ea typeface="Clash Grotesk Medium" pitchFamily="34" charset="-122"/>
                <a:cs typeface="Clash Grotesk Medium" pitchFamily="34" charset="-120"/>
              </a:rPr>
              <a:t>Distribute</a:t>
            </a:r>
            <a:endParaRPr lang="en-US" sz="3000" dirty="0"/>
          </a:p>
        </p:txBody>
      </p:sp>
      <p:sp>
        <p:nvSpPr>
          <p:cNvPr id="18" name="Text 16"/>
          <p:cNvSpPr txBox="1"/>
          <p:nvPr/>
        </p:nvSpPr>
        <p:spPr>
          <a:xfrm>
            <a:off x="9189720" y="3566160"/>
            <a:ext cx="2103120" cy="1097280"/>
          </a:xfrm>
          <a:prstGeom prst="rect">
            <a:avLst/>
          </a:prstGeom>
          <a:noFill/>
          <a:ln/>
        </p:spPr>
        <p:txBody>
          <a:bodyPr wrap="square" lIns="0" tIns="0" rIns="0" bIns="0" rtlCol="0" anchor="t"/>
          <a:lstStyle/>
          <a:p>
            <a:pPr indent="0" marL="0">
              <a:buNone/>
            </a:pPr>
            <a:r>
              <a:rPr lang="en-US" sz="1600" dirty="0">
                <a:solidFill>
                  <a:srgbClr val="B3B3B3"/>
                </a:solidFill>
                <a:latin typeface="PP Mori" pitchFamily="34" charset="0"/>
                <a:ea typeface="PP Mori" pitchFamily="34" charset="-122"/>
                <a:cs typeface="PP Mori" pitchFamily="34" charset="-120"/>
              </a:rPr>
              <a:t>The kit.</a:t>
            </a:r>
            <a:endParaRPr lang="en-US" sz="1600" dirty="0"/>
          </a:p>
        </p:txBody>
      </p:sp>
      <p:sp>
        <p:nvSpPr>
          <p:cNvPr id="19" name="Honest limit"/>
          <p:cNvSpPr txBox="1"/>
          <p:nvPr/>
        </p:nvSpPr>
        <p:spPr>
          <a:xfrm>
            <a:off x="548640" y="5394960"/>
            <a:ext cx="10058400" cy="457200"/>
          </a:xfrm>
          <a:prstGeom prst="rect">
            <a:avLst/>
          </a:prstGeom>
          <a:noFill/>
          <a:ln/>
        </p:spPr>
        <p:txBody>
          <a:bodyPr wrap="square" lIns="0" tIns="0" rIns="0" bIns="0" rtlCol="0" anchor="t"/>
          <a:lstStyle/>
          <a:p>
            <a:pPr indent="0" marL="0">
              <a:buNone/>
            </a:pPr>
            <a:r>
              <a:rPr lang="en-US" sz="1800" dirty="0">
                <a:solidFill>
                  <a:schemeClr val="bg1"/>
                </a:solidFill>
                <a:latin typeface="PP Mori" pitchFamily="34" charset="0"/>
                <a:ea typeface="PP Mori" pitchFamily="34" charset="-122"/>
                <a:cs typeface="PP Mori" pitchFamily="34" charset="-120"/>
              </a:rPr>
              <a:t>Today Dean operates the chain. No autonomous discovery operator exists. Ten artifacts do not prove demand.</a:t>
            </a:r>
            <a:endParaRPr lang="en-US" sz="18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B3B3B3"/>
                </a:solidFill>
                <a:latin typeface="PP Mori"/>
                <a:ea typeface="PP Mori"/>
                <a:cs typeface="PP Mo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losing line"/>
          <p:cNvSpPr txBox="1"/>
          <p:nvPr/>
        </p:nvSpPr>
        <p:spPr>
          <a:xfrm>
            <a:off x="548640" y="822960"/>
            <a:ext cx="10058400" cy="3840480"/>
          </a:xfrm>
          <a:prstGeom prst="rect">
            <a:avLst/>
          </a:prstGeom>
          <a:noFill/>
          <a:ln/>
        </p:spPr>
        <p:txBody>
          <a:bodyPr wrap="square" lIns="0" tIns="0" rIns="0" bIns="0" rtlCol="0" anchor="t"/>
          <a:lstStyle/>
          <a:p>
            <a:pPr indent="0" marL="0">
              <a:buNone/>
            </a:pPr>
            <a:r>
              <a:rPr lang="en-US" sz="8000" dirty="0">
                <a:solidFill>
                  <a:schemeClr val="bg1"/>
                </a:solidFill>
                <a:latin typeface="FR Kraken Slab Medium" pitchFamily="34" charset="0"/>
                <a:ea typeface="FR Kraken Slab Medium" pitchFamily="34" charset="-122"/>
                <a:cs typeface="FR Kraken Slab Medium" pitchFamily="34" charset="-120"/>
              </a:rPr>
              <a:t>Learn faster.</a:t>
            </a:r>
            <a:endParaRPr lang="en-US" sz="8000" dirty="0"/>
          </a:p>
          <a:p>
            <a:pPr indent="0" marL="0">
              <a:buNone/>
            </a:pPr>
            <a:r>
              <a:rPr lang="en-US" sz="8000" dirty="0">
                <a:solidFill>
                  <a:schemeClr val="bg1"/>
                </a:solidFill>
                <a:latin typeface="FR Kraken Slab Medium" pitchFamily="34" charset="0"/>
                <a:ea typeface="FR Kraken Slab Medium" pitchFamily="34" charset="-122"/>
                <a:cs typeface="FR Kraken Slab Medium" pitchFamily="34" charset="-120"/>
              </a:rPr>
              <a:t>Decide better.</a:t>
            </a:r>
            <a:endParaRPr lang="en-US" sz="8000" dirty="0"/>
          </a:p>
          <a:p>
            <a:pPr indent="0" marL="0">
              <a:buNone/>
            </a:pPr>
            <a:r>
              <a:rPr lang="en-US" sz="8000" dirty="0">
                <a:solidFill>
                  <a:schemeClr val="accent1"/>
                </a:solidFill>
                <a:latin typeface="FR Kraken Slab Medium" pitchFamily="34" charset="0"/>
                <a:ea typeface="FR Kraken Slab Medium" pitchFamily="34" charset="-122"/>
                <a:cs typeface="FR Kraken Slab Medium" pitchFamily="34" charset="-120"/>
              </a:rPr>
              <a:t>Then build.</a:t>
            </a:r>
            <a:endParaRPr lang="en-US" sz="8000" dirty="0"/>
          </a:p>
        </p:txBody>
      </p:sp>
      <p:sp>
        <p:nvSpPr>
          <p:cNvPr id="3" name="Invitation"/>
          <p:cNvSpPr txBox="1"/>
          <p:nvPr/>
        </p:nvSpPr>
        <p:spPr>
          <a:xfrm>
            <a:off x="548640" y="4983480"/>
            <a:ext cx="8229600" cy="457200"/>
          </a:xfrm>
          <a:prstGeom prst="rect">
            <a:avLst/>
          </a:prstGeom>
          <a:noFill/>
          <a:ln/>
        </p:spPr>
        <p:txBody>
          <a:bodyPr wrap="square" lIns="0" tIns="0" rIns="0" bIns="0" rtlCol="0" anchor="t"/>
          <a:lstStyle/>
          <a:p>
            <a:pPr indent="0" marL="0">
              <a:buNone/>
            </a:pPr>
            <a:r>
              <a:rPr lang="en-US" sz="2200" dirty="0">
                <a:solidFill>
                  <a:srgbClr val="B3B3B3"/>
                </a:solidFill>
                <a:latin typeface="PP Mori" pitchFamily="34" charset="0"/>
                <a:ea typeface="PP Mori" pitchFamily="34" charset="-122"/>
                <a:cs typeface="PP Mori" pitchFamily="34" charset="-120"/>
              </a:rPr>
              <a:t>Pick one motion. Bring your own context. Try it tomorrow.</a:t>
            </a:r>
            <a:endParaRPr lang="en-US" sz="2200" dirty="0"/>
          </a:p>
        </p:txBody>
      </p:sp>
      <p:pic>
        <p:nvPicPr>
          <p:cNvPr id="4" name="Productside lockup" descr="Productside">    </p:cNvPr>
          <p:cNvPicPr>
            <a:picLocks noChangeAspect="1"/>
          </p:cNvPicPr>
          <p:nvPr/>
        </p:nvPicPr>
        <p:blipFill>
          <a:blip r:embed="rId1"/>
          <a:stretch>
            <a:fillRect/>
          </a:stretch>
        </p:blipFill>
        <p:spPr>
          <a:xfrm>
            <a:off x="10058400" y="5394960"/>
            <a:ext cx="1554480" cy="792785"/>
          </a:xfrm>
          <a:prstGeom prst="rect">
            <a:avLst/>
          </a:prstGeom>
        </p:spPr>
      </p:pic>
    </p:spTree>
  </p:cSld>
  <p:clrMapOvr>
    <a:masterClrMapping/>
  </p:clrMapOvr>
</p:sld>
</file>

<file path=ppt/theme/theme1.xml><?xml version="1.0" encoding="utf-8"?>
<a:theme xmlns:a="http://schemas.openxmlformats.org/drawingml/2006/main" name="Productside Dark">
  <a:themeElements>
    <a:clrScheme name="Productside Dark">
      <a:dk1>
        <a:srgbClr val="000000"/>
      </a:dk1>
      <a:lt1>
        <a:srgbClr val="FFFFFF"/>
      </a:lt1>
      <a:dk2>
        <a:srgbClr val="141414"/>
      </a:dk2>
      <a:lt2>
        <a:srgbClr val="F4F4F4"/>
      </a:lt2>
      <a:accent1>
        <a:srgbClr val="00E874"/>
      </a:accent1>
      <a:accent2>
        <a:srgbClr val="36DEFF"/>
      </a:accent2>
      <a:accent3>
        <a:srgbClr val="EFE400"/>
      </a:accent3>
      <a:accent4>
        <a:srgbClr val="FF9800"/>
      </a:accent4>
      <a:accent5>
        <a:srgbClr val="004A4A"/>
      </a:accent5>
      <a:accent6>
        <a:srgbClr val="3508FF"/>
      </a:accent6>
      <a:hlink>
        <a:srgbClr val="00E874"/>
      </a:hlink>
      <a:folHlink>
        <a:srgbClr val="36DEFF"/>
      </a:folHlink>
    </a:clrScheme>
    <a:fontScheme name="Productside Dark">
      <a:majorFont>
        <a:latin typeface="Clash Grotesk Medium"/>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P Mo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the Right Thing Before Building It Right</dc:title>
  <dc:subject>PptxGenJS Presentation</dc:subject>
  <dc:creator>Dean Peters</dc:creator>
  <cp:lastModifiedBy>Dean Peters</cp:lastModifiedBy>
  <cp:revision>1</cp:revision>
  <dcterms:created xsi:type="dcterms:W3CDTF">2026-10-03T22:53:55Z</dcterms:created>
  <dcterms:modified xsi:type="dcterms:W3CDTF">2026-10-03T22:53:55Z</dcterms:modified>
</cp:coreProperties>
</file>