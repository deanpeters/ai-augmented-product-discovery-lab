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Cost to build</c:v>
                </c:pt>
              </c:strCache>
            </c:strRef>
          </c:tx>
          <c:spPr>
            <a:solidFill>
              <a:srgbClr val="00E874"/>
            </a:solidFill>
            <a:ln w="50800" cap="flat">
              <a:solidFill>
                <a:srgbClr val="00E87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E874"/>
              </a:solidFill>
              <a:ln w="9525" cap="flat">
                <a:solidFill>
                  <a:srgbClr val="00E874"/>
                </a:solidFill>
                <a:prstDash val="solid"/>
                <a:round/>
              </a:ln>
              <a:effectLst/>
            </c:spPr>
          </c:marker>
          <c:cat>
            <c:multiLvlStrRef>
              <c:f>Sheet1!$A$2:$A$9</c:f>
              <c:multiLvlStrCache>
                <c:ptCount val="8"/>
                <c:lvl>
                  <c:pt idx="0">
                    <c:v>T1</c:v>
                  </c:pt>
                  <c:pt idx="1">
                    <c:v>T2</c:v>
                  </c:pt>
                  <c:pt idx="2">
                    <c:v>T3</c:v>
                  </c:pt>
                  <c:pt idx="3">
                    <c:v>T4</c:v>
                  </c:pt>
                  <c:pt idx="4">
                    <c:v>T5</c:v>
                  </c:pt>
                  <c:pt idx="5">
                    <c:v>T6</c:v>
                  </c:pt>
                  <c:pt idx="6">
                    <c:v>T7</c:v>
                  </c:pt>
                  <c:pt idx="7">
                    <c:v>T8</c:v>
                  </c:pt>
                </c:lvl>
              </c:multiLvlStrCache>
            </c:multiLvlStrRef>
          </c:cat>
          <c:val>
            <c:numRef>
              <c:f>Sheet1!$B$2:$B$9</c:f>
              <c:numCache>
                <c:formatCode>General</c:formatCode>
                <c:ptCount val="8"/>
                <c:pt idx="0">
                  <c:v>100</c:v>
                </c:pt>
                <c:pt idx="1">
                  <c:v>62</c:v>
                </c:pt>
                <c:pt idx="2">
                  <c:v>40</c:v>
                </c:pt>
                <c:pt idx="3">
                  <c:v>26</c:v>
                </c:pt>
                <c:pt idx="4">
                  <c:v>17</c:v>
                </c:pt>
                <c:pt idx="5">
                  <c:v>12</c:v>
                </c:pt>
                <c:pt idx="6">
                  <c:v>9</c:v>
                </c:pt>
                <c:pt idx="7">
                  <c:v>7</c:v>
                </c:pt>
              </c:numCache>
            </c:numRef>
          </c:val>
          <c:smooth val="0"/>
        </c:ser>
        <c:ser>
          <c:idx val="1"/>
          <c:order val="1"/>
          <c:tx>
            <c:strRef>
              <c:f>Sheet1!$C$1</c:f>
              <c:strCache>
                <c:ptCount val="1"/>
                <c:pt idx="0">
                  <c:v>Cost of poor judgment (burned runway)</c:v>
                </c:pt>
              </c:strCache>
            </c:strRef>
          </c:tx>
          <c:spPr>
            <a:solidFill>
              <a:srgbClr val="FFFFFF"/>
            </a:solidFill>
            <a:ln w="508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FFFF"/>
              </a:solidFill>
              <a:ln w="9525" cap="flat">
                <a:solidFill>
                  <a:srgbClr val="FFFFFF"/>
                </a:solidFill>
                <a:prstDash val="solid"/>
                <a:round/>
              </a:ln>
              <a:effectLst/>
            </c:spPr>
          </c:marker>
          <c:cat>
            <c:multiLvlStrRef>
              <c:f>Sheet1!$A$2:$A$9</c:f>
              <c:multiLvlStrCache>
                <c:ptCount val="8"/>
                <c:lvl>
                  <c:pt idx="0">
                    <c:v>T1</c:v>
                  </c:pt>
                  <c:pt idx="1">
                    <c:v>T2</c:v>
                  </c:pt>
                  <c:pt idx="2">
                    <c:v>T3</c:v>
                  </c:pt>
                  <c:pt idx="3">
                    <c:v>T4</c:v>
                  </c:pt>
                  <c:pt idx="4">
                    <c:v>T5</c:v>
                  </c:pt>
                  <c:pt idx="5">
                    <c:v>T6</c:v>
                  </c:pt>
                  <c:pt idx="6">
                    <c:v>T7</c:v>
                  </c:pt>
                  <c:pt idx="7">
                    <c:v>T8</c:v>
                  </c:pt>
                </c:lvl>
              </c:multiLvlStrCache>
            </c:multiLvlStrRef>
          </c:cat>
          <c:val>
            <c:numRef>
              <c:f>Sheet1!$C$2:$C$9</c:f>
              <c:numCache>
                <c:formatCode>General</c:formatCode>
                <c:ptCount val="8"/>
                <c:pt idx="0">
                  <c:v>8</c:v>
                </c:pt>
                <c:pt idx="1">
                  <c:v>10</c:v>
                </c:pt>
                <c:pt idx="2">
                  <c:v>14</c:v>
                </c:pt>
                <c:pt idx="3">
                  <c:v>20</c:v>
                </c:pt>
                <c:pt idx="4">
                  <c:v>32</c:v>
                </c:pt>
                <c:pt idx="5">
                  <c:v>52</c:v>
                </c:pt>
                <c:pt idx="6">
                  <c:v>76</c:v>
                </c:pt>
                <c:pt idx="7">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FFFFF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spoken. Hall of Shame goes here only if every case and source has been checked before the show. Placeholder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Spoken opening. Five cases, one line each, then leave the slide. Source URLs and dates for each case: [ATTACH BEFORE SHOWTIME]. Do not research cases on stage. Lessons: Relay.app, differentiation must keep being earned. Humane AI Pin, novelty does not equal customer value. Google Gemini image generation, optimizing one thing can break another. Air Canada chatbot, automation does not outsource accountability. Zillow Offers, model performance does not guarantee business viability.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Take two answers. They are audience suggestions, not customer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chart. No data behind the curves.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Market Intel, Segment, Persona. Understand the situation before anyone proposes 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landscape comes before the segment. Pre-run if using real sources; keep URLs, dates and limits. Fallback: saved Market Intel output. Recovery: AI demos obey Murphy's Law, so I brought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is a deliberate boundary, chosen by a person. Sizing circles are speculation: TAM from population, SAM from trade and industry data, SOM from competition plus reach and capacity. No numbers on the slide. Every size is ESTIMATE until sourced; unknowns stay UNKNOWN. Name inclusions and exclusions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minutes. Guided exchange. Reply to the actual question only. Vague answer on purpose ('keep it safe'), then clarify. Jobs, pains, gains, workaround and stakes live in the persona. No actor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Opportunity Solution Tree, Value Prop vs. Differentiation 2x2, Positioning Statement. Explore and position, with a human choice at each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opportunity survives if the dashboard disappears? Approving the tree does not choose a branch. Select an actual concept at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Bake-off. Every solution candidate from the Opportunity Solution Tree is placed on the grid, with competitors and the current workaround on the same map, by value to the persona and meaningful difference against the real alternative. Placement is provisional and synthetic here. Missing evidence is UNKNOWN, not low. No moat claims. Ask: can something be different without being valuable? The placement helps decide which solutions go forward; a person makes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need, category, benefit, alternative, proposed difference. Distinguish a proposed difference from a supported reason to believe. Read the statement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Solution Hypothesis, Storyboard, Minimum Viable Narrative, Prototyping. Make the proposition testable, then pick the cheapest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falsifiable. If we / for / then / because. Name the expected and disconfirming observations before any experiment. Experiment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MVN yet. The storyboard consumes the selected hypothesis. The arc: who has the problem, what the problem is, the oh crap moment when it comes to a head, the solution arrives, the person with the problem uses it, and they help others enjoy the same success. Descriptive frames only. Everything after the problem is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Encounter, then the interaction loop, then Resolution. The loop is a run of 3 to 6 action and response exchanges between the person and the system, not a single pass. Each response prompts the person's next action. Remove ornamental features. Not a PRD, not a UI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the smallest, cheapest test that surfaces the most brutal truth. Compare a conversation, a storyboard or wireframe test, an interaction, and a build. Recommend the tiniest act of discovery that can answer it. Build and participant experiment statuses stay NOT BUILT and NOT RUN until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Jeff Patton: the most expensive way to test your idea is to build production quality software. A polished prototype is not stronger evidence. It may be a more expensive rendering of weak assumptions. Lo-fi wins. Quote source: https://jpattonassociates.com/dual-track-development/ (Jeff Patton, Dual Track Development is not Duel Track, 2017). Cost labels on this ladder are illustrative, not universal; choose the lowest fidelity that can expose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Persona's skill, template, worked and weak examples, and the paste-ready prompt side by side before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repo access before promising a QR code works for everyone. AI demos obey Murphy's Law, so I brought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S_TITLE">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S_CONTENT">
    <p:bg>
      <p:bgPr>
        <a:solidFill>
          <a:srgbClr val="000000"/>
        </a:solidFill>
      </p:bgPr>
    </p:bg>
    <p:spTree>
      <p:nvGrpSpPr>
        <p:cNvPr id="1" name=""/>
        <p:cNvGrpSpPr/>
        <p:nvPr/>
      </p:nvGrpSpPr>
      <p:grpSpPr>
        <a:xfrm>
          <a:off x="0" y="0"/>
          <a:ext cx="0" cy="0"/>
          <a:chOff x="0" y="0"/>
          <a:chExt cx="0" cy="0"/>
        </a:xfrm>
      </p:grpSpPr>
      <p:pic>
        <p:nvPicPr>
          <p:cNvPr id="2" name="Productside wordmark" descr="/Users/deanpeters/Code/AI-Augmented-Product-Discovery-Lab/assets/productside/wordmark-green.png">    </p:cNvPr>
          <p:cNvPicPr>
            <a:picLocks noChangeAspect="1"/>
          </p:cNvPicPr>
          <p:nvPr/>
        </p:nvPicPr>
        <p:blipFill>
          <a:blip r:embed="rId1"/>
          <a:stretch>
            <a:fillRect/>
          </a:stretch>
        </p:blipFill>
        <p:spPr>
          <a:xfrm>
            <a:off x="10195560" y="6382512"/>
            <a:ext cx="1463040" cy="178308"/>
          </a:xfrm>
          <a:prstGeom prst="rect">
            <a:avLst/>
          </a:prstGeom>
        </p:spPr>
      </p:pic>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S_MOTION">
    <p:bg>
      <p:bgPr>
        <a:solidFill>
          <a:srgbClr val="000000"/>
        </a:solidFill>
      </p:bgPr>
    </p:bg>
    <p:spTree>
      <p:nvGrpSpPr>
        <p:cNvPr id="1" name=""/>
        <p:cNvGrpSpPr/>
        <p:nvPr/>
      </p:nvGrpSpPr>
      <p:grpSpPr>
        <a:xfrm>
          <a:off x="0" y="0"/>
          <a:ext cx="0" cy="0"/>
          <a:chOff x="0" y="0"/>
          <a:chExt cx="0" cy="0"/>
        </a:xfrm>
      </p:grpSpPr>
      <p:pic>
        <p:nvPicPr>
          <p:cNvPr id="2" name="Productside wordmark" descr="/Users/deanpeters/Code/AI-Augmented-Product-Discovery-Lab/assets/productside/wordmark-green.png">    </p:cNvPr>
          <p:cNvPicPr>
            <a:picLocks noChangeAspect="1"/>
          </p:cNvPicPr>
          <p:nvPr/>
        </p:nvPicPr>
        <p:blipFill>
          <a:blip r:embed="rId1"/>
          <a:stretch>
            <a:fillRect/>
          </a:stretch>
        </p:blipFill>
        <p:spPr>
          <a:xfrm>
            <a:off x="10195560" y="6382512"/>
            <a:ext cx="1463040" cy="178308"/>
          </a:xfrm>
          <a:prstGeom prst="rect">
            <a:avLst/>
          </a:prstGeom>
        </p:spPr>
      </p:pic>
      <p:sp>
        <p:nvSpPr>
          <p:cNvPr id="3" name="Text 0"/>
          <p:cNvSpPr/>
          <p:nvPr>
            <p:ph idx="101" type="title" hasCustomPrompt="1"/>
          </p:nvPr>
        </p:nvSpPr>
        <p:spPr>
          <a:xfrm>
            <a:off x="548640" y="1600200"/>
            <a:ext cx="5212080" cy="1143000"/>
          </a:xfrm>
          <a:prstGeom prst="rect">
            <a:avLst/>
          </a:prstGeom>
          <a:noFill/>
          <a:ln/>
        </p:spPr>
        <p:txBody>
          <a:bodyPr wrap="square" rtlCol="0"/>
          <a:lstStyle>
            <a:lvl1pPr algn="l" indent="0" marL="0">
              <a:buNone/>
              <a:defRPr lang="en-US" sz="4000" dirty="0">
                <a:solidFill>
                  <a:schemeClr val="bg1"/>
                </a:solidFill>
                <a:latin typeface="Clash Grotesk Medium" pitchFamily="34" charset="0"/>
                <a:ea typeface="Clash Grotesk Medium" pitchFamily="34" charset="-122"/>
                <a:cs typeface="Clash Grotesk Medium" pitchFamily="34" charset="-120"/>
              </a:defRPr>
            </a:lvl1pPr>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Motion title</a:t>
            </a:r>
            <a:endParaRPr lang="en-US" sz="40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roductside lockup" descr="Productside">    </p:cNvPr>
          <p:cNvPicPr>
            <a:picLocks noChangeAspect="1"/>
          </p:cNvPicPr>
          <p:nvPr/>
        </p:nvPicPr>
        <p:blipFill>
          <a:blip r:embed="rId1"/>
          <a:stretch>
            <a:fillRect/>
          </a:stretch>
        </p:blipFill>
        <p:spPr>
          <a:xfrm>
            <a:off x="548640" y="502920"/>
            <a:ext cx="1554480" cy="792785"/>
          </a:xfrm>
          <a:prstGeom prst="rect">
            <a:avLst/>
          </a:prstGeom>
        </p:spPr>
      </p:pic>
      <p:sp>
        <p:nvSpPr>
          <p:cNvPr id="3" name="Eyebrow"/>
          <p:cNvSpPr/>
          <p:nvPr/>
        </p:nvSpPr>
        <p:spPr>
          <a:xfrm>
            <a:off x="548640" y="1828800"/>
            <a:ext cx="448056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AI-AUGMENTED PRODUCT DISCOVERY</a:t>
            </a:r>
            <a:endParaRPr lang="en-US" sz="1200" dirty="0"/>
          </a:p>
        </p:txBody>
      </p:sp>
      <p:sp>
        <p:nvSpPr>
          <p:cNvPr id="4" name="Title"/>
          <p:cNvSpPr txBox="1"/>
          <p:nvPr/>
        </p:nvSpPr>
        <p:spPr>
          <a:xfrm>
            <a:off x="548640" y="2377440"/>
            <a:ext cx="9326880" cy="2468880"/>
          </a:xfrm>
          <a:prstGeom prst="rect">
            <a:avLst/>
          </a:prstGeom>
          <a:noFill/>
          <a:ln/>
        </p:spPr>
        <p:txBody>
          <a:bodyPr wrap="square" lIns="0" tIns="0" rIns="0" bIns="0" rtlCol="0" anchor="t"/>
          <a:lstStyle/>
          <a:p>
            <a:pPr indent="0" marL="0">
              <a:buNone/>
            </a:pPr>
            <a:r>
              <a:rPr lang="en-US" sz="5400" dirty="0">
                <a:solidFill>
                  <a:schemeClr val="bg1"/>
                </a:solidFill>
                <a:latin typeface="FR Kraken Slab Medium" pitchFamily="34" charset="0"/>
                <a:ea typeface="FR Kraken Slab Medium" pitchFamily="34" charset="-122"/>
                <a:cs typeface="FR Kraken Slab Medium" pitchFamily="34" charset="-120"/>
              </a:rPr>
              <a:t>Build the Right Thing Before Building It Right.</a:t>
            </a:r>
            <a:endParaRPr lang="en-US" sz="5400" dirty="0"/>
          </a:p>
        </p:txBody>
      </p:sp>
      <p:sp>
        <p:nvSpPr>
          <p:cNvPr id="5" name="Subtitle"/>
          <p:cNvSpPr txBox="1"/>
          <p:nvPr/>
        </p:nvSpPr>
        <p:spPr>
          <a:xfrm>
            <a:off x="548640" y="5074920"/>
            <a:ext cx="7680960" cy="822960"/>
          </a:xfrm>
          <a:prstGeom prst="rect">
            <a:avLst/>
          </a:prstGeom>
          <a:noFill/>
          <a:ln/>
        </p:spPr>
        <p:txBody>
          <a:bodyPr wrap="square" lIns="0" tIns="0" rIns="0" bIns="0" rtlCol="0" anchor="t"/>
          <a:lstStyle/>
          <a:p>
            <a:pPr indent="0" marL="0">
              <a:buNone/>
            </a:pPr>
            <a:r>
              <a:rPr lang="en-US" sz="2200" dirty="0">
                <a:solidFill>
                  <a:schemeClr val="accent1"/>
                </a:solidFill>
                <a:latin typeface="PP Mori" pitchFamily="34" charset="0"/>
                <a:ea typeface="PP Mori" pitchFamily="34" charset="-122"/>
                <a:cs typeface="PP Mori" pitchFamily="34" charset="-120"/>
              </a:rPr>
              <a:t>AI made building dramatically cheaper and faster. It did not make knowing what to build any easier.</a:t>
            </a:r>
            <a:endParaRPr lang="en-US" sz="2200" dirty="0"/>
          </a:p>
        </p:txBody>
      </p:sp>
      <p:sp>
        <p:nvSpPr>
          <p:cNvPr id="6" name="Byline"/>
          <p:cNvSpPr txBox="1"/>
          <p:nvPr/>
        </p:nvSpPr>
        <p:spPr>
          <a:xfrm>
            <a:off x="548640" y="6263640"/>
            <a:ext cx="10058400" cy="27432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Dean Peters  |  Triangle Startup Collective  |  Raleigh Founded  |  October 5,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502920"/>
            <a:ext cx="5486400" cy="274320"/>
          </a:xfrm>
          <a:prstGeom prst="rect">
            <a:avLst/>
          </a:prstGeom>
          <a:noFill/>
          <a:ln/>
        </p:spPr>
        <p:txBody>
          <a:bodyPr wrap="square" lIns="0" tIns="0" rIns="0" bIns="0" rtlCol="0" anchor="t"/>
          <a:lstStyle/>
          <a:p>
            <a:pPr indent="0" marL="0">
              <a:buNone/>
            </a:pPr>
            <a:r>
              <a:rPr lang="en-US" sz="1400" spc="150" kern="0" dirty="0">
                <a:solidFill>
                  <a:schemeClr val="accent1"/>
                </a:solidFill>
                <a:latin typeface="Clash Display Semibold" pitchFamily="34" charset="0"/>
                <a:ea typeface="Clash Display Semibold" pitchFamily="34" charset="-122"/>
                <a:cs typeface="Clash Display Semibold" pitchFamily="34" charset="-120"/>
              </a:rPr>
              <a:t>HALL OF SHAME</a:t>
            </a:r>
            <a:endParaRPr lang="en-US" sz="1400" dirty="0"/>
          </a:p>
        </p:txBody>
      </p:sp>
      <p:sp>
        <p:nvSpPr>
          <p:cNvPr id="3" name="Title"/>
          <p:cNvSpPr txBox="1"/>
          <p:nvPr/>
        </p:nvSpPr>
        <p:spPr>
          <a:xfrm>
            <a:off x="548640" y="868680"/>
            <a:ext cx="10789920" cy="731520"/>
          </a:xfrm>
          <a:prstGeom prst="rect">
            <a:avLst/>
          </a:prstGeom>
          <a:noFill/>
          <a:ln/>
        </p:spPr>
        <p:txBody>
          <a:bodyPr wrap="square" lIns="0" tIns="0" rIns="0" bIns="0" rtlCol="0" anchor="t"/>
          <a:lstStyle/>
          <a:p>
            <a:pPr indent="0" marL="0">
              <a:buNone/>
            </a:pPr>
            <a:r>
              <a:rPr lang="en-US" sz="3800" dirty="0">
                <a:solidFill>
                  <a:schemeClr val="bg1"/>
                </a:solidFill>
                <a:latin typeface="Clash Grotesk Medium" pitchFamily="34" charset="0"/>
                <a:ea typeface="Clash Grotesk Medium" pitchFamily="34" charset="-122"/>
                <a:cs typeface="Clash Grotesk Medium" pitchFamily="34" charset="-120"/>
              </a:rPr>
              <a:t>Five ways to build it right and still miss</a:t>
            </a:r>
            <a:endParaRPr lang="en-US" sz="3800" dirty="0"/>
          </a:p>
        </p:txBody>
      </p:sp>
      <p:sp>
        <p:nvSpPr>
          <p:cNvPr id="4" name="Case row 1"/>
          <p:cNvSpPr/>
          <p:nvPr/>
        </p:nvSpPr>
        <p:spPr>
          <a:xfrm>
            <a:off x="548640" y="1828800"/>
            <a:ext cx="11064240" cy="713232"/>
          </a:xfrm>
          <a:prstGeom prst="roundRect">
            <a:avLst>
              <a:gd name="adj" fmla="val 19231"/>
            </a:avLst>
          </a:prstGeom>
          <a:solidFill>
            <a:schemeClr val="tx2"/>
          </a:solidFill>
          <a:ln w="12700">
            <a:solidFill>
              <a:srgbClr val="262626"/>
            </a:solidFill>
            <a:prstDash val="solid"/>
          </a:ln>
        </p:spPr>
      </p:sp>
      <p:sp>
        <p:nvSpPr>
          <p:cNvPr id="5" name="Case number 1"/>
          <p:cNvSpPr txBox="1"/>
          <p:nvPr/>
        </p:nvSpPr>
        <p:spPr>
          <a:xfrm>
            <a:off x="777240" y="1984248"/>
            <a:ext cx="640080" cy="411480"/>
          </a:xfrm>
          <a:prstGeom prst="rect">
            <a:avLst/>
          </a:prstGeom>
          <a:noFill/>
          <a:ln/>
        </p:spPr>
        <p:txBody>
          <a:bodyPr wrap="square" lIns="0" tIns="0" rIns="0" bIns="0" rtlCol="0" anchor="t"/>
          <a:lstStyle/>
          <a:p>
            <a:pPr indent="0" marL="0">
              <a:buNone/>
            </a:pPr>
            <a:r>
              <a:rPr lang="en-US" sz="2000" dirty="0">
                <a:solidFill>
                  <a:schemeClr val="accent1"/>
                </a:solidFill>
                <a:latin typeface="Clash Display Semibold" pitchFamily="34" charset="0"/>
                <a:ea typeface="Clash Display Semibold" pitchFamily="34" charset="-122"/>
                <a:cs typeface="Clash Display Semibold" pitchFamily="34" charset="-120"/>
              </a:rPr>
              <a:t>01</a:t>
            </a:r>
            <a:endParaRPr lang="en-US" sz="2000" dirty="0"/>
          </a:p>
        </p:txBody>
      </p:sp>
      <p:sp>
        <p:nvSpPr>
          <p:cNvPr id="6" name="Case name 1"/>
          <p:cNvSpPr txBox="1"/>
          <p:nvPr/>
        </p:nvSpPr>
        <p:spPr>
          <a:xfrm>
            <a:off x="1463040" y="1984248"/>
            <a:ext cx="3840480" cy="411480"/>
          </a:xfrm>
          <a:prstGeom prst="rect">
            <a:avLst/>
          </a:prstGeom>
          <a:noFill/>
          <a:ln/>
        </p:spPr>
        <p:txBody>
          <a:bodyPr wrap="square" lIns="0" tIns="0" rIns="0" bIns="0" rtlCol="0" anchor="ctr"/>
          <a:lstStyle/>
          <a:p>
            <a:pPr indent="0" marL="0">
              <a:buNone/>
            </a:pPr>
            <a:r>
              <a:rPr lang="en-US" sz="2000" dirty="0">
                <a:solidFill>
                  <a:schemeClr val="bg1"/>
                </a:solidFill>
                <a:latin typeface="Clash Grotesk Medium" pitchFamily="34" charset="0"/>
                <a:ea typeface="Clash Grotesk Medium" pitchFamily="34" charset="-122"/>
                <a:cs typeface="Clash Grotesk Medium" pitchFamily="34" charset="-120"/>
              </a:rPr>
              <a:t>Relay.app</a:t>
            </a:r>
            <a:endParaRPr lang="en-US" sz="2000" dirty="0"/>
          </a:p>
        </p:txBody>
      </p:sp>
      <p:sp>
        <p:nvSpPr>
          <p:cNvPr id="7" name="Case lesson 1"/>
          <p:cNvSpPr txBox="1"/>
          <p:nvPr/>
        </p:nvSpPr>
        <p:spPr>
          <a:xfrm>
            <a:off x="5349240" y="1984248"/>
            <a:ext cx="6263640" cy="411480"/>
          </a:xfrm>
          <a:prstGeom prst="rect">
            <a:avLst/>
          </a:prstGeom>
          <a:noFill/>
          <a:ln/>
        </p:spPr>
        <p:txBody>
          <a:bodyPr wrap="square" lIns="0" tIns="0" rIns="0" bIns="0" rtlCol="0" anchor="ctr"/>
          <a:lstStyle/>
          <a:p>
            <a:pPr indent="0" marL="0">
              <a:buNone/>
            </a:pPr>
            <a:r>
              <a:rPr lang="en-US" sz="1700" dirty="0">
                <a:solidFill>
                  <a:srgbClr val="B3B3B3"/>
                </a:solidFill>
                <a:latin typeface="PP Mori" pitchFamily="34" charset="0"/>
                <a:ea typeface="PP Mori" pitchFamily="34" charset="-122"/>
                <a:cs typeface="PP Mori" pitchFamily="34" charset="-120"/>
              </a:rPr>
              <a:t>Differentiation must keep being earned.</a:t>
            </a:r>
            <a:endParaRPr lang="en-US" sz="1700" dirty="0"/>
          </a:p>
        </p:txBody>
      </p:sp>
      <p:sp>
        <p:nvSpPr>
          <p:cNvPr id="8" name="Case row 2"/>
          <p:cNvSpPr/>
          <p:nvPr/>
        </p:nvSpPr>
        <p:spPr>
          <a:xfrm>
            <a:off x="548640" y="2670048"/>
            <a:ext cx="11064240" cy="713232"/>
          </a:xfrm>
          <a:prstGeom prst="roundRect">
            <a:avLst>
              <a:gd name="adj" fmla="val 19231"/>
            </a:avLst>
          </a:prstGeom>
          <a:solidFill>
            <a:schemeClr val="tx2"/>
          </a:solidFill>
          <a:ln w="12700">
            <a:solidFill>
              <a:srgbClr val="262626"/>
            </a:solidFill>
            <a:prstDash val="solid"/>
          </a:ln>
        </p:spPr>
      </p:sp>
      <p:sp>
        <p:nvSpPr>
          <p:cNvPr id="9" name="Case number 2"/>
          <p:cNvSpPr txBox="1"/>
          <p:nvPr/>
        </p:nvSpPr>
        <p:spPr>
          <a:xfrm>
            <a:off x="777240" y="2825496"/>
            <a:ext cx="640080" cy="411480"/>
          </a:xfrm>
          <a:prstGeom prst="rect">
            <a:avLst/>
          </a:prstGeom>
          <a:noFill/>
          <a:ln/>
        </p:spPr>
        <p:txBody>
          <a:bodyPr wrap="square" lIns="0" tIns="0" rIns="0" bIns="0" rtlCol="0" anchor="t"/>
          <a:lstStyle/>
          <a:p>
            <a:pPr indent="0" marL="0">
              <a:buNone/>
            </a:pPr>
            <a:r>
              <a:rPr lang="en-US" sz="2000" dirty="0">
                <a:solidFill>
                  <a:schemeClr val="accent1"/>
                </a:solidFill>
                <a:latin typeface="Clash Display Semibold" pitchFamily="34" charset="0"/>
                <a:ea typeface="Clash Display Semibold" pitchFamily="34" charset="-122"/>
                <a:cs typeface="Clash Display Semibold" pitchFamily="34" charset="-120"/>
              </a:rPr>
              <a:t>02</a:t>
            </a:r>
            <a:endParaRPr lang="en-US" sz="2000" dirty="0"/>
          </a:p>
        </p:txBody>
      </p:sp>
      <p:sp>
        <p:nvSpPr>
          <p:cNvPr id="10" name="Case name 2"/>
          <p:cNvSpPr txBox="1"/>
          <p:nvPr/>
        </p:nvSpPr>
        <p:spPr>
          <a:xfrm>
            <a:off x="1463040" y="2825496"/>
            <a:ext cx="3840480" cy="411480"/>
          </a:xfrm>
          <a:prstGeom prst="rect">
            <a:avLst/>
          </a:prstGeom>
          <a:noFill/>
          <a:ln/>
        </p:spPr>
        <p:txBody>
          <a:bodyPr wrap="square" lIns="0" tIns="0" rIns="0" bIns="0" rtlCol="0" anchor="ctr"/>
          <a:lstStyle/>
          <a:p>
            <a:pPr indent="0" marL="0">
              <a:buNone/>
            </a:pPr>
            <a:r>
              <a:rPr lang="en-US" sz="2000" dirty="0">
                <a:solidFill>
                  <a:schemeClr val="bg1"/>
                </a:solidFill>
                <a:latin typeface="Clash Grotesk Medium" pitchFamily="34" charset="0"/>
                <a:ea typeface="Clash Grotesk Medium" pitchFamily="34" charset="-122"/>
                <a:cs typeface="Clash Grotesk Medium" pitchFamily="34" charset="-120"/>
              </a:rPr>
              <a:t>Humane AI Pin</a:t>
            </a:r>
            <a:endParaRPr lang="en-US" sz="2000" dirty="0"/>
          </a:p>
        </p:txBody>
      </p:sp>
      <p:sp>
        <p:nvSpPr>
          <p:cNvPr id="11" name="Case lesson 2"/>
          <p:cNvSpPr txBox="1"/>
          <p:nvPr/>
        </p:nvSpPr>
        <p:spPr>
          <a:xfrm>
            <a:off x="5349240" y="2825496"/>
            <a:ext cx="6263640" cy="411480"/>
          </a:xfrm>
          <a:prstGeom prst="rect">
            <a:avLst/>
          </a:prstGeom>
          <a:noFill/>
          <a:ln/>
        </p:spPr>
        <p:txBody>
          <a:bodyPr wrap="square" lIns="0" tIns="0" rIns="0" bIns="0" rtlCol="0" anchor="ctr"/>
          <a:lstStyle/>
          <a:p>
            <a:pPr indent="0" marL="0">
              <a:buNone/>
            </a:pPr>
            <a:r>
              <a:rPr lang="en-US" sz="1700" dirty="0">
                <a:solidFill>
                  <a:srgbClr val="B3B3B3"/>
                </a:solidFill>
                <a:latin typeface="PP Mori" pitchFamily="34" charset="0"/>
                <a:ea typeface="PP Mori" pitchFamily="34" charset="-122"/>
                <a:cs typeface="PP Mori" pitchFamily="34" charset="-120"/>
              </a:rPr>
              <a:t>Novelty does not equal customer value.</a:t>
            </a:r>
            <a:endParaRPr lang="en-US" sz="1700" dirty="0"/>
          </a:p>
        </p:txBody>
      </p:sp>
      <p:sp>
        <p:nvSpPr>
          <p:cNvPr id="12" name="Case row 3"/>
          <p:cNvSpPr/>
          <p:nvPr/>
        </p:nvSpPr>
        <p:spPr>
          <a:xfrm>
            <a:off x="548640" y="3511296"/>
            <a:ext cx="11064240" cy="713232"/>
          </a:xfrm>
          <a:prstGeom prst="roundRect">
            <a:avLst>
              <a:gd name="adj" fmla="val 19231"/>
            </a:avLst>
          </a:prstGeom>
          <a:solidFill>
            <a:schemeClr val="tx2"/>
          </a:solidFill>
          <a:ln w="12700">
            <a:solidFill>
              <a:srgbClr val="262626"/>
            </a:solidFill>
            <a:prstDash val="solid"/>
          </a:ln>
        </p:spPr>
      </p:sp>
      <p:sp>
        <p:nvSpPr>
          <p:cNvPr id="13" name="Case number 3"/>
          <p:cNvSpPr txBox="1"/>
          <p:nvPr/>
        </p:nvSpPr>
        <p:spPr>
          <a:xfrm>
            <a:off x="777240" y="3666744"/>
            <a:ext cx="640080" cy="411480"/>
          </a:xfrm>
          <a:prstGeom prst="rect">
            <a:avLst/>
          </a:prstGeom>
          <a:noFill/>
          <a:ln/>
        </p:spPr>
        <p:txBody>
          <a:bodyPr wrap="square" lIns="0" tIns="0" rIns="0" bIns="0" rtlCol="0" anchor="t"/>
          <a:lstStyle/>
          <a:p>
            <a:pPr indent="0" marL="0">
              <a:buNone/>
            </a:pPr>
            <a:r>
              <a:rPr lang="en-US" sz="2000" dirty="0">
                <a:solidFill>
                  <a:schemeClr val="accent1"/>
                </a:solidFill>
                <a:latin typeface="Clash Display Semibold" pitchFamily="34" charset="0"/>
                <a:ea typeface="Clash Display Semibold" pitchFamily="34" charset="-122"/>
                <a:cs typeface="Clash Display Semibold" pitchFamily="34" charset="-120"/>
              </a:rPr>
              <a:t>03</a:t>
            </a:r>
            <a:endParaRPr lang="en-US" sz="2000" dirty="0"/>
          </a:p>
        </p:txBody>
      </p:sp>
      <p:sp>
        <p:nvSpPr>
          <p:cNvPr id="14" name="Case name 3"/>
          <p:cNvSpPr txBox="1"/>
          <p:nvPr/>
        </p:nvSpPr>
        <p:spPr>
          <a:xfrm>
            <a:off x="1463040" y="3666744"/>
            <a:ext cx="3840480" cy="411480"/>
          </a:xfrm>
          <a:prstGeom prst="rect">
            <a:avLst/>
          </a:prstGeom>
          <a:noFill/>
          <a:ln/>
        </p:spPr>
        <p:txBody>
          <a:bodyPr wrap="square" lIns="0" tIns="0" rIns="0" bIns="0" rtlCol="0" anchor="ctr"/>
          <a:lstStyle/>
          <a:p>
            <a:pPr indent="0" marL="0">
              <a:buNone/>
            </a:pPr>
            <a:r>
              <a:rPr lang="en-US" sz="2000" dirty="0">
                <a:solidFill>
                  <a:schemeClr val="bg1"/>
                </a:solidFill>
                <a:latin typeface="Clash Grotesk Medium" pitchFamily="34" charset="0"/>
                <a:ea typeface="Clash Grotesk Medium" pitchFamily="34" charset="-122"/>
                <a:cs typeface="Clash Grotesk Medium" pitchFamily="34" charset="-120"/>
              </a:rPr>
              <a:t>Google Gemini image generation</a:t>
            </a:r>
            <a:endParaRPr lang="en-US" sz="2000" dirty="0"/>
          </a:p>
        </p:txBody>
      </p:sp>
      <p:sp>
        <p:nvSpPr>
          <p:cNvPr id="15" name="Case lesson 3"/>
          <p:cNvSpPr txBox="1"/>
          <p:nvPr/>
        </p:nvSpPr>
        <p:spPr>
          <a:xfrm>
            <a:off x="5349240" y="3666744"/>
            <a:ext cx="6263640" cy="411480"/>
          </a:xfrm>
          <a:prstGeom prst="rect">
            <a:avLst/>
          </a:prstGeom>
          <a:noFill/>
          <a:ln/>
        </p:spPr>
        <p:txBody>
          <a:bodyPr wrap="square" lIns="0" tIns="0" rIns="0" bIns="0" rtlCol="0" anchor="ctr"/>
          <a:lstStyle/>
          <a:p>
            <a:pPr indent="0" marL="0">
              <a:buNone/>
            </a:pPr>
            <a:r>
              <a:rPr lang="en-US" sz="1700" dirty="0">
                <a:solidFill>
                  <a:srgbClr val="B3B3B3"/>
                </a:solidFill>
                <a:latin typeface="PP Mori" pitchFamily="34" charset="0"/>
                <a:ea typeface="PP Mori" pitchFamily="34" charset="-122"/>
                <a:cs typeface="PP Mori" pitchFamily="34" charset="-120"/>
              </a:rPr>
              <a:t>Optimizing one thing can break another.</a:t>
            </a:r>
            <a:endParaRPr lang="en-US" sz="1700" dirty="0"/>
          </a:p>
        </p:txBody>
      </p:sp>
      <p:sp>
        <p:nvSpPr>
          <p:cNvPr id="16" name="Case row 4"/>
          <p:cNvSpPr/>
          <p:nvPr/>
        </p:nvSpPr>
        <p:spPr>
          <a:xfrm>
            <a:off x="548640" y="4352544"/>
            <a:ext cx="11064240" cy="713232"/>
          </a:xfrm>
          <a:prstGeom prst="roundRect">
            <a:avLst>
              <a:gd name="adj" fmla="val 19231"/>
            </a:avLst>
          </a:prstGeom>
          <a:solidFill>
            <a:schemeClr val="tx2"/>
          </a:solidFill>
          <a:ln w="12700">
            <a:solidFill>
              <a:srgbClr val="262626"/>
            </a:solidFill>
            <a:prstDash val="solid"/>
          </a:ln>
        </p:spPr>
      </p:sp>
      <p:sp>
        <p:nvSpPr>
          <p:cNvPr id="17" name="Case number 4"/>
          <p:cNvSpPr txBox="1"/>
          <p:nvPr/>
        </p:nvSpPr>
        <p:spPr>
          <a:xfrm>
            <a:off x="777240" y="4507992"/>
            <a:ext cx="640080" cy="411480"/>
          </a:xfrm>
          <a:prstGeom prst="rect">
            <a:avLst/>
          </a:prstGeom>
          <a:noFill/>
          <a:ln/>
        </p:spPr>
        <p:txBody>
          <a:bodyPr wrap="square" lIns="0" tIns="0" rIns="0" bIns="0" rtlCol="0" anchor="t"/>
          <a:lstStyle/>
          <a:p>
            <a:pPr indent="0" marL="0">
              <a:buNone/>
            </a:pPr>
            <a:r>
              <a:rPr lang="en-US" sz="2000" dirty="0">
                <a:solidFill>
                  <a:schemeClr val="accent1"/>
                </a:solidFill>
                <a:latin typeface="Clash Display Semibold" pitchFamily="34" charset="0"/>
                <a:ea typeface="Clash Display Semibold" pitchFamily="34" charset="-122"/>
                <a:cs typeface="Clash Display Semibold" pitchFamily="34" charset="-120"/>
              </a:rPr>
              <a:t>04</a:t>
            </a:r>
            <a:endParaRPr lang="en-US" sz="2000" dirty="0"/>
          </a:p>
        </p:txBody>
      </p:sp>
      <p:sp>
        <p:nvSpPr>
          <p:cNvPr id="18" name="Case name 4"/>
          <p:cNvSpPr txBox="1"/>
          <p:nvPr/>
        </p:nvSpPr>
        <p:spPr>
          <a:xfrm>
            <a:off x="1463040" y="4507992"/>
            <a:ext cx="3840480" cy="411480"/>
          </a:xfrm>
          <a:prstGeom prst="rect">
            <a:avLst/>
          </a:prstGeom>
          <a:noFill/>
          <a:ln/>
        </p:spPr>
        <p:txBody>
          <a:bodyPr wrap="square" lIns="0" tIns="0" rIns="0" bIns="0" rtlCol="0" anchor="ctr"/>
          <a:lstStyle/>
          <a:p>
            <a:pPr indent="0" marL="0">
              <a:buNone/>
            </a:pPr>
            <a:r>
              <a:rPr lang="en-US" sz="2000" dirty="0">
                <a:solidFill>
                  <a:schemeClr val="bg1"/>
                </a:solidFill>
                <a:latin typeface="Clash Grotesk Medium" pitchFamily="34" charset="0"/>
                <a:ea typeface="Clash Grotesk Medium" pitchFamily="34" charset="-122"/>
                <a:cs typeface="Clash Grotesk Medium" pitchFamily="34" charset="-120"/>
              </a:rPr>
              <a:t>Air Canada chatbot</a:t>
            </a:r>
            <a:endParaRPr lang="en-US" sz="2000" dirty="0"/>
          </a:p>
        </p:txBody>
      </p:sp>
      <p:sp>
        <p:nvSpPr>
          <p:cNvPr id="19" name="Case lesson 4"/>
          <p:cNvSpPr txBox="1"/>
          <p:nvPr/>
        </p:nvSpPr>
        <p:spPr>
          <a:xfrm>
            <a:off x="5349240" y="4507992"/>
            <a:ext cx="6263640" cy="411480"/>
          </a:xfrm>
          <a:prstGeom prst="rect">
            <a:avLst/>
          </a:prstGeom>
          <a:noFill/>
          <a:ln/>
        </p:spPr>
        <p:txBody>
          <a:bodyPr wrap="square" lIns="0" tIns="0" rIns="0" bIns="0" rtlCol="0" anchor="ctr"/>
          <a:lstStyle/>
          <a:p>
            <a:pPr indent="0" marL="0">
              <a:buNone/>
            </a:pPr>
            <a:r>
              <a:rPr lang="en-US" sz="1700" dirty="0">
                <a:solidFill>
                  <a:srgbClr val="B3B3B3"/>
                </a:solidFill>
                <a:latin typeface="PP Mori" pitchFamily="34" charset="0"/>
                <a:ea typeface="PP Mori" pitchFamily="34" charset="-122"/>
                <a:cs typeface="PP Mori" pitchFamily="34" charset="-120"/>
              </a:rPr>
              <a:t>Automation does not outsource accountability.</a:t>
            </a:r>
            <a:endParaRPr lang="en-US" sz="1700" dirty="0"/>
          </a:p>
        </p:txBody>
      </p:sp>
      <p:sp>
        <p:nvSpPr>
          <p:cNvPr id="20" name="Case row 5"/>
          <p:cNvSpPr/>
          <p:nvPr/>
        </p:nvSpPr>
        <p:spPr>
          <a:xfrm>
            <a:off x="548640" y="5193792"/>
            <a:ext cx="11064240" cy="713232"/>
          </a:xfrm>
          <a:prstGeom prst="roundRect">
            <a:avLst>
              <a:gd name="adj" fmla="val 19231"/>
            </a:avLst>
          </a:prstGeom>
          <a:solidFill>
            <a:schemeClr val="tx2"/>
          </a:solidFill>
          <a:ln w="12700">
            <a:solidFill>
              <a:srgbClr val="262626"/>
            </a:solidFill>
            <a:prstDash val="solid"/>
          </a:ln>
        </p:spPr>
      </p:sp>
      <p:sp>
        <p:nvSpPr>
          <p:cNvPr id="21" name="Case number 5"/>
          <p:cNvSpPr txBox="1"/>
          <p:nvPr/>
        </p:nvSpPr>
        <p:spPr>
          <a:xfrm>
            <a:off x="777240" y="5349240"/>
            <a:ext cx="640080" cy="411480"/>
          </a:xfrm>
          <a:prstGeom prst="rect">
            <a:avLst/>
          </a:prstGeom>
          <a:noFill/>
          <a:ln/>
        </p:spPr>
        <p:txBody>
          <a:bodyPr wrap="square" lIns="0" tIns="0" rIns="0" bIns="0" rtlCol="0" anchor="t"/>
          <a:lstStyle/>
          <a:p>
            <a:pPr indent="0" marL="0">
              <a:buNone/>
            </a:pPr>
            <a:r>
              <a:rPr lang="en-US" sz="2000" dirty="0">
                <a:solidFill>
                  <a:schemeClr val="accent1"/>
                </a:solidFill>
                <a:latin typeface="Clash Display Semibold" pitchFamily="34" charset="0"/>
                <a:ea typeface="Clash Display Semibold" pitchFamily="34" charset="-122"/>
                <a:cs typeface="Clash Display Semibold" pitchFamily="34" charset="-120"/>
              </a:rPr>
              <a:t>05</a:t>
            </a:r>
            <a:endParaRPr lang="en-US" sz="2000" dirty="0"/>
          </a:p>
        </p:txBody>
      </p:sp>
      <p:sp>
        <p:nvSpPr>
          <p:cNvPr id="22" name="Case name 5"/>
          <p:cNvSpPr txBox="1"/>
          <p:nvPr/>
        </p:nvSpPr>
        <p:spPr>
          <a:xfrm>
            <a:off x="1463040" y="5349240"/>
            <a:ext cx="3840480" cy="411480"/>
          </a:xfrm>
          <a:prstGeom prst="rect">
            <a:avLst/>
          </a:prstGeom>
          <a:noFill/>
          <a:ln/>
        </p:spPr>
        <p:txBody>
          <a:bodyPr wrap="square" lIns="0" tIns="0" rIns="0" bIns="0" rtlCol="0" anchor="ctr"/>
          <a:lstStyle/>
          <a:p>
            <a:pPr indent="0" marL="0">
              <a:buNone/>
            </a:pPr>
            <a:r>
              <a:rPr lang="en-US" sz="2000" dirty="0">
                <a:solidFill>
                  <a:schemeClr val="bg1"/>
                </a:solidFill>
                <a:latin typeface="Clash Grotesk Medium" pitchFamily="34" charset="0"/>
                <a:ea typeface="Clash Grotesk Medium" pitchFamily="34" charset="-122"/>
                <a:cs typeface="Clash Grotesk Medium" pitchFamily="34" charset="-120"/>
              </a:rPr>
              <a:t>Zillow Offers</a:t>
            </a:r>
            <a:endParaRPr lang="en-US" sz="2000" dirty="0"/>
          </a:p>
        </p:txBody>
      </p:sp>
      <p:sp>
        <p:nvSpPr>
          <p:cNvPr id="23" name="Case lesson 5"/>
          <p:cNvSpPr txBox="1"/>
          <p:nvPr/>
        </p:nvSpPr>
        <p:spPr>
          <a:xfrm>
            <a:off x="5349240" y="5349240"/>
            <a:ext cx="6263640" cy="411480"/>
          </a:xfrm>
          <a:prstGeom prst="rect">
            <a:avLst/>
          </a:prstGeom>
          <a:noFill/>
          <a:ln/>
        </p:spPr>
        <p:txBody>
          <a:bodyPr wrap="square" lIns="0" tIns="0" rIns="0" bIns="0" rtlCol="0" anchor="ctr"/>
          <a:lstStyle/>
          <a:p>
            <a:pPr indent="0" marL="0">
              <a:buNone/>
            </a:pPr>
            <a:r>
              <a:rPr lang="en-US" sz="1700" dirty="0">
                <a:solidFill>
                  <a:srgbClr val="B3B3B3"/>
                </a:solidFill>
                <a:latin typeface="PP Mori" pitchFamily="34" charset="0"/>
                <a:ea typeface="PP Mori" pitchFamily="34" charset="-122"/>
                <a:cs typeface="PP Mori" pitchFamily="34" charset="-120"/>
              </a:rPr>
              <a:t>Model performance does not guarantee business viability.</a:t>
            </a:r>
            <a:endParaRPr lang="en-US" sz="17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640080"/>
            <a:ext cx="5486400" cy="274320"/>
          </a:xfrm>
          <a:prstGeom prst="rect">
            <a:avLst/>
          </a:prstGeom>
          <a:noFill/>
          <a:ln/>
        </p:spPr>
        <p:txBody>
          <a:bodyPr wrap="square" lIns="0" tIns="0" rIns="0" bIns="0" rtlCol="0" anchor="t"/>
          <a:lstStyle/>
          <a:p>
            <a:pPr indent="0" marL="0">
              <a:buNone/>
            </a:pPr>
            <a:r>
              <a:rPr lang="en-US" sz="1400" spc="150" kern="0" dirty="0">
                <a:solidFill>
                  <a:schemeClr val="accent1"/>
                </a:solidFill>
                <a:latin typeface="Clash Display Semibold" pitchFamily="34" charset="0"/>
                <a:ea typeface="Clash Display Semibold" pitchFamily="34" charset="-122"/>
                <a:cs typeface="Clash Display Semibold" pitchFamily="34" charset="-120"/>
              </a:rPr>
              <a:t>THE STARTING REQUEST</a:t>
            </a:r>
            <a:endParaRPr lang="en-US" sz="1400" dirty="0"/>
          </a:p>
        </p:txBody>
      </p:sp>
      <p:sp>
        <p:nvSpPr>
          <p:cNvPr id="3" name="Request card"/>
          <p:cNvSpPr/>
          <p:nvPr/>
        </p:nvSpPr>
        <p:spPr>
          <a:xfrm>
            <a:off x="1280160" y="1463040"/>
            <a:ext cx="9601200" cy="3200400"/>
          </a:xfrm>
          <a:prstGeom prst="roundRect">
            <a:avLst>
              <a:gd name="adj" fmla="val 7143"/>
            </a:avLst>
          </a:prstGeom>
          <a:solidFill>
            <a:schemeClr val="bg1"/>
          </a:solidFill>
          <a:ln w="12700">
            <a:solidFill>
              <a:schemeClr val="bg1"/>
            </a:solidFill>
            <a:prstDash val="solid"/>
          </a:ln>
        </p:spPr>
      </p:sp>
      <p:sp>
        <p:nvSpPr>
          <p:cNvPr id="4" name="Request text"/>
          <p:cNvSpPr txBox="1"/>
          <p:nvPr/>
        </p:nvSpPr>
        <p:spPr>
          <a:xfrm>
            <a:off x="1737360" y="1828800"/>
            <a:ext cx="7498080" cy="2103120"/>
          </a:xfrm>
          <a:prstGeom prst="rect">
            <a:avLst/>
          </a:prstGeom>
          <a:noFill/>
          <a:ln/>
        </p:spPr>
        <p:txBody>
          <a:bodyPr wrap="square" lIns="0" tIns="0" rIns="0" bIns="0" rtlCol="0" anchor="t"/>
          <a:lstStyle/>
          <a:p>
            <a:pPr indent="0" marL="0">
              <a:buNone/>
            </a:pPr>
            <a:r>
              <a:rPr lang="en-US" sz="4800" dirty="0">
                <a:solidFill>
                  <a:schemeClr val="tx1"/>
                </a:solidFill>
                <a:latin typeface="Clash Grotesk Medium" pitchFamily="34" charset="0"/>
                <a:ea typeface="Clash Grotesk Medium" pitchFamily="34" charset="-122"/>
                <a:cs typeface="Clash Grotesk Medium" pitchFamily="34" charset="-120"/>
              </a:rPr>
              <a:t>Build an AI predictive-maintenance dashboard.</a:t>
            </a:r>
            <a:endParaRPr lang="en-US" sz="4800" dirty="0"/>
          </a:p>
        </p:txBody>
      </p:sp>
      <p:sp>
        <p:nvSpPr>
          <p:cNvPr id="5" name="Evidence label UNKNOWN"/>
          <p:cNvSpPr/>
          <p:nvPr/>
        </p:nvSpPr>
        <p:spPr>
          <a:xfrm>
            <a:off x="9052560" y="4023360"/>
            <a:ext cx="137160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UNKNOWN</a:t>
            </a:r>
            <a:endParaRPr lang="en-US" sz="1200" dirty="0"/>
          </a:p>
        </p:txBody>
      </p:sp>
      <p:sp>
        <p:nvSpPr>
          <p:cNvPr id="6" name="Audience question"/>
          <p:cNvSpPr txBox="1"/>
          <p:nvPr/>
        </p:nvSpPr>
        <p:spPr>
          <a:xfrm>
            <a:off x="1280160" y="5074920"/>
            <a:ext cx="9601200" cy="457200"/>
          </a:xfrm>
          <a:prstGeom prst="rect">
            <a:avLst/>
          </a:prstGeom>
          <a:noFill/>
          <a:ln/>
        </p:spPr>
        <p:txBody>
          <a:bodyPr wrap="square" lIns="0" tIns="0" rIns="0" bIns="0" rtlCol="0" anchor="t"/>
          <a:lstStyle/>
          <a:p>
            <a:pPr indent="0" marL="0">
              <a:buNone/>
            </a:pPr>
            <a:r>
              <a:rPr lang="en-US" sz="2400" dirty="0">
                <a:solidFill>
                  <a:schemeClr val="bg1"/>
                </a:solidFill>
                <a:latin typeface="PP Mori" pitchFamily="34" charset="0"/>
                <a:ea typeface="PP Mori" pitchFamily="34" charset="-122"/>
                <a:cs typeface="PP Mori" pitchFamily="34" charset="-120"/>
              </a:rPr>
              <a:t>What would you need to know before funding that?</a:t>
            </a:r>
            <a:endParaRPr lang="en-US" sz="2400" dirty="0"/>
          </a:p>
        </p:txBody>
      </p:sp>
      <p:sp>
        <p:nvSpPr>
          <p:cNvPr id="7" name="Synthetic note"/>
          <p:cNvSpPr txBox="1"/>
          <p:nvPr/>
        </p:nvSpPr>
        <p:spPr>
          <a:xfrm>
            <a:off x="1280160" y="5669280"/>
            <a:ext cx="8229600" cy="54864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This manufacturing scenario is SYNTHETIC. No customers were interviewed. These aren't customers. They're hypothesis-generating machines.</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640080"/>
            <a:ext cx="4754880" cy="1463040"/>
          </a:xfrm>
          <a:prstGeom prst="rect">
            <a:avLst/>
          </a:prstGeom>
          <a:noFill/>
          <a:ln/>
        </p:spPr>
        <p:txBody>
          <a:bodyPr wrap="square" lIns="0" tIns="0" rIns="0" bIns="0" rtlCol="0" anchor="t"/>
          <a:lstStyle/>
          <a:p>
            <a:pPr indent="0" marL="0">
              <a:buNone/>
            </a:pPr>
            <a:r>
              <a:rPr lang="en-US" sz="4400" dirty="0">
                <a:solidFill>
                  <a:schemeClr val="bg1"/>
                </a:solidFill>
                <a:latin typeface="Clash Grotesk Medium" pitchFamily="34" charset="0"/>
                <a:ea typeface="Clash Grotesk Medium" pitchFamily="34" charset="-122"/>
                <a:cs typeface="Clash Grotesk Medium" pitchFamily="34" charset="-120"/>
              </a:rPr>
              <a:t>The AI cost paradox</a:t>
            </a:r>
            <a:endParaRPr lang="en-US" sz="4400" dirty="0"/>
          </a:p>
        </p:txBody>
      </p:sp>
      <p:sp>
        <p:nvSpPr>
          <p:cNvPr id="3" name="Body"/>
          <p:cNvSpPr txBox="1"/>
          <p:nvPr/>
        </p:nvSpPr>
        <p:spPr>
          <a:xfrm>
            <a:off x="548640" y="2377440"/>
            <a:ext cx="4480560" cy="2377440"/>
          </a:xfrm>
          <a:prstGeom prst="rect">
            <a:avLst/>
          </a:prstGeom>
          <a:noFill/>
          <a:ln/>
        </p:spPr>
        <p:txBody>
          <a:bodyPr wrap="square" lIns="0" tIns="0" rIns="0" bIns="0" rtlCol="0" anchor="t"/>
          <a:lstStyle/>
          <a:p>
            <a:pPr indent="0" marL="0">
              <a:buNone/>
            </a:pPr>
            <a:r>
              <a:rPr lang="en-US" sz="2000" dirty="0">
                <a:solidFill>
                  <a:srgbClr val="B3B3B3"/>
                </a:solidFill>
                <a:latin typeface="PP Mori" pitchFamily="34" charset="0"/>
                <a:ea typeface="PP Mori" pitchFamily="34" charset="-122"/>
                <a:cs typeface="PP Mori" pitchFamily="34" charset="-120"/>
              </a:rPr>
              <a:t>Teams can now build the wrong thing faster, and polish a weak assumption into a shipped feature. Progress means uncertainty reduced, not activity increased.</a:t>
            </a:r>
            <a:endParaRPr lang="en-US" sz="2000" dirty="0"/>
          </a:p>
        </p:txBody>
      </p:sp>
      <p:graphicFrame>
        <p:nvGraphicFramePr>
          <p:cNvPr id="4" name="Chart 0" descr=""/>
          <p:cNvGraphicFramePr/>
          <p:nvPr/>
        </p:nvGraphicFramePr>
        <p:xfrm>
          <a:off x="5669280" y="731520"/>
          <a:ext cx="6035040" cy="4937760"/>
        </p:xfrm>
        <a:graphic xmlns:a="http://schemas.openxmlformats.org/drawingml/2006/main">
          <a:graphicData uri="http://schemas.openxmlformats.org/drawingml/2006/chart">
            <c:chart xmlns:c="http://schemas.openxmlformats.org/drawingml/2006/chart" r:id="rId1"/>
          </a:graphicData>
        </a:graphic>
      </p:graphicFrame>
      <p:sp>
        <p:nvSpPr>
          <p:cNvPr id="5" name="Illustrative note"/>
          <p:cNvSpPr txBox="1"/>
          <p:nvPr/>
        </p:nvSpPr>
        <p:spPr>
          <a:xfrm>
            <a:off x="5669280" y="5760720"/>
            <a:ext cx="6035040" cy="274320"/>
          </a:xfrm>
          <a:prstGeom prst="rect">
            <a:avLst/>
          </a:prstGeom>
          <a:noFill/>
          <a:ln/>
        </p:spPr>
        <p:txBody>
          <a:bodyPr wrap="square" lIns="0" tIns="0" rIns="0" bIns="0" rtlCol="0" anchor="t"/>
          <a:lstStyle/>
          <a:p>
            <a:pPr algn="r" indent="0" marL="0">
              <a:buNone/>
            </a:pPr>
            <a:r>
              <a:rPr lang="en-US" sz="1200" dirty="0">
                <a:solidFill>
                  <a:srgbClr val="B3B3B3"/>
                </a:solidFill>
                <a:latin typeface="PP Mori" pitchFamily="34" charset="0"/>
                <a:ea typeface="PP Mori" pitchFamily="34" charset="-122"/>
                <a:cs typeface="PP Mori" pitchFamily="34" charset="-120"/>
              </a:rPr>
              <a:t>Illustrative shape only. Not measured data.</a:t>
            </a:r>
            <a:endParaRPr lang="en-US" sz="12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question"/>
          <p:cNvSpPr txBox="1"/>
          <p:nvPr/>
        </p:nvSpPr>
        <p:spPr>
          <a:xfrm>
            <a:off x="548640" y="1463040"/>
            <a:ext cx="10607040" cy="3840480"/>
          </a:xfrm>
          <a:prstGeom prst="rect">
            <a:avLst/>
          </a:prstGeom>
          <a:noFill/>
          <a:ln/>
        </p:spPr>
        <p:txBody>
          <a:bodyPr wrap="square" lIns="0" tIns="0" rIns="0" bIns="0" rtlCol="0" anchor="ctr"/>
          <a:lstStyle/>
          <a:p>
            <a:pPr indent="0" marL="0">
              <a:buNone/>
            </a:pPr>
            <a:r>
              <a:rPr lang="en-US" sz="6600" dirty="0">
                <a:solidFill>
                  <a:schemeClr val="bg1"/>
                </a:solidFill>
                <a:latin typeface="FR Kraken Slab Medium" pitchFamily="34" charset="0"/>
                <a:ea typeface="FR Kraken Slab Medium" pitchFamily="34" charset="-122"/>
                <a:cs typeface="FR Kraken Slab Medium" pitchFamily="34" charset="-120"/>
              </a:rPr>
              <a:t>What problem are we solving, </a:t>
            </a:r>
            <a:pPr indent="0" marL="0">
              <a:buNone/>
            </a:pPr>
            <a:r>
              <a:rPr lang="en-US" sz="6600" dirty="0">
                <a:solidFill>
                  <a:schemeClr val="accent1"/>
                </a:solidFill>
                <a:latin typeface="FR Kraken Slab Medium" pitchFamily="34" charset="0"/>
                <a:ea typeface="FR Kraken Slab Medium" pitchFamily="34" charset="-122"/>
                <a:cs typeface="FR Kraken Slab Medium" pitchFamily="34" charset="-120"/>
              </a:rPr>
              <a:t>and for whom?</a:t>
            </a:r>
            <a:endParaRPr lang="en-US" sz="6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01</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Market Intel</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What is the landscape, and how much of what we know is evidence?</a:t>
            </a:r>
            <a:endParaRPr lang="en-US" sz="2200" dirty="0"/>
          </a:p>
        </p:txBody>
      </p:sp>
      <p:sp>
        <p:nvSpPr>
          <p:cNvPr id="5" name="Artifact pill"/>
          <p:cNvSpPr/>
          <p:nvPr/>
        </p:nvSpPr>
        <p:spPr>
          <a:xfrm>
            <a:off x="548640" y="4572000"/>
            <a:ext cx="430225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MARKET INTELLIGENCE BRIEF</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A market sweep is not a segment.</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Handoff card"/>
          <p:cNvSpPr/>
          <p:nvPr/>
        </p:nvSpPr>
        <p:spPr>
          <a:xfrm>
            <a:off x="6537960" y="822960"/>
            <a:ext cx="4846320" cy="2926080"/>
          </a:xfrm>
          <a:prstGeom prst="roundRect">
            <a:avLst>
              <a:gd name="adj" fmla="val 5625"/>
            </a:avLst>
          </a:prstGeom>
          <a:solidFill>
            <a:schemeClr val="bg1"/>
          </a:solidFill>
          <a:ln w="12700">
            <a:solidFill>
              <a:schemeClr val="bg1"/>
            </a:solidFill>
            <a:prstDash val="solid"/>
          </a:ln>
        </p:spPr>
      </p:sp>
      <p:sp>
        <p:nvSpPr>
          <p:cNvPr id="9" name="Handoff card label"/>
          <p:cNvSpPr txBox="1"/>
          <p:nvPr/>
        </p:nvSpPr>
        <p:spPr>
          <a:xfrm>
            <a:off x="6766560" y="1005840"/>
            <a:ext cx="2743200" cy="274320"/>
          </a:xfrm>
          <a:prstGeom prst="rect">
            <a:avLst/>
          </a:prstGeom>
          <a:noFill/>
          <a:ln/>
        </p:spPr>
        <p:txBody>
          <a:bodyPr wrap="square" lIns="0" tIns="0" rIns="0" bIns="0" rtlCol="0" anchor="t"/>
          <a:lstStyle/>
          <a:p>
            <a:pPr indent="0" marL="0">
              <a:buNone/>
            </a:pPr>
            <a:r>
              <a:rPr lang="en-US" sz="1200" spc="150" kern="0" dirty="0">
                <a:solidFill>
                  <a:srgbClr val="007A3D"/>
                </a:solidFill>
                <a:latin typeface="Clash Display Semibold" pitchFamily="34" charset="0"/>
                <a:ea typeface="Clash Display Semibold" pitchFamily="34" charset="-122"/>
                <a:cs typeface="Clash Display Semibold" pitchFamily="34" charset="-120"/>
              </a:rPr>
              <a:t>HANDOFF CARD</a:t>
            </a:r>
            <a:endParaRPr lang="en-US" sz="1200" dirty="0"/>
          </a:p>
        </p:txBody>
      </p:sp>
      <p:sp>
        <p:nvSpPr>
          <p:cNvPr id="10" name="Field Target"/>
          <p:cNvSpPr/>
          <p:nvPr/>
        </p:nvSpPr>
        <p:spPr>
          <a:xfrm>
            <a:off x="6766560" y="1417320"/>
            <a:ext cx="2080260" cy="579120"/>
          </a:xfrm>
          <a:prstGeom prst="roundRect">
            <a:avLst>
              <a:gd name="adj" fmla="val 12632"/>
            </a:avLst>
          </a:prstGeom>
          <a:solidFill>
            <a:srgbClr val="F4F4F4"/>
          </a:solidFill>
          <a:ln w="12700">
            <a:solidFill>
              <a:srgbClr val="D0D0D0"/>
            </a:solidFill>
            <a:prstDash val="solid"/>
          </a:ln>
        </p:spPr>
      </p:sp>
      <p:sp>
        <p:nvSpPr>
          <p:cNvPr id="11" name="Text 9"/>
          <p:cNvSpPr txBox="1"/>
          <p:nvPr/>
        </p:nvSpPr>
        <p:spPr>
          <a:xfrm>
            <a:off x="6876288" y="149047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TARGET</a:t>
            </a:r>
            <a:endParaRPr lang="en-US" sz="1000" dirty="0"/>
          </a:p>
        </p:txBody>
      </p:sp>
      <p:sp>
        <p:nvSpPr>
          <p:cNvPr id="12" name="Field What we believe"/>
          <p:cNvSpPr/>
          <p:nvPr/>
        </p:nvSpPr>
        <p:spPr>
          <a:xfrm>
            <a:off x="9075420" y="1417320"/>
            <a:ext cx="2080260" cy="579120"/>
          </a:xfrm>
          <a:prstGeom prst="roundRect">
            <a:avLst>
              <a:gd name="adj" fmla="val 12632"/>
            </a:avLst>
          </a:prstGeom>
          <a:solidFill>
            <a:srgbClr val="F4F4F4"/>
          </a:solidFill>
          <a:ln w="12700">
            <a:solidFill>
              <a:srgbClr val="D0D0D0"/>
            </a:solidFill>
            <a:prstDash val="solid"/>
          </a:ln>
        </p:spPr>
      </p:sp>
      <p:sp>
        <p:nvSpPr>
          <p:cNvPr id="13" name="Text 11"/>
          <p:cNvSpPr txBox="1"/>
          <p:nvPr/>
        </p:nvSpPr>
        <p:spPr>
          <a:xfrm>
            <a:off x="9185148" y="149047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WHAT WE BELIEVE</a:t>
            </a:r>
            <a:endParaRPr lang="en-US" sz="1000" dirty="0"/>
          </a:p>
        </p:txBody>
      </p:sp>
      <p:sp>
        <p:nvSpPr>
          <p:cNvPr id="14" name="Field Evidence"/>
          <p:cNvSpPr/>
          <p:nvPr/>
        </p:nvSpPr>
        <p:spPr>
          <a:xfrm>
            <a:off x="6766560" y="2133600"/>
            <a:ext cx="2080260" cy="579120"/>
          </a:xfrm>
          <a:prstGeom prst="roundRect">
            <a:avLst>
              <a:gd name="adj" fmla="val 12632"/>
            </a:avLst>
          </a:prstGeom>
          <a:solidFill>
            <a:srgbClr val="F4F4F4"/>
          </a:solidFill>
          <a:ln w="12700">
            <a:solidFill>
              <a:srgbClr val="D0D0D0"/>
            </a:solidFill>
            <a:prstDash val="solid"/>
          </a:ln>
        </p:spPr>
      </p:sp>
      <p:sp>
        <p:nvSpPr>
          <p:cNvPr id="15" name="Text 13"/>
          <p:cNvSpPr txBox="1"/>
          <p:nvPr/>
        </p:nvSpPr>
        <p:spPr>
          <a:xfrm>
            <a:off x="6876288" y="220675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EVIDENCE</a:t>
            </a:r>
            <a:endParaRPr lang="en-US" sz="1000" dirty="0"/>
          </a:p>
        </p:txBody>
      </p:sp>
      <p:sp>
        <p:nvSpPr>
          <p:cNvPr id="16" name="Field What is inferred"/>
          <p:cNvSpPr/>
          <p:nvPr/>
        </p:nvSpPr>
        <p:spPr>
          <a:xfrm>
            <a:off x="9075420" y="2133600"/>
            <a:ext cx="2080260" cy="579120"/>
          </a:xfrm>
          <a:prstGeom prst="roundRect">
            <a:avLst>
              <a:gd name="adj" fmla="val 12632"/>
            </a:avLst>
          </a:prstGeom>
          <a:solidFill>
            <a:srgbClr val="F4F4F4"/>
          </a:solidFill>
          <a:ln w="12700">
            <a:solidFill>
              <a:srgbClr val="D0D0D0"/>
            </a:solidFill>
            <a:prstDash val="solid"/>
          </a:ln>
        </p:spPr>
      </p:sp>
      <p:sp>
        <p:nvSpPr>
          <p:cNvPr id="17" name="Text 15"/>
          <p:cNvSpPr txBox="1"/>
          <p:nvPr/>
        </p:nvSpPr>
        <p:spPr>
          <a:xfrm>
            <a:off x="9185148" y="220675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WHAT IS INFERRED</a:t>
            </a:r>
            <a:endParaRPr lang="en-US" sz="1000" dirty="0"/>
          </a:p>
        </p:txBody>
      </p:sp>
      <p:sp>
        <p:nvSpPr>
          <p:cNvPr id="18" name="Field Desired outcome"/>
          <p:cNvSpPr/>
          <p:nvPr/>
        </p:nvSpPr>
        <p:spPr>
          <a:xfrm>
            <a:off x="6766560" y="2849880"/>
            <a:ext cx="2080260" cy="579120"/>
          </a:xfrm>
          <a:prstGeom prst="roundRect">
            <a:avLst>
              <a:gd name="adj" fmla="val 12632"/>
            </a:avLst>
          </a:prstGeom>
          <a:solidFill>
            <a:srgbClr val="F4F4F4"/>
          </a:solidFill>
          <a:ln w="12700">
            <a:solidFill>
              <a:srgbClr val="D0D0D0"/>
            </a:solidFill>
            <a:prstDash val="solid"/>
          </a:ln>
        </p:spPr>
      </p:sp>
      <p:sp>
        <p:nvSpPr>
          <p:cNvPr id="19" name="Text 17"/>
          <p:cNvSpPr txBox="1"/>
          <p:nvPr/>
        </p:nvSpPr>
        <p:spPr>
          <a:xfrm>
            <a:off x="6876288" y="292303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DESIRED OUTCOME</a:t>
            </a:r>
            <a:endParaRPr lang="en-US" sz="1000" dirty="0"/>
          </a:p>
        </p:txBody>
      </p:sp>
      <p:sp>
        <p:nvSpPr>
          <p:cNvPr id="20" name="Field Biggest question"/>
          <p:cNvSpPr/>
          <p:nvPr/>
        </p:nvSpPr>
        <p:spPr>
          <a:xfrm>
            <a:off x="9075420" y="2849880"/>
            <a:ext cx="2080260" cy="579120"/>
          </a:xfrm>
          <a:prstGeom prst="roundRect">
            <a:avLst>
              <a:gd name="adj" fmla="val 12632"/>
            </a:avLst>
          </a:prstGeom>
          <a:solidFill>
            <a:srgbClr val="F4F4F4"/>
          </a:solidFill>
          <a:ln w="12700">
            <a:solidFill>
              <a:srgbClr val="D0D0D0"/>
            </a:solidFill>
            <a:prstDash val="solid"/>
          </a:ln>
        </p:spPr>
      </p:sp>
      <p:sp>
        <p:nvSpPr>
          <p:cNvPr id="21" name="Text 19"/>
          <p:cNvSpPr txBox="1"/>
          <p:nvPr/>
        </p:nvSpPr>
        <p:spPr>
          <a:xfrm>
            <a:off x="9185148" y="292303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BIGGEST QUESTION</a:t>
            </a:r>
            <a:endParaRPr lang="en-US" sz="1000" dirty="0"/>
          </a:p>
        </p:txBody>
      </p:sp>
      <p:sp>
        <p:nvSpPr>
          <p:cNvPr id="22" name="Text 20"/>
          <p:cNvSpPr txBox="1"/>
          <p:nvPr/>
        </p:nvSpPr>
        <p:spPr>
          <a:xfrm>
            <a:off x="6583680" y="4023360"/>
            <a:ext cx="3657600" cy="27432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THE EVIDENCE LEGEND</a:t>
            </a:r>
            <a:endParaRPr lang="en-US" sz="1200" dirty="0"/>
          </a:p>
        </p:txBody>
      </p:sp>
      <p:sp>
        <p:nvSpPr>
          <p:cNvPr id="23" name="Evidence label ACTUAL DATA"/>
          <p:cNvSpPr/>
          <p:nvPr/>
        </p:nvSpPr>
        <p:spPr>
          <a:xfrm>
            <a:off x="6583680" y="4434840"/>
            <a:ext cx="173736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ACTUAL DATA</a:t>
            </a:r>
            <a:endParaRPr lang="en-US" sz="1200" dirty="0"/>
          </a:p>
        </p:txBody>
      </p:sp>
      <p:sp>
        <p:nvSpPr>
          <p:cNvPr id="24" name="Evidence label INFERRED"/>
          <p:cNvSpPr/>
          <p:nvPr/>
        </p:nvSpPr>
        <p:spPr>
          <a:xfrm>
            <a:off x="8503920" y="4434840"/>
            <a:ext cx="17373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INFERRED</a:t>
            </a:r>
            <a:endParaRPr lang="en-US" sz="1200" dirty="0"/>
          </a:p>
        </p:txBody>
      </p:sp>
      <p:sp>
        <p:nvSpPr>
          <p:cNvPr id="25" name="Evidence label ESTIMATE"/>
          <p:cNvSpPr/>
          <p:nvPr/>
        </p:nvSpPr>
        <p:spPr>
          <a:xfrm>
            <a:off x="6583680" y="4983480"/>
            <a:ext cx="173736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ESTIMATE</a:t>
            </a:r>
            <a:endParaRPr lang="en-US" sz="1200" dirty="0"/>
          </a:p>
        </p:txBody>
      </p:sp>
      <p:sp>
        <p:nvSpPr>
          <p:cNvPr id="26" name="Evidence label UNKNOWN"/>
          <p:cNvSpPr/>
          <p:nvPr/>
        </p:nvSpPr>
        <p:spPr>
          <a:xfrm>
            <a:off x="8503920" y="4983480"/>
            <a:ext cx="173736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UNKNOWN</a:t>
            </a:r>
            <a:endParaRPr lang="en-US" sz="12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02</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Segment</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Which bounded context are we deliberately choosing to learn about?</a:t>
            </a:r>
            <a:endParaRPr lang="en-US" sz="2200" dirty="0"/>
          </a:p>
        </p:txBody>
      </p:sp>
      <p:sp>
        <p:nvSpPr>
          <p:cNvPr id="5" name="Artifact pill"/>
          <p:cNvSpPr/>
          <p:nvPr/>
        </p:nvSpPr>
        <p:spPr>
          <a:xfrm>
            <a:off x="548640" y="4572000"/>
            <a:ext cx="407365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SEGMENT SELECTION BRIEF</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Sizing is an estimate until it is sourced. Choosing a segment is not proof it is attractive.</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TAM circle"/>
          <p:cNvSpPr/>
          <p:nvPr/>
        </p:nvSpPr>
        <p:spPr>
          <a:xfrm>
            <a:off x="7040880" y="868680"/>
            <a:ext cx="3840480" cy="3840480"/>
          </a:xfrm>
          <a:prstGeom prst="ellipse">
            <a:avLst/>
          </a:prstGeom>
          <a:ln w="38100">
            <a:solidFill>
              <a:schemeClr val="bg1"/>
            </a:solidFill>
            <a:prstDash val="solid"/>
          </a:ln>
        </p:spPr>
      </p:sp>
      <p:sp>
        <p:nvSpPr>
          <p:cNvPr id="9" name="TAM label"/>
          <p:cNvSpPr txBox="1"/>
          <p:nvPr/>
        </p:nvSpPr>
        <p:spPr>
          <a:xfrm>
            <a:off x="8229600" y="1051560"/>
            <a:ext cx="1463040" cy="457200"/>
          </a:xfrm>
          <a:prstGeom prst="rect">
            <a:avLst/>
          </a:prstGeom>
          <a:noFill/>
          <a:ln/>
        </p:spPr>
        <p:txBody>
          <a:bodyPr wrap="square" lIns="0" tIns="0" rIns="0" bIns="0" rtlCol="0" anchor="t"/>
          <a:lstStyle/>
          <a:p>
            <a:pPr algn="ctr" indent="0" marL="0">
              <a:buNone/>
            </a:pPr>
            <a:r>
              <a:rPr lang="en-US" sz="2200" dirty="0">
                <a:solidFill>
                  <a:schemeClr val="bg1"/>
                </a:solidFill>
                <a:latin typeface="Clash Grotesk Medium" pitchFamily="34" charset="0"/>
                <a:ea typeface="Clash Grotesk Medium" pitchFamily="34" charset="-122"/>
                <a:cs typeface="Clash Grotesk Medium" pitchFamily="34" charset="-120"/>
              </a:rPr>
              <a:t>TAM</a:t>
            </a:r>
            <a:endParaRPr lang="en-US" sz="2200" dirty="0"/>
          </a:p>
        </p:txBody>
      </p:sp>
      <p:sp>
        <p:nvSpPr>
          <p:cNvPr id="10" name="SAM circle"/>
          <p:cNvSpPr/>
          <p:nvPr/>
        </p:nvSpPr>
        <p:spPr>
          <a:xfrm>
            <a:off x="7635240" y="2057400"/>
            <a:ext cx="2651760" cy="2651760"/>
          </a:xfrm>
          <a:prstGeom prst="ellipse">
            <a:avLst/>
          </a:prstGeom>
          <a:ln w="38100">
            <a:solidFill>
              <a:schemeClr val="accent1"/>
            </a:solidFill>
            <a:prstDash val="solid"/>
          </a:ln>
        </p:spPr>
      </p:sp>
      <p:sp>
        <p:nvSpPr>
          <p:cNvPr id="11" name="SAM label"/>
          <p:cNvSpPr txBox="1"/>
          <p:nvPr/>
        </p:nvSpPr>
        <p:spPr>
          <a:xfrm>
            <a:off x="8229600" y="2240280"/>
            <a:ext cx="1463040" cy="457200"/>
          </a:xfrm>
          <a:prstGeom prst="rect">
            <a:avLst/>
          </a:prstGeom>
          <a:noFill/>
          <a:ln/>
        </p:spPr>
        <p:txBody>
          <a:bodyPr wrap="square" lIns="0" tIns="0" rIns="0" bIns="0" rtlCol="0" anchor="t"/>
          <a:lstStyle/>
          <a:p>
            <a:pPr algn="ctr" indent="0" marL="0">
              <a:buNone/>
            </a:pPr>
            <a:r>
              <a:rPr lang="en-US" sz="2200" dirty="0">
                <a:solidFill>
                  <a:schemeClr val="accent1"/>
                </a:solidFill>
                <a:latin typeface="Clash Grotesk Medium" pitchFamily="34" charset="0"/>
                <a:ea typeface="Clash Grotesk Medium" pitchFamily="34" charset="-122"/>
                <a:cs typeface="Clash Grotesk Medium" pitchFamily="34" charset="-120"/>
              </a:rPr>
              <a:t>SAM</a:t>
            </a:r>
            <a:endParaRPr lang="en-US" sz="2200" dirty="0"/>
          </a:p>
        </p:txBody>
      </p:sp>
      <p:sp>
        <p:nvSpPr>
          <p:cNvPr id="12" name="SOM circle"/>
          <p:cNvSpPr/>
          <p:nvPr/>
        </p:nvSpPr>
        <p:spPr>
          <a:xfrm>
            <a:off x="8229600" y="3246120"/>
            <a:ext cx="1463040" cy="1463040"/>
          </a:xfrm>
          <a:prstGeom prst="ellipse">
            <a:avLst/>
          </a:prstGeom>
          <a:solidFill>
            <a:schemeClr val="accent1"/>
          </a:solidFill>
          <a:ln w="38100">
            <a:solidFill>
              <a:schemeClr val="accent1"/>
            </a:solidFill>
            <a:prstDash val="solid"/>
          </a:ln>
        </p:spPr>
      </p:sp>
      <p:sp>
        <p:nvSpPr>
          <p:cNvPr id="13" name="SOM label"/>
          <p:cNvSpPr txBox="1"/>
          <p:nvPr/>
        </p:nvSpPr>
        <p:spPr>
          <a:xfrm>
            <a:off x="8229600" y="3749040"/>
            <a:ext cx="1463040" cy="457200"/>
          </a:xfrm>
          <a:prstGeom prst="rect">
            <a:avLst/>
          </a:prstGeom>
          <a:noFill/>
          <a:ln/>
        </p:spPr>
        <p:txBody>
          <a:bodyPr wrap="square" lIns="0" tIns="0" rIns="0" bIns="0" rtlCol="0" anchor="t"/>
          <a:lstStyle/>
          <a:p>
            <a:pPr algn="ctr" indent="0" marL="0">
              <a:buNone/>
            </a:pPr>
            <a:r>
              <a:rPr lang="en-US" sz="2200" dirty="0">
                <a:solidFill>
                  <a:schemeClr val="tx1"/>
                </a:solidFill>
                <a:latin typeface="Clash Grotesk Medium" pitchFamily="34" charset="0"/>
                <a:ea typeface="Clash Grotesk Medium" pitchFamily="34" charset="-122"/>
                <a:cs typeface="Clash Grotesk Medium" pitchFamily="34" charset="-120"/>
              </a:rPr>
              <a:t>SOM</a:t>
            </a:r>
            <a:endParaRPr lang="en-US" sz="2200" dirty="0"/>
          </a:p>
        </p:txBody>
      </p:sp>
      <p:sp>
        <p:nvSpPr>
          <p:cNvPr id="14" name="Source TAM"/>
          <p:cNvSpPr txBox="1"/>
          <p:nvPr/>
        </p:nvSpPr>
        <p:spPr>
          <a:xfrm>
            <a:off x="6812280" y="4892040"/>
            <a:ext cx="4297680" cy="27432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TAM   </a:t>
            </a:r>
            <a:pPr indent="0" marL="0">
              <a:buNone/>
            </a:pPr>
            <a:r>
              <a:rPr lang="en-US" sz="1500" dirty="0">
                <a:solidFill>
                  <a:schemeClr val="bg1"/>
                </a:solidFill>
                <a:latin typeface="PP Mori" pitchFamily="34" charset="0"/>
                <a:ea typeface="PP Mori" pitchFamily="34" charset="-122"/>
                <a:cs typeface="PP Mori" pitchFamily="34" charset="-120"/>
              </a:rPr>
              <a:t>from population</a:t>
            </a:r>
            <a:endParaRPr lang="en-US" sz="1600" dirty="0"/>
          </a:p>
        </p:txBody>
      </p:sp>
      <p:sp>
        <p:nvSpPr>
          <p:cNvPr id="15" name="Source SAM"/>
          <p:cNvSpPr txBox="1"/>
          <p:nvPr/>
        </p:nvSpPr>
        <p:spPr>
          <a:xfrm>
            <a:off x="6812280" y="5193792"/>
            <a:ext cx="4297680" cy="27432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SAM   </a:t>
            </a:r>
            <a:pPr indent="0" marL="0">
              <a:buNone/>
            </a:pPr>
            <a:r>
              <a:rPr lang="en-US" sz="1500" dirty="0">
                <a:solidFill>
                  <a:schemeClr val="bg1"/>
                </a:solidFill>
                <a:latin typeface="PP Mori" pitchFamily="34" charset="0"/>
                <a:ea typeface="PP Mori" pitchFamily="34" charset="-122"/>
                <a:cs typeface="PP Mori" pitchFamily="34" charset="-120"/>
              </a:rPr>
              <a:t>from trade and industry data</a:t>
            </a:r>
            <a:endParaRPr lang="en-US" sz="1600" dirty="0"/>
          </a:p>
        </p:txBody>
      </p:sp>
      <p:sp>
        <p:nvSpPr>
          <p:cNvPr id="16" name="Source SOM"/>
          <p:cNvSpPr txBox="1"/>
          <p:nvPr/>
        </p:nvSpPr>
        <p:spPr>
          <a:xfrm>
            <a:off x="6812280" y="5495544"/>
            <a:ext cx="4297680" cy="27432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SOM   </a:t>
            </a:r>
            <a:pPr indent="0" marL="0">
              <a:buNone/>
            </a:pPr>
            <a:r>
              <a:rPr lang="en-US" sz="1500" dirty="0">
                <a:solidFill>
                  <a:schemeClr val="bg1"/>
                </a:solidFill>
                <a:latin typeface="PP Mori" pitchFamily="34" charset="0"/>
                <a:ea typeface="PP Mori" pitchFamily="34" charset="-122"/>
                <a:cs typeface="PP Mori" pitchFamily="34" charset="-120"/>
              </a:rPr>
              <a:t>from competition and reach/capacity</a:t>
            </a:r>
            <a:endParaRPr lang="en-US" sz="1600" dirty="0"/>
          </a:p>
        </p:txBody>
      </p:sp>
      <p:sp>
        <p:nvSpPr>
          <p:cNvPr id="17" name="Evidence label ESTIMATE"/>
          <p:cNvSpPr/>
          <p:nvPr/>
        </p:nvSpPr>
        <p:spPr>
          <a:xfrm>
            <a:off x="10104120" y="822960"/>
            <a:ext cx="128016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ESTIMATE</a:t>
            </a:r>
            <a:endParaRPr lang="en-US" sz="12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03</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Persona</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Who is this person, in what situation, trying to make what progress?</a:t>
            </a:r>
            <a:endParaRPr lang="en-US" sz="2200" dirty="0"/>
          </a:p>
        </p:txBody>
      </p:sp>
      <p:sp>
        <p:nvSpPr>
          <p:cNvPr id="5" name="Artifact pill"/>
          <p:cNvSpPr/>
          <p:nvPr/>
        </p:nvSpPr>
        <p:spPr>
          <a:xfrm>
            <a:off x="548640" y="4572000"/>
            <a:ext cx="361645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SITUATIONAL PERSONA</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A hypothesis, not a customer we interviewed.</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Handoff card"/>
          <p:cNvSpPr/>
          <p:nvPr/>
        </p:nvSpPr>
        <p:spPr>
          <a:xfrm>
            <a:off x="6537960" y="822960"/>
            <a:ext cx="4846320" cy="5029200"/>
          </a:xfrm>
          <a:prstGeom prst="roundRect">
            <a:avLst>
              <a:gd name="adj" fmla="val 3396"/>
            </a:avLst>
          </a:prstGeom>
          <a:solidFill>
            <a:schemeClr val="bg1"/>
          </a:solidFill>
          <a:ln w="12700">
            <a:solidFill>
              <a:schemeClr val="bg1"/>
            </a:solidFill>
            <a:prstDash val="solid"/>
          </a:ln>
        </p:spPr>
      </p:sp>
      <p:sp>
        <p:nvSpPr>
          <p:cNvPr id="9" name="Handoff card label"/>
          <p:cNvSpPr txBox="1"/>
          <p:nvPr/>
        </p:nvSpPr>
        <p:spPr>
          <a:xfrm>
            <a:off x="6766560" y="1005840"/>
            <a:ext cx="2743200" cy="274320"/>
          </a:xfrm>
          <a:prstGeom prst="rect">
            <a:avLst/>
          </a:prstGeom>
          <a:noFill/>
          <a:ln/>
        </p:spPr>
        <p:txBody>
          <a:bodyPr wrap="square" lIns="0" tIns="0" rIns="0" bIns="0" rtlCol="0" anchor="t"/>
          <a:lstStyle/>
          <a:p>
            <a:pPr indent="0" marL="0">
              <a:buNone/>
            </a:pPr>
            <a:r>
              <a:rPr lang="en-US" sz="1200" spc="150" kern="0" dirty="0">
                <a:solidFill>
                  <a:srgbClr val="007A3D"/>
                </a:solidFill>
                <a:latin typeface="Clash Display Semibold" pitchFamily="34" charset="0"/>
                <a:ea typeface="Clash Display Semibold" pitchFamily="34" charset="-122"/>
                <a:cs typeface="Clash Display Semibold" pitchFamily="34" charset="-120"/>
              </a:rPr>
              <a:t>HANDOFF CARD</a:t>
            </a:r>
            <a:endParaRPr lang="en-US" sz="1200" dirty="0"/>
          </a:p>
        </p:txBody>
      </p:sp>
      <p:sp>
        <p:nvSpPr>
          <p:cNvPr id="10" name="Field Target"/>
          <p:cNvSpPr/>
          <p:nvPr/>
        </p:nvSpPr>
        <p:spPr>
          <a:xfrm>
            <a:off x="6766560" y="1417320"/>
            <a:ext cx="2080260" cy="1280160"/>
          </a:xfrm>
          <a:prstGeom prst="roundRect">
            <a:avLst>
              <a:gd name="adj" fmla="val 5714"/>
            </a:avLst>
          </a:prstGeom>
          <a:solidFill>
            <a:srgbClr val="F4F4F4"/>
          </a:solidFill>
          <a:ln w="12700">
            <a:solidFill>
              <a:srgbClr val="D0D0D0"/>
            </a:solidFill>
            <a:prstDash val="solid"/>
          </a:ln>
        </p:spPr>
      </p:sp>
      <p:sp>
        <p:nvSpPr>
          <p:cNvPr id="11" name="Text 9"/>
          <p:cNvSpPr txBox="1"/>
          <p:nvPr/>
        </p:nvSpPr>
        <p:spPr>
          <a:xfrm>
            <a:off x="6876288" y="149047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TARGET</a:t>
            </a:r>
            <a:endParaRPr lang="en-US" sz="1000" dirty="0"/>
          </a:p>
        </p:txBody>
      </p:sp>
      <p:sp>
        <p:nvSpPr>
          <p:cNvPr id="12" name="Text 10"/>
          <p:cNvSpPr txBox="1"/>
          <p:nvPr/>
        </p:nvSpPr>
        <p:spPr>
          <a:xfrm>
            <a:off x="6876288" y="1728216"/>
            <a:ext cx="1860804" cy="713232"/>
          </a:xfrm>
          <a:prstGeom prst="rect">
            <a:avLst/>
          </a:prstGeom>
          <a:noFill/>
          <a:ln/>
        </p:spPr>
        <p:txBody>
          <a:bodyPr wrap="square" lIns="0" tIns="0" rIns="0" bIns="0" rtlCol="0" anchor="t"/>
          <a:lstStyle/>
          <a:p>
            <a:pPr indent="0" marL="0">
              <a:buNone/>
            </a:pPr>
            <a:r>
              <a:rPr lang="en-US" sz="1200" dirty="0">
                <a:solidFill>
                  <a:schemeClr val="tx1"/>
                </a:solidFill>
                <a:latin typeface="PP Mori" pitchFamily="34" charset="0"/>
                <a:ea typeface="PP Mori" pitchFamily="34" charset="-122"/>
                <a:cs typeface="PP Mori" pitchFamily="34" charset="-120"/>
              </a:rPr>
              <a:t>Maintenance manager</a:t>
            </a:r>
            <a:endParaRPr lang="en-US" sz="1200" dirty="0"/>
          </a:p>
        </p:txBody>
      </p:sp>
      <p:sp>
        <p:nvSpPr>
          <p:cNvPr id="13" name="Evidence label ESTIMATE"/>
          <p:cNvSpPr/>
          <p:nvPr/>
        </p:nvSpPr>
        <p:spPr>
          <a:xfrm>
            <a:off x="7566660" y="2404872"/>
            <a:ext cx="1170432"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ESTIMATE</a:t>
            </a:r>
            <a:endParaRPr lang="en-US" sz="1200" dirty="0"/>
          </a:p>
        </p:txBody>
      </p:sp>
      <p:sp>
        <p:nvSpPr>
          <p:cNvPr id="14" name="Field What we believe"/>
          <p:cNvSpPr/>
          <p:nvPr/>
        </p:nvSpPr>
        <p:spPr>
          <a:xfrm>
            <a:off x="9075420" y="1417320"/>
            <a:ext cx="2080260" cy="1280160"/>
          </a:xfrm>
          <a:prstGeom prst="roundRect">
            <a:avLst>
              <a:gd name="adj" fmla="val 5714"/>
            </a:avLst>
          </a:prstGeom>
          <a:solidFill>
            <a:srgbClr val="F4F4F4"/>
          </a:solidFill>
          <a:ln w="12700">
            <a:solidFill>
              <a:srgbClr val="D0D0D0"/>
            </a:solidFill>
            <a:prstDash val="solid"/>
          </a:ln>
        </p:spPr>
      </p:sp>
      <p:sp>
        <p:nvSpPr>
          <p:cNvPr id="15" name="Text 13"/>
          <p:cNvSpPr txBox="1"/>
          <p:nvPr/>
        </p:nvSpPr>
        <p:spPr>
          <a:xfrm>
            <a:off x="9185148" y="149047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WHAT WE BELIEVE</a:t>
            </a:r>
            <a:endParaRPr lang="en-US" sz="1000" dirty="0"/>
          </a:p>
        </p:txBody>
      </p:sp>
      <p:sp>
        <p:nvSpPr>
          <p:cNvPr id="16" name="Text 14"/>
          <p:cNvSpPr txBox="1"/>
          <p:nvPr/>
        </p:nvSpPr>
        <p:spPr>
          <a:xfrm>
            <a:off x="9185148" y="1728216"/>
            <a:ext cx="1860804" cy="713232"/>
          </a:xfrm>
          <a:prstGeom prst="rect">
            <a:avLst/>
          </a:prstGeom>
          <a:noFill/>
          <a:ln/>
        </p:spPr>
        <p:txBody>
          <a:bodyPr wrap="square" lIns="0" tIns="0" rIns="0" bIns="0" rtlCol="0" anchor="t"/>
          <a:lstStyle/>
          <a:p>
            <a:pPr indent="0" marL="0">
              <a:buNone/>
            </a:pPr>
            <a:r>
              <a:rPr lang="en-US" sz="1200" dirty="0">
                <a:solidFill>
                  <a:schemeClr val="tx1"/>
                </a:solidFill>
                <a:latin typeface="PP Mori" pitchFamily="34" charset="0"/>
                <a:ea typeface="PP Mori" pitchFamily="34" charset="-122"/>
                <a:cs typeface="PP Mori" pitchFamily="34" charset="-120"/>
              </a:rPr>
              <a:t>Conflicting equipment reports complicate the choice</a:t>
            </a:r>
            <a:endParaRPr lang="en-US" sz="1200" dirty="0"/>
          </a:p>
        </p:txBody>
      </p:sp>
      <p:sp>
        <p:nvSpPr>
          <p:cNvPr id="17" name="Evidence label ESTIMATE"/>
          <p:cNvSpPr/>
          <p:nvPr/>
        </p:nvSpPr>
        <p:spPr>
          <a:xfrm>
            <a:off x="9875520" y="2404872"/>
            <a:ext cx="1170432"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ESTIMATE</a:t>
            </a:r>
            <a:endParaRPr lang="en-US" sz="1200" dirty="0"/>
          </a:p>
        </p:txBody>
      </p:sp>
      <p:sp>
        <p:nvSpPr>
          <p:cNvPr id="18" name="Field Evidence"/>
          <p:cNvSpPr/>
          <p:nvPr/>
        </p:nvSpPr>
        <p:spPr>
          <a:xfrm>
            <a:off x="6766560" y="2834640"/>
            <a:ext cx="2080260" cy="1280160"/>
          </a:xfrm>
          <a:prstGeom prst="roundRect">
            <a:avLst>
              <a:gd name="adj" fmla="val 5714"/>
            </a:avLst>
          </a:prstGeom>
          <a:solidFill>
            <a:srgbClr val="F4F4F4"/>
          </a:solidFill>
          <a:ln w="12700">
            <a:solidFill>
              <a:srgbClr val="D0D0D0"/>
            </a:solidFill>
            <a:prstDash val="solid"/>
          </a:ln>
        </p:spPr>
      </p:sp>
      <p:sp>
        <p:nvSpPr>
          <p:cNvPr id="19" name="Text 17"/>
          <p:cNvSpPr txBox="1"/>
          <p:nvPr/>
        </p:nvSpPr>
        <p:spPr>
          <a:xfrm>
            <a:off x="6876288" y="290779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EVIDENCE</a:t>
            </a:r>
            <a:endParaRPr lang="en-US" sz="1000" dirty="0"/>
          </a:p>
        </p:txBody>
      </p:sp>
      <p:sp>
        <p:nvSpPr>
          <p:cNvPr id="20" name="Text 18"/>
          <p:cNvSpPr txBox="1"/>
          <p:nvPr/>
        </p:nvSpPr>
        <p:spPr>
          <a:xfrm>
            <a:off x="6876288" y="3145536"/>
            <a:ext cx="1860804" cy="713232"/>
          </a:xfrm>
          <a:prstGeom prst="rect">
            <a:avLst/>
          </a:prstGeom>
          <a:noFill/>
          <a:ln/>
        </p:spPr>
        <p:txBody>
          <a:bodyPr wrap="square" lIns="0" tIns="0" rIns="0" bIns="0" rtlCol="0" anchor="t"/>
          <a:lstStyle/>
          <a:p>
            <a:pPr indent="0" marL="0">
              <a:buNone/>
            </a:pPr>
            <a:r>
              <a:rPr lang="en-US" sz="1200" dirty="0">
                <a:solidFill>
                  <a:schemeClr val="tx1"/>
                </a:solidFill>
                <a:latin typeface="PP Mori" pitchFamily="34" charset="0"/>
                <a:ea typeface="PP Mori" pitchFamily="34" charset="-122"/>
                <a:cs typeface="PP Mori" pitchFamily="34" charset="-120"/>
              </a:rPr>
              <a:t>None supplied</a:t>
            </a:r>
            <a:endParaRPr lang="en-US" sz="1200" dirty="0"/>
          </a:p>
        </p:txBody>
      </p:sp>
      <p:sp>
        <p:nvSpPr>
          <p:cNvPr id="21" name="Field What is inferred"/>
          <p:cNvSpPr/>
          <p:nvPr/>
        </p:nvSpPr>
        <p:spPr>
          <a:xfrm>
            <a:off x="9075420" y="2834640"/>
            <a:ext cx="2080260" cy="1280160"/>
          </a:xfrm>
          <a:prstGeom prst="roundRect">
            <a:avLst>
              <a:gd name="adj" fmla="val 5714"/>
            </a:avLst>
          </a:prstGeom>
          <a:solidFill>
            <a:srgbClr val="F4F4F4"/>
          </a:solidFill>
          <a:ln w="12700">
            <a:solidFill>
              <a:srgbClr val="D0D0D0"/>
            </a:solidFill>
            <a:prstDash val="solid"/>
          </a:ln>
        </p:spPr>
      </p:sp>
      <p:sp>
        <p:nvSpPr>
          <p:cNvPr id="22" name="Text 20"/>
          <p:cNvSpPr txBox="1"/>
          <p:nvPr/>
        </p:nvSpPr>
        <p:spPr>
          <a:xfrm>
            <a:off x="9185148" y="290779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WHAT IS INFERRED</a:t>
            </a:r>
            <a:endParaRPr lang="en-US" sz="1000" dirty="0"/>
          </a:p>
        </p:txBody>
      </p:sp>
      <p:sp>
        <p:nvSpPr>
          <p:cNvPr id="23" name="Text 21"/>
          <p:cNvSpPr txBox="1"/>
          <p:nvPr/>
        </p:nvSpPr>
        <p:spPr>
          <a:xfrm>
            <a:off x="9185148" y="3145536"/>
            <a:ext cx="1860804" cy="713232"/>
          </a:xfrm>
          <a:prstGeom prst="rect">
            <a:avLst/>
          </a:prstGeom>
          <a:noFill/>
          <a:ln/>
        </p:spPr>
        <p:txBody>
          <a:bodyPr wrap="square" lIns="0" tIns="0" rIns="0" bIns="0" rtlCol="0" anchor="t"/>
          <a:lstStyle/>
          <a:p>
            <a:pPr indent="0" marL="0">
              <a:buNone/>
            </a:pPr>
            <a:r>
              <a:rPr lang="en-US" sz="1200" dirty="0">
                <a:solidFill>
                  <a:schemeClr val="tx1"/>
                </a:solidFill>
                <a:latin typeface="PP Mori" pitchFamily="34" charset="0"/>
                <a:ea typeface="PP Mori" pitchFamily="34" charset="-122"/>
                <a:cs typeface="PP Mori" pitchFamily="34" charset="-120"/>
              </a:rPr>
              <a:t>Report conflict may change choices</a:t>
            </a:r>
            <a:endParaRPr lang="en-US" sz="1200" dirty="0"/>
          </a:p>
        </p:txBody>
      </p:sp>
      <p:sp>
        <p:nvSpPr>
          <p:cNvPr id="24" name="Evidence label ESTIMATE"/>
          <p:cNvSpPr/>
          <p:nvPr/>
        </p:nvSpPr>
        <p:spPr>
          <a:xfrm>
            <a:off x="9875520" y="3822192"/>
            <a:ext cx="1170432"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ESTIMATE</a:t>
            </a:r>
            <a:endParaRPr lang="en-US" sz="1200" dirty="0"/>
          </a:p>
        </p:txBody>
      </p:sp>
      <p:sp>
        <p:nvSpPr>
          <p:cNvPr id="25" name="Field Desired outcome"/>
          <p:cNvSpPr/>
          <p:nvPr/>
        </p:nvSpPr>
        <p:spPr>
          <a:xfrm>
            <a:off x="6766560" y="4251960"/>
            <a:ext cx="2080260" cy="1280160"/>
          </a:xfrm>
          <a:prstGeom prst="roundRect">
            <a:avLst>
              <a:gd name="adj" fmla="val 5714"/>
            </a:avLst>
          </a:prstGeom>
          <a:solidFill>
            <a:srgbClr val="F4F4F4"/>
          </a:solidFill>
          <a:ln w="12700">
            <a:solidFill>
              <a:srgbClr val="D0D0D0"/>
            </a:solidFill>
            <a:prstDash val="solid"/>
          </a:ln>
        </p:spPr>
      </p:sp>
      <p:sp>
        <p:nvSpPr>
          <p:cNvPr id="26" name="Text 24"/>
          <p:cNvSpPr txBox="1"/>
          <p:nvPr/>
        </p:nvSpPr>
        <p:spPr>
          <a:xfrm>
            <a:off x="6876288" y="432511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DESIRED OUTCOME</a:t>
            </a:r>
            <a:endParaRPr lang="en-US" sz="1000" dirty="0"/>
          </a:p>
        </p:txBody>
      </p:sp>
      <p:sp>
        <p:nvSpPr>
          <p:cNvPr id="27" name="Text 25"/>
          <p:cNvSpPr txBox="1"/>
          <p:nvPr/>
        </p:nvSpPr>
        <p:spPr>
          <a:xfrm>
            <a:off x="6876288" y="4562856"/>
            <a:ext cx="1860804" cy="713232"/>
          </a:xfrm>
          <a:prstGeom prst="rect">
            <a:avLst/>
          </a:prstGeom>
          <a:noFill/>
          <a:ln/>
        </p:spPr>
        <p:txBody>
          <a:bodyPr wrap="square" lIns="0" tIns="0" rIns="0" bIns="0" rtlCol="0" anchor="t"/>
          <a:lstStyle/>
          <a:p>
            <a:pPr indent="0" marL="0">
              <a:buNone/>
            </a:pPr>
            <a:r>
              <a:rPr lang="en-US" sz="1200" dirty="0">
                <a:solidFill>
                  <a:schemeClr val="tx1"/>
                </a:solidFill>
                <a:latin typeface="PP Mori" pitchFamily="34" charset="0"/>
                <a:ea typeface="PP Mori" pitchFamily="34" charset="-122"/>
                <a:cs typeface="PP Mori" pitchFamily="34" charset="-120"/>
              </a:rPr>
              <a:t>Clearer next-investigation decisions</a:t>
            </a:r>
            <a:endParaRPr lang="en-US" sz="1200" dirty="0"/>
          </a:p>
        </p:txBody>
      </p:sp>
      <p:sp>
        <p:nvSpPr>
          <p:cNvPr id="28" name="Field Biggest question"/>
          <p:cNvSpPr/>
          <p:nvPr/>
        </p:nvSpPr>
        <p:spPr>
          <a:xfrm>
            <a:off x="9075420" y="4251960"/>
            <a:ext cx="2080260" cy="1280160"/>
          </a:xfrm>
          <a:prstGeom prst="roundRect">
            <a:avLst>
              <a:gd name="adj" fmla="val 5714"/>
            </a:avLst>
          </a:prstGeom>
          <a:solidFill>
            <a:srgbClr val="F4F4F4"/>
          </a:solidFill>
          <a:ln w="12700">
            <a:solidFill>
              <a:srgbClr val="D0D0D0"/>
            </a:solidFill>
            <a:prstDash val="solid"/>
          </a:ln>
        </p:spPr>
      </p:sp>
      <p:sp>
        <p:nvSpPr>
          <p:cNvPr id="29" name="Text 27"/>
          <p:cNvSpPr txBox="1"/>
          <p:nvPr/>
        </p:nvSpPr>
        <p:spPr>
          <a:xfrm>
            <a:off x="9185148" y="4325112"/>
            <a:ext cx="1860804" cy="201168"/>
          </a:xfrm>
          <a:prstGeom prst="rect">
            <a:avLst/>
          </a:prstGeom>
          <a:noFill/>
          <a:ln/>
        </p:spPr>
        <p:txBody>
          <a:bodyPr wrap="square" lIns="0" tIns="0" rIns="0" bIns="0" rtlCol="0" anchor="t"/>
          <a:lstStyle/>
          <a:p>
            <a:pPr indent="0" marL="0">
              <a:buNone/>
            </a:pPr>
            <a:r>
              <a:rPr lang="en-US" sz="1000" spc="100" kern="0" dirty="0">
                <a:solidFill>
                  <a:srgbClr val="5A5A5A"/>
                </a:solidFill>
                <a:latin typeface="Clash Display Semibold" pitchFamily="34" charset="0"/>
                <a:ea typeface="Clash Display Semibold" pitchFamily="34" charset="-122"/>
                <a:cs typeface="Clash Display Semibold" pitchFamily="34" charset="-120"/>
              </a:rPr>
              <a:t>BIGGEST QUESTION</a:t>
            </a:r>
            <a:endParaRPr lang="en-US" sz="1000" dirty="0"/>
          </a:p>
        </p:txBody>
      </p:sp>
      <p:sp>
        <p:nvSpPr>
          <p:cNvPr id="30" name="Text 28"/>
          <p:cNvSpPr txBox="1"/>
          <p:nvPr/>
        </p:nvSpPr>
        <p:spPr>
          <a:xfrm>
            <a:off x="9185148" y="4562856"/>
            <a:ext cx="1860804" cy="713232"/>
          </a:xfrm>
          <a:prstGeom prst="rect">
            <a:avLst/>
          </a:prstGeom>
          <a:noFill/>
          <a:ln/>
        </p:spPr>
        <p:txBody>
          <a:bodyPr wrap="square" lIns="0" tIns="0" rIns="0" bIns="0" rtlCol="0" anchor="t"/>
          <a:lstStyle/>
          <a:p>
            <a:pPr indent="0" marL="0">
              <a:buNone/>
            </a:pPr>
            <a:r>
              <a:rPr lang="en-US" sz="1200" dirty="0">
                <a:solidFill>
                  <a:schemeClr val="tx1"/>
                </a:solidFill>
                <a:latin typeface="PP Mori" pitchFamily="34" charset="0"/>
                <a:ea typeface="PP Mori" pitchFamily="34" charset="-122"/>
                <a:cs typeface="PP Mori" pitchFamily="34" charset="-120"/>
              </a:rPr>
              <a:t>Is report uncertainty the obstacle, or is it permission?</a:t>
            </a:r>
            <a:endParaRPr lang="en-US" sz="1200" dirty="0"/>
          </a:p>
        </p:txBody>
      </p:sp>
      <p:sp>
        <p:nvSpPr>
          <p:cNvPr id="31" name="Evidence label UNKNOWN"/>
          <p:cNvSpPr/>
          <p:nvPr/>
        </p:nvSpPr>
        <p:spPr>
          <a:xfrm>
            <a:off x="9875520" y="5239512"/>
            <a:ext cx="1170432"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UNKNOWN</a:t>
            </a:r>
            <a:endParaRPr lang="en-US" sz="12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question"/>
          <p:cNvSpPr txBox="1"/>
          <p:nvPr/>
        </p:nvSpPr>
        <p:spPr>
          <a:xfrm>
            <a:off x="548640" y="1463040"/>
            <a:ext cx="10607040" cy="3840480"/>
          </a:xfrm>
          <a:prstGeom prst="rect">
            <a:avLst/>
          </a:prstGeom>
          <a:noFill/>
          <a:ln/>
        </p:spPr>
        <p:txBody>
          <a:bodyPr wrap="square" lIns="0" tIns="0" rIns="0" bIns="0" rtlCol="0" anchor="ctr"/>
          <a:lstStyle/>
          <a:p>
            <a:pPr indent="0" marL="0">
              <a:buNone/>
            </a:pPr>
            <a:r>
              <a:rPr lang="en-US" sz="6600" dirty="0">
                <a:solidFill>
                  <a:schemeClr val="bg1"/>
                </a:solidFill>
                <a:latin typeface="FR Kraken Slab Medium" pitchFamily="34" charset="0"/>
                <a:ea typeface="FR Kraken Slab Medium" pitchFamily="34" charset="-122"/>
                <a:cs typeface="FR Kraken Slab Medium" pitchFamily="34" charset="-120"/>
              </a:rPr>
              <a:t>Where do we play, </a:t>
            </a:r>
            <a:pPr indent="0" marL="0">
              <a:buNone/>
            </a:pPr>
            <a:r>
              <a:rPr lang="en-US" sz="6600" dirty="0">
                <a:solidFill>
                  <a:schemeClr val="accent1"/>
                </a:solidFill>
                <a:latin typeface="FR Kraken Slab Medium" pitchFamily="34" charset="0"/>
                <a:ea typeface="FR Kraken Slab Medium" pitchFamily="34" charset="-122"/>
                <a:cs typeface="FR Kraken Slab Medium" pitchFamily="34" charset="-120"/>
              </a:rPr>
              <a:t>where do we win?</a:t>
            </a:r>
            <a:endParaRPr lang="en-US" sz="6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04</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Opportunity Solution Tree</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Which needs are worth pursuing, and which solutions and cheap experiments hang off them?</a:t>
            </a:r>
            <a:endParaRPr lang="en-US" sz="2200" dirty="0"/>
          </a:p>
        </p:txBody>
      </p:sp>
      <p:sp>
        <p:nvSpPr>
          <p:cNvPr id="5" name="Artifact pill"/>
          <p:cNvSpPr/>
          <p:nvPr/>
        </p:nvSpPr>
        <p:spPr>
          <a:xfrm>
            <a:off x="548640" y="4572000"/>
            <a:ext cx="430225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OPPORTUNITY SOLUTION TREE</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A dashboard is a solution candidate, not a need.</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Text 6"/>
          <p:cNvSpPr txBox="1"/>
          <p:nvPr/>
        </p:nvSpPr>
        <p:spPr>
          <a:xfrm>
            <a:off x="6492240" y="822960"/>
            <a:ext cx="1737360" cy="228600"/>
          </a:xfrm>
          <a:prstGeom prst="rect">
            <a:avLst/>
          </a:prstGeom>
          <a:noFill/>
          <a:ln/>
        </p:spPr>
        <p:txBody>
          <a:bodyPr wrap="square" lIns="0" tIns="0" rIns="0" bIns="0" rtlCol="0" anchor="t"/>
          <a:lstStyle/>
          <a:p>
            <a:pPr indent="0" marL="0">
              <a:buNone/>
            </a:pPr>
            <a:r>
              <a:rPr lang="en-US" sz="1100" spc="120" kern="0" dirty="0">
                <a:solidFill>
                  <a:schemeClr val="accent1"/>
                </a:solidFill>
                <a:latin typeface="Clash Display Semibold" pitchFamily="34" charset="0"/>
                <a:ea typeface="Clash Display Semibold" pitchFamily="34" charset="-122"/>
                <a:cs typeface="Clash Display Semibold" pitchFamily="34" charset="-120"/>
              </a:rPr>
              <a:t>OUTCOME</a:t>
            </a:r>
            <a:endParaRPr lang="en-US" sz="1100" dirty="0"/>
          </a:p>
        </p:txBody>
      </p:sp>
      <p:sp>
        <p:nvSpPr>
          <p:cNvPr id="9" name="Text 7"/>
          <p:cNvSpPr txBox="1"/>
          <p:nvPr/>
        </p:nvSpPr>
        <p:spPr>
          <a:xfrm>
            <a:off x="8092440" y="822960"/>
            <a:ext cx="1737360" cy="228600"/>
          </a:xfrm>
          <a:prstGeom prst="rect">
            <a:avLst/>
          </a:prstGeom>
          <a:noFill/>
          <a:ln/>
        </p:spPr>
        <p:txBody>
          <a:bodyPr wrap="square" lIns="0" tIns="0" rIns="0" bIns="0" rtlCol="0" anchor="t"/>
          <a:lstStyle/>
          <a:p>
            <a:pPr indent="0" marL="0">
              <a:buNone/>
            </a:pPr>
            <a:r>
              <a:rPr lang="en-US" sz="1100" spc="120" kern="0" dirty="0">
                <a:solidFill>
                  <a:schemeClr val="accent1"/>
                </a:solidFill>
                <a:latin typeface="Clash Display Semibold" pitchFamily="34" charset="0"/>
                <a:ea typeface="Clash Display Semibold" pitchFamily="34" charset="-122"/>
                <a:cs typeface="Clash Display Semibold" pitchFamily="34" charset="-120"/>
              </a:rPr>
              <a:t>OPPORTUNITIES</a:t>
            </a:r>
            <a:endParaRPr lang="en-US" sz="1100" dirty="0"/>
          </a:p>
        </p:txBody>
      </p:sp>
      <p:sp>
        <p:nvSpPr>
          <p:cNvPr id="10" name="Text 8"/>
          <p:cNvSpPr txBox="1"/>
          <p:nvPr/>
        </p:nvSpPr>
        <p:spPr>
          <a:xfrm>
            <a:off x="9875520" y="822960"/>
            <a:ext cx="1737360" cy="228600"/>
          </a:xfrm>
          <a:prstGeom prst="rect">
            <a:avLst/>
          </a:prstGeom>
          <a:noFill/>
          <a:ln/>
        </p:spPr>
        <p:txBody>
          <a:bodyPr wrap="square" lIns="0" tIns="0" rIns="0" bIns="0" rtlCol="0" anchor="t"/>
          <a:lstStyle/>
          <a:p>
            <a:pPr indent="0" marL="0">
              <a:buNone/>
            </a:pPr>
            <a:r>
              <a:rPr lang="en-US" sz="1100" spc="120" kern="0" dirty="0">
                <a:solidFill>
                  <a:schemeClr val="accent1"/>
                </a:solidFill>
                <a:latin typeface="Clash Display Semibold" pitchFamily="34" charset="0"/>
                <a:ea typeface="Clash Display Semibold" pitchFamily="34" charset="-122"/>
                <a:cs typeface="Clash Display Semibold" pitchFamily="34" charset="-120"/>
              </a:rPr>
              <a:t>SOLUTIONS</a:t>
            </a:r>
            <a:endParaRPr lang="en-US" sz="1100" dirty="0"/>
          </a:p>
        </p:txBody>
      </p:sp>
      <p:sp>
        <p:nvSpPr>
          <p:cNvPr id="11" name="Outcome"/>
          <p:cNvSpPr/>
          <p:nvPr/>
        </p:nvSpPr>
        <p:spPr>
          <a:xfrm>
            <a:off x="6492240" y="2377440"/>
            <a:ext cx="1371600" cy="1371600"/>
          </a:xfrm>
          <a:prstGeom prst="roundRect">
            <a:avLst>
              <a:gd name="adj" fmla="val 8000"/>
            </a:avLst>
          </a:prstGeom>
          <a:solidFill>
            <a:schemeClr val="bg1"/>
          </a:solidFill>
          <a:ln w="15875">
            <a:solidFill>
              <a:schemeClr val="bg1"/>
            </a:solidFill>
          </a:ln>
        </p:spPr>
        <p:txBody>
          <a:bodyPr wrap="square" lIns="50800" tIns="101600" rIns="101600" bIns="50800" rtlCol="0" anchor="ctr"/>
          <a:lstStyle/>
          <a:p>
            <a:pPr algn="l" indent="0" marL="0">
              <a:buNone/>
            </a:pPr>
            <a:r>
              <a:rPr lang="en-US" sz="1300" dirty="0">
                <a:solidFill>
                  <a:schemeClr val="tx1"/>
                </a:solidFill>
                <a:latin typeface="PP Mori" pitchFamily="34" charset="0"/>
                <a:ea typeface="PP Mori" pitchFamily="34" charset="-122"/>
                <a:cs typeface="PP Mori" pitchFamily="34" charset="-120"/>
              </a:rPr>
              <a:t>Clearer next-investigation decisions</a:t>
            </a:r>
            <a:endParaRPr lang="en-US" sz="1300" dirty="0"/>
          </a:p>
        </p:txBody>
      </p:sp>
      <p:sp>
        <p:nvSpPr>
          <p:cNvPr id="12" name="Opportunity 1"/>
          <p:cNvSpPr/>
          <p:nvPr/>
        </p:nvSpPr>
        <p:spPr>
          <a:xfrm>
            <a:off x="8092440" y="1463040"/>
            <a:ext cx="1554480" cy="1371600"/>
          </a:xfrm>
          <a:prstGeom prst="roundRect">
            <a:avLst>
              <a:gd name="adj" fmla="val 8000"/>
            </a:avLst>
          </a:prstGeom>
          <a:solidFill>
            <a:schemeClr val="bg1"/>
          </a:solidFill>
          <a:ln w="15875">
            <a:solidFill>
              <a:schemeClr val="bg1"/>
            </a:solidFill>
          </a:ln>
        </p:spPr>
        <p:txBody>
          <a:bodyPr wrap="square" lIns="50800" tIns="101600" rIns="101600" bIns="50800" rtlCol="0" anchor="ctr"/>
          <a:lstStyle/>
          <a:p>
            <a:pPr algn="l" indent="0" marL="0">
              <a:buNone/>
            </a:pPr>
            <a:r>
              <a:rPr lang="en-US" sz="1300" dirty="0">
                <a:solidFill>
                  <a:schemeClr val="tx1"/>
                </a:solidFill>
                <a:latin typeface="PP Mori" pitchFamily="34" charset="0"/>
                <a:ea typeface="PP Mori" pitchFamily="34" charset="-122"/>
                <a:cs typeface="PP Mori" pitchFamily="34" charset="-120"/>
              </a:rPr>
              <a:t>Need: resolve source and recency uncertainty</a:t>
            </a:r>
            <a:endParaRPr lang="en-US" sz="1300" dirty="0"/>
          </a:p>
        </p:txBody>
      </p:sp>
      <p:sp>
        <p:nvSpPr>
          <p:cNvPr id="13" name="Opportunity 2"/>
          <p:cNvSpPr/>
          <p:nvPr/>
        </p:nvSpPr>
        <p:spPr>
          <a:xfrm>
            <a:off x="8092440" y="3749040"/>
            <a:ext cx="1554480" cy="1371600"/>
          </a:xfrm>
          <a:prstGeom prst="roundRect">
            <a:avLst>
              <a:gd name="adj" fmla="val 8000"/>
            </a:avLst>
          </a:prstGeom>
          <a:solidFill>
            <a:schemeClr val="bg1"/>
          </a:solidFill>
          <a:ln w="15875">
            <a:solidFill>
              <a:schemeClr val="bg1"/>
            </a:solidFill>
          </a:ln>
        </p:spPr>
        <p:txBody>
          <a:bodyPr wrap="square" lIns="50800" tIns="101600" rIns="101600" bIns="50800" rtlCol="0" anchor="ctr"/>
          <a:lstStyle/>
          <a:p>
            <a:pPr algn="l" indent="0" marL="0">
              <a:buNone/>
            </a:pPr>
            <a:r>
              <a:rPr lang="en-US" sz="1300" dirty="0">
                <a:solidFill>
                  <a:schemeClr val="tx1"/>
                </a:solidFill>
                <a:latin typeface="PP Mori" pitchFamily="34" charset="0"/>
                <a:ea typeface="PP Mori" pitchFamily="34" charset="-122"/>
                <a:cs typeface="PP Mori" pitchFamily="34" charset="-120"/>
              </a:rPr>
              <a:t>Obstacle: permission and coordination</a:t>
            </a:r>
            <a:endParaRPr lang="en-US" sz="1300" dirty="0"/>
          </a:p>
        </p:txBody>
      </p:sp>
      <p:sp>
        <p:nvSpPr>
          <p:cNvPr id="14" name="Solution process"/>
          <p:cNvSpPr/>
          <p:nvPr/>
        </p:nvSpPr>
        <p:spPr>
          <a:xfrm>
            <a:off x="9875520" y="2331720"/>
            <a:ext cx="1600200" cy="822960"/>
          </a:xfrm>
          <a:prstGeom prst="roundRect">
            <a:avLst>
              <a:gd name="adj" fmla="val 13333"/>
            </a:avLst>
          </a:prstGeom>
          <a:solidFill>
            <a:schemeClr val="tx2"/>
          </a:solidFill>
          <a:ln w="15875">
            <a:solidFill>
              <a:schemeClr val="bg1"/>
            </a:solidFill>
          </a:ln>
        </p:spPr>
        <p:txBody>
          <a:bodyPr wrap="square" lIns="50800" tIns="101600" rIns="101600" bIns="50800" rtlCol="0" anchor="ctr"/>
          <a:lstStyle/>
          <a:p>
            <a:pPr algn="l" indent="0" marL="0">
              <a:buNone/>
            </a:pPr>
            <a:r>
              <a:rPr lang="en-US" sz="1300" dirty="0">
                <a:solidFill>
                  <a:schemeClr val="bg1"/>
                </a:solidFill>
                <a:latin typeface="PP Mori" pitchFamily="34" charset="0"/>
                <a:ea typeface="PP Mori" pitchFamily="34" charset="-122"/>
                <a:cs typeface="PP Mori" pitchFamily="34" charset="-120"/>
              </a:rPr>
              <a:t>Process change</a:t>
            </a:r>
            <a:endParaRPr lang="en-US" sz="1300" dirty="0"/>
          </a:p>
        </p:txBody>
      </p:sp>
      <p:sp>
        <p:nvSpPr>
          <p:cNvPr id="15" name="Solution dashboard"/>
          <p:cNvSpPr/>
          <p:nvPr/>
        </p:nvSpPr>
        <p:spPr>
          <a:xfrm>
            <a:off x="9875520" y="1280160"/>
            <a:ext cx="1600200" cy="822960"/>
          </a:xfrm>
          <a:prstGeom prst="roundRect">
            <a:avLst>
              <a:gd name="adj" fmla="val 13333"/>
            </a:avLst>
          </a:prstGeom>
          <a:solidFill>
            <a:schemeClr val="tx2"/>
          </a:solidFill>
          <a:ln w="15875">
            <a:solidFill>
              <a:schemeClr val="bg1"/>
            </a:solidFill>
          </a:ln>
        </p:spPr>
        <p:txBody>
          <a:bodyPr wrap="square" lIns="50800" tIns="101600" rIns="101600" bIns="50800" rtlCol="0" anchor="ctr"/>
          <a:lstStyle/>
          <a:p>
            <a:pPr algn="l" indent="0" marL="0">
              <a:buNone/>
            </a:pPr>
            <a:r>
              <a:rPr lang="en-US" sz="1300" dirty="0">
                <a:solidFill>
                  <a:schemeClr val="bg1"/>
                </a:solidFill>
                <a:latin typeface="PP Mori" pitchFamily="34" charset="0"/>
                <a:ea typeface="PP Mori" pitchFamily="34" charset="-122"/>
                <a:cs typeface="PP Mori" pitchFamily="34" charset="-120"/>
              </a:rPr>
              <a:t>Predictive dashboard</a:t>
            </a:r>
            <a:endParaRPr lang="en-US" sz="1300" dirty="0"/>
          </a:p>
        </p:txBody>
      </p:sp>
      <p:sp>
        <p:nvSpPr>
          <p:cNvPr id="16" name="Experiment"/>
          <p:cNvSpPr/>
          <p:nvPr/>
        </p:nvSpPr>
        <p:spPr>
          <a:xfrm>
            <a:off x="9875520" y="3474720"/>
            <a:ext cx="1600200" cy="822960"/>
          </a:xfrm>
          <a:prstGeom prst="roundRect">
            <a:avLst>
              <a:gd name="adj" fmla="val 13333"/>
            </a:avLst>
          </a:prstGeom>
          <a:solidFill>
            <a:schemeClr val="accent1"/>
          </a:solidFill>
          <a:ln w="15875">
            <a:solidFill>
              <a:schemeClr val="accent1"/>
            </a:solidFill>
          </a:ln>
        </p:spPr>
        <p:txBody>
          <a:bodyPr wrap="square" lIns="50800" tIns="101600" rIns="101600" bIns="50800" rtlCol="0" anchor="ctr"/>
          <a:lstStyle/>
          <a:p>
            <a:pPr algn="l" indent="0" marL="0">
              <a:buNone/>
            </a:pPr>
            <a:r>
              <a:rPr lang="en-US" sz="1300" dirty="0">
                <a:solidFill>
                  <a:schemeClr val="tx1"/>
                </a:solidFill>
                <a:latin typeface="PP Mori" pitchFamily="34" charset="0"/>
                <a:ea typeface="PP Mori" pitchFamily="34" charset="-122"/>
                <a:cs typeface="PP Mori" pitchFamily="34" charset="-120"/>
              </a:rPr>
              <a:t>Experiment: storyboard test</a:t>
            </a:r>
            <a:endParaRPr lang="en-US" sz="1300" dirty="0"/>
          </a:p>
        </p:txBody>
      </p:sp>
      <p:sp>
        <p:nvSpPr>
          <p:cNvPr id="17" name="Link outcome to opportunity 1"/>
          <p:cNvSpPr/>
          <p:nvPr/>
        </p:nvSpPr>
        <p:spPr>
          <a:xfrm flipV="1">
            <a:off x="7863840" y="2148840"/>
            <a:ext cx="228600" cy="914400"/>
          </a:xfrm>
          <a:prstGeom prst="line">
            <a:avLst/>
          </a:prstGeom>
          <a:noFill/>
          <a:ln w="25400">
            <a:solidFill>
              <a:schemeClr val="bg1"/>
            </a:solidFill>
            <a:prstDash val="solid"/>
            <a:tailEnd type="triangle"/>
          </a:ln>
        </p:spPr>
      </p:sp>
      <p:sp>
        <p:nvSpPr>
          <p:cNvPr id="18" name="Link outcome to opportunity 2"/>
          <p:cNvSpPr/>
          <p:nvPr/>
        </p:nvSpPr>
        <p:spPr>
          <a:xfrm>
            <a:off x="7863840" y="3063240"/>
            <a:ext cx="228600" cy="1371600"/>
          </a:xfrm>
          <a:prstGeom prst="line">
            <a:avLst/>
          </a:prstGeom>
          <a:noFill/>
          <a:ln w="25400">
            <a:solidFill>
              <a:schemeClr val="bg1"/>
            </a:solidFill>
            <a:prstDash val="solid"/>
            <a:tailEnd type="triangle"/>
          </a:ln>
        </p:spPr>
      </p:sp>
      <p:sp>
        <p:nvSpPr>
          <p:cNvPr id="19" name="Link opportunity to process"/>
          <p:cNvSpPr/>
          <p:nvPr/>
        </p:nvSpPr>
        <p:spPr>
          <a:xfrm>
            <a:off x="9646920" y="2148840"/>
            <a:ext cx="228600" cy="594360"/>
          </a:xfrm>
          <a:prstGeom prst="line">
            <a:avLst/>
          </a:prstGeom>
          <a:noFill/>
          <a:ln w="25400">
            <a:solidFill>
              <a:schemeClr val="bg1"/>
            </a:solidFill>
            <a:prstDash val="solid"/>
            <a:tailEnd type="triangle"/>
          </a:ln>
        </p:spPr>
      </p:sp>
      <p:sp>
        <p:nvSpPr>
          <p:cNvPr id="20" name="Link opportunity to dashboard"/>
          <p:cNvSpPr/>
          <p:nvPr/>
        </p:nvSpPr>
        <p:spPr>
          <a:xfrm flipV="1">
            <a:off x="9646920" y="1691640"/>
            <a:ext cx="228600" cy="457200"/>
          </a:xfrm>
          <a:prstGeom prst="line">
            <a:avLst/>
          </a:prstGeom>
          <a:noFill/>
          <a:ln w="25400">
            <a:solidFill>
              <a:schemeClr val="bg1"/>
            </a:solidFill>
            <a:prstDash val="solid"/>
            <a:tailEnd type="triangle"/>
          </a:ln>
        </p:spPr>
      </p:sp>
      <p:sp>
        <p:nvSpPr>
          <p:cNvPr id="21" name="Link process to experiment"/>
          <p:cNvSpPr/>
          <p:nvPr/>
        </p:nvSpPr>
        <p:spPr>
          <a:xfrm>
            <a:off x="10675620" y="3154680"/>
            <a:ext cx="0" cy="320040"/>
          </a:xfrm>
          <a:prstGeom prst="line">
            <a:avLst/>
          </a:prstGeom>
          <a:noFill/>
          <a:ln w="25400">
            <a:solidFill>
              <a:schemeClr val="accent1"/>
            </a:solidFill>
            <a:prstDash val="solid"/>
            <a:tailEnd type="triangle"/>
          </a:ln>
        </p:spPr>
      </p:sp>
      <p:sp>
        <p:nvSpPr>
          <p:cNvPr id="22" name="Text 20"/>
          <p:cNvSpPr txBox="1"/>
          <p:nvPr/>
        </p:nvSpPr>
        <p:spPr>
          <a:xfrm>
            <a:off x="6492240" y="5486400"/>
            <a:ext cx="4937760" cy="365760"/>
          </a:xfrm>
          <a:prstGeom prst="rect">
            <a:avLst/>
          </a:prstGeom>
          <a:noFill/>
          <a:ln/>
        </p:spPr>
        <p:txBody>
          <a:bodyPr wrap="square" lIns="0" tIns="0" rIns="0" bIns="0" rtlCol="0" anchor="t"/>
          <a:lstStyle/>
          <a:p>
            <a:pPr indent="0" marL="0">
              <a:buNone/>
            </a:pPr>
            <a:r>
              <a:rPr lang="en-US" sz="1300" dirty="0">
                <a:solidFill>
                  <a:srgbClr val="B3B3B3"/>
                </a:solidFill>
                <a:latin typeface="PP Mori" pitchFamily="34" charset="0"/>
                <a:ea typeface="PP Mori" pitchFamily="34" charset="-122"/>
                <a:cs typeface="PP Mori" pitchFamily="34" charset="-120"/>
              </a:rPr>
              <a:t>Synthetic, provisional branches. A person picks one at the gate.</a:t>
            </a:r>
            <a:endParaRPr lang="en-US" sz="13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05</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Value Prop vs. Differentiation 2x2</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Where does each solution from the tree sit? Does the value matter, and is the difference meaningful?</a:t>
            </a:r>
            <a:endParaRPr lang="en-US" sz="2200" dirty="0"/>
          </a:p>
        </p:txBody>
      </p:sp>
      <p:sp>
        <p:nvSpPr>
          <p:cNvPr id="5" name="Artifact pill"/>
          <p:cNvSpPr/>
          <p:nvPr/>
        </p:nvSpPr>
        <p:spPr>
          <a:xfrm>
            <a:off x="548640" y="4572000"/>
            <a:ext cx="178765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2X2</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Different is not the same as valuable. AI novelty is evidence of neither.</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Value axis"/>
          <p:cNvSpPr/>
          <p:nvPr/>
        </p:nvSpPr>
        <p:spPr>
          <a:xfrm>
            <a:off x="7086600" y="5120640"/>
            <a:ext cx="4206240" cy="0"/>
          </a:xfrm>
          <a:prstGeom prst="line">
            <a:avLst/>
          </a:prstGeom>
          <a:noFill/>
          <a:ln w="38100">
            <a:solidFill>
              <a:schemeClr val="bg1"/>
            </a:solidFill>
            <a:prstDash val="solid"/>
            <a:tailEnd type="triangle"/>
          </a:ln>
        </p:spPr>
      </p:sp>
      <p:sp>
        <p:nvSpPr>
          <p:cNvPr id="9" name="Difference axis"/>
          <p:cNvSpPr/>
          <p:nvPr/>
        </p:nvSpPr>
        <p:spPr>
          <a:xfrm flipV="1">
            <a:off x="7086600" y="1280160"/>
            <a:ext cx="0" cy="3840480"/>
          </a:xfrm>
          <a:prstGeom prst="line">
            <a:avLst/>
          </a:prstGeom>
          <a:noFill/>
          <a:ln w="38100">
            <a:solidFill>
              <a:schemeClr val="bg1"/>
            </a:solidFill>
            <a:prstDash val="solid"/>
            <a:headEnd type="triangle"/>
          </a:ln>
        </p:spPr>
      </p:sp>
      <p:sp>
        <p:nvSpPr>
          <p:cNvPr id="10" name="Midline vertical"/>
          <p:cNvSpPr/>
          <p:nvPr/>
        </p:nvSpPr>
        <p:spPr>
          <a:xfrm>
            <a:off x="9189720" y="1280160"/>
            <a:ext cx="0" cy="3840480"/>
          </a:xfrm>
          <a:prstGeom prst="line">
            <a:avLst/>
          </a:prstGeom>
          <a:noFill/>
          <a:ln w="19050">
            <a:solidFill>
              <a:srgbClr val="3A3A3A"/>
            </a:solidFill>
            <a:prstDash val="solid"/>
          </a:ln>
        </p:spPr>
      </p:sp>
      <p:sp>
        <p:nvSpPr>
          <p:cNvPr id="11" name="Midline horizontal"/>
          <p:cNvSpPr/>
          <p:nvPr/>
        </p:nvSpPr>
        <p:spPr>
          <a:xfrm>
            <a:off x="7086600" y="3200400"/>
            <a:ext cx="4206240" cy="0"/>
          </a:xfrm>
          <a:prstGeom prst="line">
            <a:avLst/>
          </a:prstGeom>
          <a:noFill/>
          <a:ln w="19050">
            <a:solidFill>
              <a:srgbClr val="3A3A3A"/>
            </a:solidFill>
            <a:prstDash val="solid"/>
          </a:ln>
        </p:spPr>
      </p:sp>
      <p:sp>
        <p:nvSpPr>
          <p:cNvPr id="12" name="Value axis label"/>
          <p:cNvSpPr txBox="1"/>
          <p:nvPr/>
        </p:nvSpPr>
        <p:spPr>
          <a:xfrm>
            <a:off x="7086600" y="5230368"/>
            <a:ext cx="4206240" cy="274320"/>
          </a:xfrm>
          <a:prstGeom prst="rect">
            <a:avLst/>
          </a:prstGeom>
          <a:noFill/>
          <a:ln/>
        </p:spPr>
        <p:txBody>
          <a:bodyPr wrap="square" lIns="0" tIns="0" rIns="0" bIns="0" rtlCol="0" anchor="t"/>
          <a:lstStyle/>
          <a:p>
            <a:pPr algn="ctr" indent="0" marL="0">
              <a:buNone/>
            </a:pPr>
            <a:r>
              <a:rPr lang="en-US" sz="1400" dirty="0">
                <a:solidFill>
                  <a:schemeClr val="bg1"/>
                </a:solidFill>
                <a:latin typeface="PP Mori" pitchFamily="34" charset="0"/>
                <a:ea typeface="PP Mori" pitchFamily="34" charset="-122"/>
                <a:cs typeface="PP Mori" pitchFamily="34" charset="-120"/>
              </a:rPr>
              <a:t>Value to the persona (low to high)</a:t>
            </a:r>
            <a:endParaRPr lang="en-US" sz="1400" dirty="0"/>
          </a:p>
        </p:txBody>
      </p:sp>
      <p:sp>
        <p:nvSpPr>
          <p:cNvPr id="13" name="Difference axis label"/>
          <p:cNvSpPr txBox="1"/>
          <p:nvPr/>
        </p:nvSpPr>
        <p:spPr>
          <a:xfrm rot="16200000">
            <a:off x="4892040" y="3040380"/>
            <a:ext cx="3840480" cy="320040"/>
          </a:xfrm>
          <a:prstGeom prst="rect">
            <a:avLst/>
          </a:prstGeom>
          <a:noFill/>
          <a:ln/>
        </p:spPr>
        <p:txBody>
          <a:bodyPr wrap="square" lIns="0" tIns="0" rIns="0" bIns="0" rtlCol="0" anchor="t"/>
          <a:lstStyle/>
          <a:p>
            <a:pPr algn="ctr" indent="0" marL="0">
              <a:buNone/>
            </a:pPr>
            <a:r>
              <a:rPr lang="en-US" sz="1400" dirty="0">
                <a:solidFill>
                  <a:schemeClr val="bg1"/>
                </a:solidFill>
                <a:latin typeface="PP Mori" pitchFamily="34" charset="0"/>
                <a:ea typeface="PP Mori" pitchFamily="34" charset="-122"/>
                <a:cs typeface="PP Mori" pitchFamily="34" charset="-120"/>
              </a:rPr>
              <a:t>Meaningful difference (low to high)</a:t>
            </a:r>
            <a:endParaRPr lang="en-US" sz="1400" dirty="0"/>
          </a:p>
        </p:txBody>
      </p:sp>
      <p:sp>
        <p:nvSpPr>
          <p:cNvPr id="14" name="Text 12"/>
          <p:cNvSpPr txBox="1"/>
          <p:nvPr/>
        </p:nvSpPr>
        <p:spPr>
          <a:xfrm>
            <a:off x="7223760" y="1417320"/>
            <a:ext cx="1828800" cy="457200"/>
          </a:xfrm>
          <a:prstGeom prst="rect">
            <a:avLst/>
          </a:prstGeom>
          <a:noFill/>
          <a:ln/>
        </p:spPr>
        <p:txBody>
          <a:bodyPr wrap="square" lIns="0" tIns="0" rIns="0" bIns="0" rtlCol="0" anchor="t"/>
          <a:lstStyle/>
          <a:p>
            <a:pPr indent="0" marL="0">
              <a:buNone/>
            </a:pPr>
            <a:r>
              <a:rPr lang="en-US" sz="1200" dirty="0">
                <a:solidFill>
                  <a:srgbClr val="B3B3B3"/>
                </a:solidFill>
                <a:latin typeface="PP Mori" pitchFamily="34" charset="0"/>
                <a:ea typeface="PP Mori" pitchFamily="34" charset="-122"/>
                <a:cs typeface="PP Mori" pitchFamily="34" charset="-120"/>
              </a:rPr>
              <a:t>Different, not valuable</a:t>
            </a:r>
            <a:endParaRPr lang="en-US" sz="1200" dirty="0"/>
          </a:p>
        </p:txBody>
      </p:sp>
      <p:sp>
        <p:nvSpPr>
          <p:cNvPr id="15" name="Text 13"/>
          <p:cNvSpPr txBox="1"/>
          <p:nvPr/>
        </p:nvSpPr>
        <p:spPr>
          <a:xfrm>
            <a:off x="9326880" y="1417320"/>
            <a:ext cx="1828800" cy="457200"/>
          </a:xfrm>
          <a:prstGeom prst="rect">
            <a:avLst/>
          </a:prstGeom>
          <a:noFill/>
          <a:ln/>
        </p:spPr>
        <p:txBody>
          <a:bodyPr wrap="square" lIns="0" tIns="0" rIns="0" bIns="0" rtlCol="0" anchor="t"/>
          <a:lstStyle/>
          <a:p>
            <a:pPr indent="0" marL="0">
              <a:buNone/>
            </a:pPr>
            <a:r>
              <a:rPr lang="en-US" sz="1200" dirty="0">
                <a:solidFill>
                  <a:srgbClr val="B3B3B3"/>
                </a:solidFill>
                <a:latin typeface="PP Mori" pitchFamily="34" charset="0"/>
                <a:ea typeface="PP Mori" pitchFamily="34" charset="-122"/>
                <a:cs typeface="PP Mori" pitchFamily="34" charset="-120"/>
              </a:rPr>
              <a:t>Valuable and different</a:t>
            </a:r>
            <a:endParaRPr lang="en-US" sz="1200" dirty="0"/>
          </a:p>
        </p:txBody>
      </p:sp>
      <p:sp>
        <p:nvSpPr>
          <p:cNvPr id="16" name="Text 14"/>
          <p:cNvSpPr txBox="1"/>
          <p:nvPr/>
        </p:nvSpPr>
        <p:spPr>
          <a:xfrm>
            <a:off x="7223760" y="3337560"/>
            <a:ext cx="1828800" cy="457200"/>
          </a:xfrm>
          <a:prstGeom prst="rect">
            <a:avLst/>
          </a:prstGeom>
          <a:noFill/>
          <a:ln/>
        </p:spPr>
        <p:txBody>
          <a:bodyPr wrap="square" lIns="0" tIns="0" rIns="0" bIns="0" rtlCol="0" anchor="t"/>
          <a:lstStyle/>
          <a:p>
            <a:pPr indent="0" marL="0">
              <a:buNone/>
            </a:pPr>
            <a:r>
              <a:rPr lang="en-US" sz="1200" dirty="0">
                <a:solidFill>
                  <a:srgbClr val="B3B3B3"/>
                </a:solidFill>
                <a:latin typeface="PP Mori" pitchFamily="34" charset="0"/>
                <a:ea typeface="PP Mori" pitchFamily="34" charset="-122"/>
                <a:cs typeface="PP Mori" pitchFamily="34" charset="-120"/>
              </a:rPr>
              <a:t>Neither</a:t>
            </a:r>
            <a:endParaRPr lang="en-US" sz="1200" dirty="0"/>
          </a:p>
        </p:txBody>
      </p:sp>
      <p:sp>
        <p:nvSpPr>
          <p:cNvPr id="17" name="Text 15"/>
          <p:cNvSpPr txBox="1"/>
          <p:nvPr/>
        </p:nvSpPr>
        <p:spPr>
          <a:xfrm>
            <a:off x="9326880" y="3337560"/>
            <a:ext cx="1828800" cy="457200"/>
          </a:xfrm>
          <a:prstGeom prst="rect">
            <a:avLst/>
          </a:prstGeom>
          <a:noFill/>
          <a:ln/>
        </p:spPr>
        <p:txBody>
          <a:bodyPr wrap="square" lIns="0" tIns="0" rIns="0" bIns="0" rtlCol="0" anchor="t"/>
          <a:lstStyle/>
          <a:p>
            <a:pPr indent="0" marL="0">
              <a:buNone/>
            </a:pPr>
            <a:r>
              <a:rPr lang="en-US" sz="1200" dirty="0">
                <a:solidFill>
                  <a:srgbClr val="B3B3B3"/>
                </a:solidFill>
                <a:latin typeface="PP Mori" pitchFamily="34" charset="0"/>
                <a:ea typeface="PP Mori" pitchFamily="34" charset="-122"/>
                <a:cs typeface="PP Mori" pitchFamily="34" charset="-120"/>
              </a:rPr>
              <a:t>Valuable, not different</a:t>
            </a:r>
            <a:endParaRPr lang="en-US" sz="1200" dirty="0"/>
          </a:p>
        </p:txBody>
      </p:sp>
      <p:sp>
        <p:nvSpPr>
          <p:cNvPr id="18" name="Solution A"/>
          <p:cNvSpPr/>
          <p:nvPr/>
        </p:nvSpPr>
        <p:spPr>
          <a:xfrm>
            <a:off x="7882128" y="2121408"/>
            <a:ext cx="512064" cy="512064"/>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600" dirty="0">
                <a:solidFill>
                  <a:schemeClr val="tx1"/>
                </a:solidFill>
                <a:latin typeface="Clash Grotesk Medium" pitchFamily="34" charset="0"/>
                <a:ea typeface="Clash Grotesk Medium" pitchFamily="34" charset="-122"/>
                <a:cs typeface="Clash Grotesk Medium" pitchFamily="34" charset="-120"/>
              </a:rPr>
              <a:t>A</a:t>
            </a:r>
            <a:endParaRPr lang="en-US" sz="1600" dirty="0"/>
          </a:p>
        </p:txBody>
      </p:sp>
      <p:sp>
        <p:nvSpPr>
          <p:cNvPr id="19" name="Solution A label"/>
          <p:cNvSpPr txBox="1"/>
          <p:nvPr/>
        </p:nvSpPr>
        <p:spPr>
          <a:xfrm>
            <a:off x="7223760" y="2697480"/>
            <a:ext cx="1828800" cy="274320"/>
          </a:xfrm>
          <a:prstGeom prst="rect">
            <a:avLst/>
          </a:prstGeom>
          <a:noFill/>
          <a:ln/>
        </p:spPr>
        <p:txBody>
          <a:bodyPr wrap="square" lIns="0" tIns="0" rIns="0" bIns="0" rtlCol="0" anchor="t"/>
          <a:lstStyle/>
          <a:p>
            <a:pPr algn="ctr" indent="0" marL="0">
              <a:buNone/>
            </a:pPr>
            <a:r>
              <a:rPr lang="en-US" sz="1300" dirty="0">
                <a:solidFill>
                  <a:schemeClr val="bg1"/>
                </a:solidFill>
                <a:latin typeface="PP Mori" pitchFamily="34" charset="0"/>
                <a:ea typeface="PP Mori" pitchFamily="34" charset="-122"/>
                <a:cs typeface="PP Mori" pitchFamily="34" charset="-120"/>
              </a:rPr>
              <a:t>Predictive dashboard</a:t>
            </a:r>
            <a:endParaRPr lang="en-US" sz="1300" dirty="0"/>
          </a:p>
        </p:txBody>
      </p:sp>
      <p:sp>
        <p:nvSpPr>
          <p:cNvPr id="20" name="Solution B"/>
          <p:cNvSpPr/>
          <p:nvPr/>
        </p:nvSpPr>
        <p:spPr>
          <a:xfrm>
            <a:off x="9939528" y="3767328"/>
            <a:ext cx="512064" cy="512064"/>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600" dirty="0">
                <a:solidFill>
                  <a:schemeClr val="tx1"/>
                </a:solidFill>
                <a:latin typeface="Clash Grotesk Medium" pitchFamily="34" charset="0"/>
                <a:ea typeface="Clash Grotesk Medium" pitchFamily="34" charset="-122"/>
                <a:cs typeface="Clash Grotesk Medium" pitchFamily="34" charset="-120"/>
              </a:rPr>
              <a:t>B</a:t>
            </a:r>
            <a:endParaRPr lang="en-US" sz="1600" dirty="0"/>
          </a:p>
        </p:txBody>
      </p:sp>
      <p:sp>
        <p:nvSpPr>
          <p:cNvPr id="21" name="Solution B label"/>
          <p:cNvSpPr txBox="1"/>
          <p:nvPr/>
        </p:nvSpPr>
        <p:spPr>
          <a:xfrm>
            <a:off x="9281160" y="4343400"/>
            <a:ext cx="1828800" cy="274320"/>
          </a:xfrm>
          <a:prstGeom prst="rect">
            <a:avLst/>
          </a:prstGeom>
          <a:noFill/>
          <a:ln/>
        </p:spPr>
        <p:txBody>
          <a:bodyPr wrap="square" lIns="0" tIns="0" rIns="0" bIns="0" rtlCol="0" anchor="t"/>
          <a:lstStyle/>
          <a:p>
            <a:pPr algn="ctr" indent="0" marL="0">
              <a:buNone/>
            </a:pPr>
            <a:r>
              <a:rPr lang="en-US" sz="1300" dirty="0">
                <a:solidFill>
                  <a:schemeClr val="bg1"/>
                </a:solidFill>
                <a:latin typeface="PP Mori" pitchFamily="34" charset="0"/>
                <a:ea typeface="PP Mori" pitchFamily="34" charset="-122"/>
                <a:cs typeface="PP Mori" pitchFamily="34" charset="-120"/>
              </a:rPr>
              <a:t>Process change</a:t>
            </a:r>
            <a:endParaRPr lang="en-US" sz="1300" dirty="0"/>
          </a:p>
        </p:txBody>
      </p:sp>
      <p:sp>
        <p:nvSpPr>
          <p:cNvPr id="22" name="Competitor marker"/>
          <p:cNvSpPr/>
          <p:nvPr/>
        </p:nvSpPr>
        <p:spPr>
          <a:xfrm>
            <a:off x="9957816" y="1956816"/>
            <a:ext cx="475488" cy="475488"/>
          </a:xfrm>
          <a:prstGeom prst="roundRect">
            <a:avLst>
              <a:gd name="adj" fmla="val 15385"/>
            </a:avLst>
          </a:prstGeom>
          <a:solidFill>
            <a:schemeClr val="tx2"/>
          </a:solidFill>
          <a:ln w="31750">
            <a:solidFill>
              <a:schemeClr val="bg1"/>
            </a:solidFill>
            <a:prstDash val="solid"/>
          </a:ln>
        </p:spPr>
      </p:sp>
      <p:sp>
        <p:nvSpPr>
          <p:cNvPr id="23" name="Competitor label"/>
          <p:cNvSpPr txBox="1"/>
          <p:nvPr/>
        </p:nvSpPr>
        <p:spPr>
          <a:xfrm>
            <a:off x="9281160" y="2514600"/>
            <a:ext cx="1828800" cy="274320"/>
          </a:xfrm>
          <a:prstGeom prst="rect">
            <a:avLst/>
          </a:prstGeom>
          <a:noFill/>
          <a:ln/>
        </p:spPr>
        <p:txBody>
          <a:bodyPr wrap="square" lIns="0" tIns="0" rIns="0" bIns="0" rtlCol="0" anchor="t"/>
          <a:lstStyle/>
          <a:p>
            <a:pPr algn="ctr" indent="0" marL="0">
              <a:buNone/>
            </a:pPr>
            <a:r>
              <a:rPr lang="en-US" sz="1300" dirty="0">
                <a:solidFill>
                  <a:schemeClr val="bg1"/>
                </a:solidFill>
                <a:latin typeface="PP Mori" pitchFamily="34" charset="0"/>
                <a:ea typeface="PP Mori" pitchFamily="34" charset="-122"/>
                <a:cs typeface="PP Mori" pitchFamily="34" charset="-120"/>
              </a:rPr>
              <a:t>Incumbent platform</a:t>
            </a:r>
            <a:endParaRPr lang="en-US" sz="1300" dirty="0"/>
          </a:p>
        </p:txBody>
      </p:sp>
      <p:sp>
        <p:nvSpPr>
          <p:cNvPr id="24" name="Workaround marker"/>
          <p:cNvSpPr/>
          <p:nvPr/>
        </p:nvSpPr>
        <p:spPr>
          <a:xfrm>
            <a:off x="7900416" y="4059936"/>
            <a:ext cx="475488" cy="475488"/>
          </a:xfrm>
          <a:prstGeom prst="ellipse">
            <a:avLst/>
          </a:prstGeom>
          <a:ln w="31750">
            <a:solidFill>
              <a:schemeClr val="bg1"/>
            </a:solidFill>
            <a:prstDash val="dash"/>
          </a:ln>
        </p:spPr>
      </p:sp>
      <p:sp>
        <p:nvSpPr>
          <p:cNvPr id="25" name="Workaround label"/>
          <p:cNvSpPr txBox="1"/>
          <p:nvPr/>
        </p:nvSpPr>
        <p:spPr>
          <a:xfrm>
            <a:off x="7223760" y="4617720"/>
            <a:ext cx="1828800" cy="274320"/>
          </a:xfrm>
          <a:prstGeom prst="rect">
            <a:avLst/>
          </a:prstGeom>
          <a:noFill/>
          <a:ln/>
        </p:spPr>
        <p:txBody>
          <a:bodyPr wrap="square" lIns="0" tIns="0" rIns="0" bIns="0" rtlCol="0" anchor="t"/>
          <a:lstStyle/>
          <a:p>
            <a:pPr algn="ctr" indent="0" marL="0">
              <a:buNone/>
            </a:pPr>
            <a:r>
              <a:rPr lang="en-US" sz="1300" dirty="0">
                <a:solidFill>
                  <a:schemeClr val="bg1"/>
                </a:solidFill>
                <a:latin typeface="PP Mori" pitchFamily="34" charset="0"/>
                <a:ea typeface="PP Mori" pitchFamily="34" charset="-122"/>
                <a:cs typeface="PP Mori" pitchFamily="34" charset="-120"/>
              </a:rPr>
              <a:t>Current workaround</a:t>
            </a:r>
            <a:endParaRPr lang="en-US" sz="1300" dirty="0"/>
          </a:p>
        </p:txBody>
      </p:sp>
      <p:sp>
        <p:nvSpPr>
          <p:cNvPr id="26" name="Legend solution"/>
          <p:cNvSpPr/>
          <p:nvPr/>
        </p:nvSpPr>
        <p:spPr>
          <a:xfrm>
            <a:off x="6583680" y="5650992"/>
            <a:ext cx="182880" cy="182880"/>
          </a:xfrm>
          <a:prstGeom prst="ellipse">
            <a:avLst/>
          </a:prstGeom>
          <a:solidFill>
            <a:schemeClr val="accent1"/>
          </a:solidFill>
          <a:ln w="12700">
            <a:solidFill>
              <a:schemeClr val="accent1"/>
            </a:solidFill>
            <a:prstDash val="solid"/>
          </a:ln>
        </p:spPr>
      </p:sp>
      <p:sp>
        <p:nvSpPr>
          <p:cNvPr id="27" name="Legend solution text"/>
          <p:cNvSpPr txBox="1"/>
          <p:nvPr/>
        </p:nvSpPr>
        <p:spPr>
          <a:xfrm>
            <a:off x="6812280" y="5596128"/>
            <a:ext cx="914400" cy="274320"/>
          </a:xfrm>
          <a:prstGeom prst="rect">
            <a:avLst/>
          </a:prstGeom>
          <a:noFill/>
          <a:ln/>
        </p:spPr>
        <p:txBody>
          <a:bodyPr wrap="square" lIns="0" tIns="0" rIns="0" bIns="0" rtlCol="0" anchor="t"/>
          <a:lstStyle/>
          <a:p>
            <a:pPr indent="0" marL="0">
              <a:buNone/>
            </a:pPr>
            <a:r>
              <a:rPr lang="en-US" sz="1200" dirty="0">
                <a:solidFill>
                  <a:srgbClr val="B3B3B3"/>
                </a:solidFill>
                <a:latin typeface="PP Mori" pitchFamily="34" charset="0"/>
                <a:ea typeface="PP Mori" pitchFamily="34" charset="-122"/>
                <a:cs typeface="PP Mori" pitchFamily="34" charset="-120"/>
              </a:rPr>
              <a:t>Solution</a:t>
            </a:r>
            <a:endParaRPr lang="en-US" sz="1200" dirty="0"/>
          </a:p>
        </p:txBody>
      </p:sp>
      <p:sp>
        <p:nvSpPr>
          <p:cNvPr id="28" name="Legend competitor"/>
          <p:cNvSpPr/>
          <p:nvPr/>
        </p:nvSpPr>
        <p:spPr>
          <a:xfrm>
            <a:off x="8001000" y="5650992"/>
            <a:ext cx="182880" cy="182880"/>
          </a:xfrm>
          <a:prstGeom prst="roundRect">
            <a:avLst>
              <a:gd name="adj" fmla="val 20000"/>
            </a:avLst>
          </a:prstGeom>
          <a:solidFill>
            <a:schemeClr val="tx2"/>
          </a:solidFill>
          <a:ln w="19050">
            <a:solidFill>
              <a:schemeClr val="bg1"/>
            </a:solidFill>
            <a:prstDash val="solid"/>
          </a:ln>
        </p:spPr>
      </p:sp>
      <p:sp>
        <p:nvSpPr>
          <p:cNvPr id="29" name="Legend competitor text"/>
          <p:cNvSpPr txBox="1"/>
          <p:nvPr/>
        </p:nvSpPr>
        <p:spPr>
          <a:xfrm>
            <a:off x="8257032" y="5596128"/>
            <a:ext cx="1005840" cy="274320"/>
          </a:xfrm>
          <a:prstGeom prst="rect">
            <a:avLst/>
          </a:prstGeom>
          <a:noFill/>
          <a:ln/>
        </p:spPr>
        <p:txBody>
          <a:bodyPr wrap="square" lIns="0" tIns="0" rIns="0" bIns="0" rtlCol="0" anchor="t"/>
          <a:lstStyle/>
          <a:p>
            <a:pPr indent="0" marL="0">
              <a:buNone/>
            </a:pPr>
            <a:r>
              <a:rPr lang="en-US" sz="1200" dirty="0">
                <a:solidFill>
                  <a:srgbClr val="B3B3B3"/>
                </a:solidFill>
                <a:latin typeface="PP Mori" pitchFamily="34" charset="0"/>
                <a:ea typeface="PP Mori" pitchFamily="34" charset="-122"/>
                <a:cs typeface="PP Mori" pitchFamily="34" charset="-120"/>
              </a:rPr>
              <a:t>Competitor</a:t>
            </a:r>
            <a:endParaRPr lang="en-US" sz="1200" dirty="0"/>
          </a:p>
        </p:txBody>
      </p:sp>
      <p:sp>
        <p:nvSpPr>
          <p:cNvPr id="30" name="Legend workaround"/>
          <p:cNvSpPr/>
          <p:nvPr/>
        </p:nvSpPr>
        <p:spPr>
          <a:xfrm>
            <a:off x="9418320" y="5650992"/>
            <a:ext cx="182880" cy="182880"/>
          </a:xfrm>
          <a:prstGeom prst="ellipse">
            <a:avLst/>
          </a:prstGeom>
          <a:ln w="19050">
            <a:solidFill>
              <a:schemeClr val="bg1"/>
            </a:solidFill>
            <a:prstDash val="dash"/>
          </a:ln>
        </p:spPr>
      </p:sp>
      <p:sp>
        <p:nvSpPr>
          <p:cNvPr id="31" name="Legend workaround text"/>
          <p:cNvSpPr txBox="1"/>
          <p:nvPr/>
        </p:nvSpPr>
        <p:spPr>
          <a:xfrm>
            <a:off x="9674352" y="5596128"/>
            <a:ext cx="1737360" cy="274320"/>
          </a:xfrm>
          <a:prstGeom prst="rect">
            <a:avLst/>
          </a:prstGeom>
          <a:noFill/>
          <a:ln/>
        </p:spPr>
        <p:txBody>
          <a:bodyPr wrap="square" lIns="0" tIns="0" rIns="0" bIns="0" rtlCol="0" anchor="t"/>
          <a:lstStyle/>
          <a:p>
            <a:pPr indent="0" marL="0">
              <a:buNone/>
            </a:pPr>
            <a:r>
              <a:rPr lang="en-US" sz="1200" dirty="0">
                <a:solidFill>
                  <a:srgbClr val="B3B3B3"/>
                </a:solidFill>
                <a:latin typeface="PP Mori" pitchFamily="34" charset="0"/>
                <a:ea typeface="PP Mori" pitchFamily="34" charset="-122"/>
                <a:cs typeface="PP Mori" pitchFamily="34" charset="-120"/>
              </a:rPr>
              <a:t>Current workaround</a:t>
            </a:r>
            <a:endParaRPr lang="en-US" sz="1200" dirty="0"/>
          </a:p>
        </p:txBody>
      </p:sp>
      <p:sp>
        <p:nvSpPr>
          <p:cNvPr id="32" name="Evidence label ESTIMATE"/>
          <p:cNvSpPr/>
          <p:nvPr/>
        </p:nvSpPr>
        <p:spPr>
          <a:xfrm>
            <a:off x="8732520" y="731520"/>
            <a:ext cx="265176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ESTIMATE: ILLUSTRATIVE</a:t>
            </a:r>
            <a:endParaRPr lang="en-US" sz="12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06</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Positioning Statement</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Why is this for this person, and why would they choose it over today's workaround?</a:t>
            </a:r>
            <a:endParaRPr lang="en-US" sz="2200" dirty="0"/>
          </a:p>
        </p:txBody>
      </p:sp>
      <p:sp>
        <p:nvSpPr>
          <p:cNvPr id="5" name="Artifact pill"/>
          <p:cNvSpPr/>
          <p:nvPr/>
        </p:nvSpPr>
        <p:spPr>
          <a:xfrm>
            <a:off x="548640" y="4572000"/>
            <a:ext cx="384505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POSITIONING STATEMENT</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A proposed difference is not a reason to believe.</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Slot Target"/>
          <p:cNvSpPr/>
          <p:nvPr/>
        </p:nvSpPr>
        <p:spPr>
          <a:xfrm>
            <a:off x="6583680" y="1371600"/>
            <a:ext cx="1874520" cy="731520"/>
          </a:xfrm>
          <a:prstGeom prst="roundRect">
            <a:avLst>
              <a:gd name="adj" fmla="val 50000"/>
            </a:avLst>
          </a:prstGeom>
          <a:solidFill>
            <a:schemeClr val="bg1"/>
          </a:solidFill>
          <a:ln w="15875">
            <a:solidFill>
              <a:schemeClr val="bg1"/>
            </a:solidFill>
          </a:ln>
        </p:spPr>
        <p:txBody>
          <a:bodyPr wrap="square" lIns="50800" tIns="101600" rIns="101600" bIns="50800" rtlCol="0" anchor="ctr"/>
          <a:lstStyle/>
          <a:p>
            <a:pPr algn="ctr" indent="0" marL="0">
              <a:buNone/>
            </a:pPr>
            <a:r>
              <a:rPr lang="en-US" sz="1800" dirty="0">
                <a:solidFill>
                  <a:schemeClr val="tx1"/>
                </a:solidFill>
                <a:latin typeface="Clash Grotesk Medium" pitchFamily="34" charset="0"/>
                <a:ea typeface="Clash Grotesk Medium" pitchFamily="34" charset="-122"/>
                <a:cs typeface="Clash Grotesk Medium" pitchFamily="34" charset="-120"/>
              </a:rPr>
              <a:t>Target</a:t>
            </a:r>
            <a:endParaRPr lang="en-US" sz="1800" dirty="0"/>
          </a:p>
        </p:txBody>
      </p:sp>
      <p:sp>
        <p:nvSpPr>
          <p:cNvPr id="9" name="Text 7"/>
          <p:cNvSpPr txBox="1"/>
          <p:nvPr/>
        </p:nvSpPr>
        <p:spPr>
          <a:xfrm>
            <a:off x="8503920" y="1481328"/>
            <a:ext cx="365760" cy="457200"/>
          </a:xfrm>
          <a:prstGeom prst="rect">
            <a:avLst/>
          </a:prstGeom>
          <a:noFill/>
          <a:ln/>
        </p:spPr>
        <p:txBody>
          <a:bodyPr wrap="square" lIns="0" tIns="0" rIns="0" bIns="0" rtlCol="0" anchor="t"/>
          <a:lstStyle/>
          <a:p>
            <a:pPr algn="ctr" indent="0" marL="0">
              <a:buNone/>
            </a:pPr>
            <a:r>
              <a:rPr lang="en-US" sz="2800" dirty="0">
                <a:solidFill>
                  <a:schemeClr val="accent1"/>
                </a:solidFill>
                <a:latin typeface="Clash Grotesk Medium" pitchFamily="34" charset="0"/>
                <a:ea typeface="Clash Grotesk Medium" pitchFamily="34" charset="-122"/>
                <a:cs typeface="Clash Grotesk Medium" pitchFamily="34" charset="-120"/>
              </a:rPr>
              <a:t>+</a:t>
            </a:r>
            <a:endParaRPr lang="en-US" sz="2800" dirty="0"/>
          </a:p>
        </p:txBody>
      </p:sp>
      <p:sp>
        <p:nvSpPr>
          <p:cNvPr id="10" name="Slot Need"/>
          <p:cNvSpPr/>
          <p:nvPr/>
        </p:nvSpPr>
        <p:spPr>
          <a:xfrm>
            <a:off x="8961120" y="1371600"/>
            <a:ext cx="1874520" cy="731520"/>
          </a:xfrm>
          <a:prstGeom prst="roundRect">
            <a:avLst>
              <a:gd name="adj" fmla="val 50000"/>
            </a:avLst>
          </a:prstGeom>
          <a:solidFill>
            <a:schemeClr val="bg1"/>
          </a:solidFill>
          <a:ln w="15875">
            <a:solidFill>
              <a:schemeClr val="bg1"/>
            </a:solidFill>
          </a:ln>
        </p:spPr>
        <p:txBody>
          <a:bodyPr wrap="square" lIns="50800" tIns="101600" rIns="101600" bIns="50800" rtlCol="0" anchor="ctr"/>
          <a:lstStyle/>
          <a:p>
            <a:pPr algn="ctr" indent="0" marL="0">
              <a:buNone/>
            </a:pPr>
            <a:r>
              <a:rPr lang="en-US" sz="1800" dirty="0">
                <a:solidFill>
                  <a:schemeClr val="tx1"/>
                </a:solidFill>
                <a:latin typeface="Clash Grotesk Medium" pitchFamily="34" charset="0"/>
                <a:ea typeface="Clash Grotesk Medium" pitchFamily="34" charset="-122"/>
                <a:cs typeface="Clash Grotesk Medium" pitchFamily="34" charset="-120"/>
              </a:rPr>
              <a:t>Need</a:t>
            </a:r>
            <a:endParaRPr lang="en-US" sz="1800" dirty="0"/>
          </a:p>
        </p:txBody>
      </p:sp>
      <p:sp>
        <p:nvSpPr>
          <p:cNvPr id="11" name="Evidence label ESTIMATE"/>
          <p:cNvSpPr/>
          <p:nvPr/>
        </p:nvSpPr>
        <p:spPr>
          <a:xfrm>
            <a:off x="9875520" y="1097280"/>
            <a:ext cx="109728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ESTIMATE</a:t>
            </a:r>
            <a:endParaRPr lang="en-US" sz="1200" dirty="0"/>
          </a:p>
        </p:txBody>
      </p:sp>
      <p:sp>
        <p:nvSpPr>
          <p:cNvPr id="12" name="Slot Category"/>
          <p:cNvSpPr/>
          <p:nvPr/>
        </p:nvSpPr>
        <p:spPr>
          <a:xfrm>
            <a:off x="6583680" y="2743200"/>
            <a:ext cx="1874520" cy="731520"/>
          </a:xfrm>
          <a:prstGeom prst="roundRect">
            <a:avLst>
              <a:gd name="adj" fmla="val 50000"/>
            </a:avLst>
          </a:prstGeom>
          <a:solidFill>
            <a:schemeClr val="bg1"/>
          </a:solidFill>
          <a:ln w="15875">
            <a:solidFill>
              <a:schemeClr val="bg1"/>
            </a:solidFill>
          </a:ln>
        </p:spPr>
        <p:txBody>
          <a:bodyPr wrap="square" lIns="50800" tIns="101600" rIns="101600" bIns="50800" rtlCol="0" anchor="ctr"/>
          <a:lstStyle/>
          <a:p>
            <a:pPr algn="ctr" indent="0" marL="0">
              <a:buNone/>
            </a:pPr>
            <a:r>
              <a:rPr lang="en-US" sz="1800" dirty="0">
                <a:solidFill>
                  <a:schemeClr val="tx1"/>
                </a:solidFill>
                <a:latin typeface="Clash Grotesk Medium" pitchFamily="34" charset="0"/>
                <a:ea typeface="Clash Grotesk Medium" pitchFamily="34" charset="-122"/>
                <a:cs typeface="Clash Grotesk Medium" pitchFamily="34" charset="-120"/>
              </a:rPr>
              <a:t>Category</a:t>
            </a:r>
            <a:endParaRPr lang="en-US" sz="1800" dirty="0"/>
          </a:p>
        </p:txBody>
      </p:sp>
      <p:sp>
        <p:nvSpPr>
          <p:cNvPr id="13" name="Text 11"/>
          <p:cNvSpPr txBox="1"/>
          <p:nvPr/>
        </p:nvSpPr>
        <p:spPr>
          <a:xfrm>
            <a:off x="8503920" y="2852928"/>
            <a:ext cx="365760" cy="457200"/>
          </a:xfrm>
          <a:prstGeom prst="rect">
            <a:avLst/>
          </a:prstGeom>
          <a:noFill/>
          <a:ln/>
        </p:spPr>
        <p:txBody>
          <a:bodyPr wrap="square" lIns="0" tIns="0" rIns="0" bIns="0" rtlCol="0" anchor="t"/>
          <a:lstStyle/>
          <a:p>
            <a:pPr algn="ctr" indent="0" marL="0">
              <a:buNone/>
            </a:pPr>
            <a:r>
              <a:rPr lang="en-US" sz="2800" dirty="0">
                <a:solidFill>
                  <a:schemeClr val="accent1"/>
                </a:solidFill>
                <a:latin typeface="Clash Grotesk Medium" pitchFamily="34" charset="0"/>
                <a:ea typeface="Clash Grotesk Medium" pitchFamily="34" charset="-122"/>
                <a:cs typeface="Clash Grotesk Medium" pitchFamily="34" charset="-120"/>
              </a:rPr>
              <a:t>+</a:t>
            </a:r>
            <a:endParaRPr lang="en-US" sz="2800" dirty="0"/>
          </a:p>
        </p:txBody>
      </p:sp>
      <p:sp>
        <p:nvSpPr>
          <p:cNvPr id="14" name="Slot Benefit"/>
          <p:cNvSpPr/>
          <p:nvPr/>
        </p:nvSpPr>
        <p:spPr>
          <a:xfrm>
            <a:off x="8961120" y="2743200"/>
            <a:ext cx="1874520" cy="731520"/>
          </a:xfrm>
          <a:prstGeom prst="roundRect">
            <a:avLst>
              <a:gd name="adj" fmla="val 50000"/>
            </a:avLst>
          </a:prstGeom>
          <a:solidFill>
            <a:schemeClr val="bg1"/>
          </a:solidFill>
          <a:ln w="15875">
            <a:solidFill>
              <a:schemeClr val="bg1"/>
            </a:solidFill>
          </a:ln>
        </p:spPr>
        <p:txBody>
          <a:bodyPr wrap="square" lIns="50800" tIns="101600" rIns="101600" bIns="50800" rtlCol="0" anchor="ctr"/>
          <a:lstStyle/>
          <a:p>
            <a:pPr algn="ctr" indent="0" marL="0">
              <a:buNone/>
            </a:pPr>
            <a:r>
              <a:rPr lang="en-US" sz="1800" dirty="0">
                <a:solidFill>
                  <a:schemeClr val="tx1"/>
                </a:solidFill>
                <a:latin typeface="Clash Grotesk Medium" pitchFamily="34" charset="0"/>
                <a:ea typeface="Clash Grotesk Medium" pitchFamily="34" charset="-122"/>
                <a:cs typeface="Clash Grotesk Medium" pitchFamily="34" charset="-120"/>
              </a:rPr>
              <a:t>Benefit</a:t>
            </a:r>
            <a:endParaRPr lang="en-US" sz="1800" dirty="0"/>
          </a:p>
        </p:txBody>
      </p:sp>
      <p:sp>
        <p:nvSpPr>
          <p:cNvPr id="15" name="Slot Alternative"/>
          <p:cNvSpPr/>
          <p:nvPr/>
        </p:nvSpPr>
        <p:spPr>
          <a:xfrm>
            <a:off x="6583680" y="4114800"/>
            <a:ext cx="1874520" cy="731520"/>
          </a:xfrm>
          <a:prstGeom prst="roundRect">
            <a:avLst>
              <a:gd name="adj" fmla="val 50000"/>
            </a:avLst>
          </a:prstGeom>
          <a:solidFill>
            <a:schemeClr val="bg1"/>
          </a:solidFill>
          <a:ln w="15875">
            <a:solidFill>
              <a:schemeClr val="bg1"/>
            </a:solidFill>
          </a:ln>
        </p:spPr>
        <p:txBody>
          <a:bodyPr wrap="square" lIns="50800" tIns="101600" rIns="101600" bIns="50800" rtlCol="0" anchor="ctr"/>
          <a:lstStyle/>
          <a:p>
            <a:pPr algn="ctr" indent="0" marL="0">
              <a:buNone/>
            </a:pPr>
            <a:r>
              <a:rPr lang="en-US" sz="1800" dirty="0">
                <a:solidFill>
                  <a:schemeClr val="tx1"/>
                </a:solidFill>
                <a:latin typeface="Clash Grotesk Medium" pitchFamily="34" charset="0"/>
                <a:ea typeface="Clash Grotesk Medium" pitchFamily="34" charset="-122"/>
                <a:cs typeface="Clash Grotesk Medium" pitchFamily="34" charset="-120"/>
              </a:rPr>
              <a:t>Alternative</a:t>
            </a:r>
            <a:endParaRPr lang="en-US" sz="1800" dirty="0"/>
          </a:p>
        </p:txBody>
      </p:sp>
      <p:sp>
        <p:nvSpPr>
          <p:cNvPr id="16" name="Text 14"/>
          <p:cNvSpPr txBox="1"/>
          <p:nvPr/>
        </p:nvSpPr>
        <p:spPr>
          <a:xfrm>
            <a:off x="8503920" y="4224528"/>
            <a:ext cx="365760" cy="457200"/>
          </a:xfrm>
          <a:prstGeom prst="rect">
            <a:avLst/>
          </a:prstGeom>
          <a:noFill/>
          <a:ln/>
        </p:spPr>
        <p:txBody>
          <a:bodyPr wrap="square" lIns="0" tIns="0" rIns="0" bIns="0" rtlCol="0" anchor="t"/>
          <a:lstStyle/>
          <a:p>
            <a:pPr algn="ctr" indent="0" marL="0">
              <a:buNone/>
            </a:pPr>
            <a:r>
              <a:rPr lang="en-US" sz="2800" dirty="0">
                <a:solidFill>
                  <a:schemeClr val="accent1"/>
                </a:solidFill>
                <a:latin typeface="Clash Grotesk Medium" pitchFamily="34" charset="0"/>
                <a:ea typeface="Clash Grotesk Medium" pitchFamily="34" charset="-122"/>
                <a:cs typeface="Clash Grotesk Medium" pitchFamily="34" charset="-120"/>
              </a:rPr>
              <a:t>+</a:t>
            </a:r>
            <a:endParaRPr lang="en-US" sz="2800" dirty="0"/>
          </a:p>
        </p:txBody>
      </p:sp>
      <p:sp>
        <p:nvSpPr>
          <p:cNvPr id="17" name="Slot Difference"/>
          <p:cNvSpPr/>
          <p:nvPr/>
        </p:nvSpPr>
        <p:spPr>
          <a:xfrm>
            <a:off x="8961120" y="4114800"/>
            <a:ext cx="1874520" cy="731520"/>
          </a:xfrm>
          <a:prstGeom prst="roundRect">
            <a:avLst>
              <a:gd name="adj" fmla="val 50000"/>
            </a:avLst>
          </a:prstGeom>
          <a:solidFill>
            <a:schemeClr val="bg1"/>
          </a:solidFill>
          <a:ln w="15875">
            <a:solidFill>
              <a:schemeClr val="bg1"/>
            </a:solidFill>
          </a:ln>
        </p:spPr>
        <p:txBody>
          <a:bodyPr wrap="square" lIns="50800" tIns="101600" rIns="101600" bIns="50800" rtlCol="0" anchor="ctr"/>
          <a:lstStyle/>
          <a:p>
            <a:pPr algn="ctr" indent="0" marL="0">
              <a:buNone/>
            </a:pPr>
            <a:r>
              <a:rPr lang="en-US" sz="1800" dirty="0">
                <a:solidFill>
                  <a:schemeClr val="tx1"/>
                </a:solidFill>
                <a:latin typeface="Clash Grotesk Medium" pitchFamily="34" charset="0"/>
                <a:ea typeface="Clash Grotesk Medium" pitchFamily="34" charset="-122"/>
                <a:cs typeface="Clash Grotesk Medium" pitchFamily="34" charset="-120"/>
              </a:rPr>
              <a:t>Difference</a:t>
            </a:r>
            <a:endParaRPr lang="en-US" sz="1800" dirty="0"/>
          </a:p>
        </p:txBody>
      </p:sp>
      <p:sp>
        <p:nvSpPr>
          <p:cNvPr id="18" name="Evidence label ESTIMATE"/>
          <p:cNvSpPr/>
          <p:nvPr/>
        </p:nvSpPr>
        <p:spPr>
          <a:xfrm>
            <a:off x="9875520" y="3840480"/>
            <a:ext cx="109728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ESTIMATE</a:t>
            </a:r>
            <a:endParaRPr lang="en-US" sz="1200" dirty="0"/>
          </a:p>
        </p:txBody>
      </p:sp>
      <p:sp>
        <p:nvSpPr>
          <p:cNvPr id="19" name="Text 17"/>
          <p:cNvSpPr txBox="1"/>
          <p:nvPr/>
        </p:nvSpPr>
        <p:spPr>
          <a:xfrm>
            <a:off x="6583680" y="5303520"/>
            <a:ext cx="4754880" cy="54864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Read it aloud. Does it keep the real alternative and the uncertainty?</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question"/>
          <p:cNvSpPr txBox="1"/>
          <p:nvPr/>
        </p:nvSpPr>
        <p:spPr>
          <a:xfrm>
            <a:off x="548640" y="1463040"/>
            <a:ext cx="10607040" cy="3840480"/>
          </a:xfrm>
          <a:prstGeom prst="rect">
            <a:avLst/>
          </a:prstGeom>
          <a:noFill/>
          <a:ln/>
        </p:spPr>
        <p:txBody>
          <a:bodyPr wrap="square" lIns="0" tIns="0" rIns="0" bIns="0" rtlCol="0" anchor="ctr"/>
          <a:lstStyle/>
          <a:p>
            <a:pPr indent="0" marL="0">
              <a:buNone/>
            </a:pPr>
            <a:r>
              <a:rPr lang="en-US" sz="6600" dirty="0">
                <a:solidFill>
                  <a:schemeClr val="bg1"/>
                </a:solidFill>
                <a:latin typeface="FR Kraken Slab Medium" pitchFamily="34" charset="0"/>
                <a:ea typeface="FR Kraken Slab Medium" pitchFamily="34" charset="-122"/>
                <a:cs typeface="FR Kraken Slab Medium" pitchFamily="34" charset="-120"/>
              </a:rPr>
              <a:t>What must be true, </a:t>
            </a:r>
            <a:pPr indent="0" marL="0">
              <a:buNone/>
            </a:pPr>
            <a:r>
              <a:rPr lang="en-US" sz="6600" dirty="0">
                <a:solidFill>
                  <a:schemeClr val="accent1"/>
                </a:solidFill>
                <a:latin typeface="FR Kraken Slab Medium" pitchFamily="34" charset="0"/>
                <a:ea typeface="FR Kraken Slab Medium" pitchFamily="34" charset="-122"/>
                <a:cs typeface="FR Kraken Slab Medium" pitchFamily="34" charset="-120"/>
              </a:rPr>
              <a:t>how do we learn?</a:t>
            </a:r>
            <a:endParaRPr lang="en-US" sz="6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07</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Solution Hypothesis</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What do we believe will change, and what would make us revise or stop?</a:t>
            </a:r>
            <a:endParaRPr lang="en-US" sz="2200" dirty="0"/>
          </a:p>
        </p:txBody>
      </p:sp>
      <p:sp>
        <p:nvSpPr>
          <p:cNvPr id="5" name="Artifact pill"/>
          <p:cNvSpPr/>
          <p:nvPr/>
        </p:nvSpPr>
        <p:spPr>
          <a:xfrm>
            <a:off x="548640" y="4572000"/>
            <a:ext cx="361645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SOLUTION HYPOTHESIS</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Write the rule before the result exists.</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Hypothesis card"/>
          <p:cNvSpPr/>
          <p:nvPr/>
        </p:nvSpPr>
        <p:spPr>
          <a:xfrm>
            <a:off x="6583680" y="868680"/>
            <a:ext cx="4754880" cy="2834640"/>
          </a:xfrm>
          <a:prstGeom prst="roundRect">
            <a:avLst>
              <a:gd name="adj" fmla="val 5806"/>
            </a:avLst>
          </a:prstGeom>
          <a:solidFill>
            <a:schemeClr val="bg1"/>
          </a:solidFill>
          <a:ln w="12700">
            <a:solidFill>
              <a:schemeClr val="bg1"/>
            </a:solidFill>
            <a:prstDash val="solid"/>
          </a:ln>
        </p:spPr>
      </p:sp>
      <p:sp>
        <p:nvSpPr>
          <p:cNvPr id="9" name="Text 7"/>
          <p:cNvSpPr txBox="1"/>
          <p:nvPr/>
        </p:nvSpPr>
        <p:spPr>
          <a:xfrm>
            <a:off x="6903720" y="1097280"/>
            <a:ext cx="1097280" cy="365760"/>
          </a:xfrm>
          <a:prstGeom prst="rect">
            <a:avLst/>
          </a:prstGeom>
          <a:noFill/>
          <a:ln/>
        </p:spPr>
        <p:txBody>
          <a:bodyPr wrap="square" lIns="0" tIns="0" rIns="0" bIns="0" rtlCol="0" anchor="t"/>
          <a:lstStyle/>
          <a:p>
            <a:pPr indent="0" marL="0">
              <a:buNone/>
            </a:pPr>
            <a:r>
              <a:rPr lang="en-US" sz="2000" dirty="0">
                <a:solidFill>
                  <a:schemeClr val="tx1"/>
                </a:solidFill>
                <a:latin typeface="Clash Grotesk Medium" pitchFamily="34" charset="0"/>
                <a:ea typeface="Clash Grotesk Medium" pitchFamily="34" charset="-122"/>
                <a:cs typeface="Clash Grotesk Medium" pitchFamily="34" charset="-120"/>
              </a:rPr>
              <a:t>If we</a:t>
            </a:r>
            <a:endParaRPr lang="en-US" sz="2000" dirty="0"/>
          </a:p>
        </p:txBody>
      </p:sp>
      <p:sp>
        <p:nvSpPr>
          <p:cNvPr id="10" name="Blank If we"/>
          <p:cNvSpPr/>
          <p:nvPr/>
        </p:nvSpPr>
        <p:spPr>
          <a:xfrm>
            <a:off x="8001000" y="1417320"/>
            <a:ext cx="3017520" cy="0"/>
          </a:xfrm>
          <a:prstGeom prst="line">
            <a:avLst/>
          </a:prstGeom>
          <a:noFill/>
          <a:ln w="12700">
            <a:solidFill>
              <a:srgbClr val="9A9A9A"/>
            </a:solidFill>
            <a:prstDash val="dash"/>
          </a:ln>
        </p:spPr>
      </p:sp>
      <p:sp>
        <p:nvSpPr>
          <p:cNvPr id="11" name="Text 9"/>
          <p:cNvSpPr txBox="1"/>
          <p:nvPr/>
        </p:nvSpPr>
        <p:spPr>
          <a:xfrm>
            <a:off x="6903720" y="1737360"/>
            <a:ext cx="1097280" cy="365760"/>
          </a:xfrm>
          <a:prstGeom prst="rect">
            <a:avLst/>
          </a:prstGeom>
          <a:noFill/>
          <a:ln/>
        </p:spPr>
        <p:txBody>
          <a:bodyPr wrap="square" lIns="0" tIns="0" rIns="0" bIns="0" rtlCol="0" anchor="t"/>
          <a:lstStyle/>
          <a:p>
            <a:pPr indent="0" marL="0">
              <a:buNone/>
            </a:pPr>
            <a:r>
              <a:rPr lang="en-US" sz="2000" dirty="0">
                <a:solidFill>
                  <a:schemeClr val="tx1"/>
                </a:solidFill>
                <a:latin typeface="Clash Grotesk Medium" pitchFamily="34" charset="0"/>
                <a:ea typeface="Clash Grotesk Medium" pitchFamily="34" charset="-122"/>
                <a:cs typeface="Clash Grotesk Medium" pitchFamily="34" charset="-120"/>
              </a:rPr>
              <a:t>For</a:t>
            </a:r>
            <a:endParaRPr lang="en-US" sz="2000" dirty="0"/>
          </a:p>
        </p:txBody>
      </p:sp>
      <p:sp>
        <p:nvSpPr>
          <p:cNvPr id="12" name="Blank For"/>
          <p:cNvSpPr/>
          <p:nvPr/>
        </p:nvSpPr>
        <p:spPr>
          <a:xfrm>
            <a:off x="8001000" y="2057400"/>
            <a:ext cx="3017520" cy="0"/>
          </a:xfrm>
          <a:prstGeom prst="line">
            <a:avLst/>
          </a:prstGeom>
          <a:noFill/>
          <a:ln w="12700">
            <a:solidFill>
              <a:srgbClr val="9A9A9A"/>
            </a:solidFill>
            <a:prstDash val="dash"/>
          </a:ln>
        </p:spPr>
      </p:sp>
      <p:sp>
        <p:nvSpPr>
          <p:cNvPr id="13" name="Text 11"/>
          <p:cNvSpPr txBox="1"/>
          <p:nvPr/>
        </p:nvSpPr>
        <p:spPr>
          <a:xfrm>
            <a:off x="6903720" y="2377440"/>
            <a:ext cx="1097280" cy="365760"/>
          </a:xfrm>
          <a:prstGeom prst="rect">
            <a:avLst/>
          </a:prstGeom>
          <a:noFill/>
          <a:ln/>
        </p:spPr>
        <p:txBody>
          <a:bodyPr wrap="square" lIns="0" tIns="0" rIns="0" bIns="0" rtlCol="0" anchor="t"/>
          <a:lstStyle/>
          <a:p>
            <a:pPr indent="0" marL="0">
              <a:buNone/>
            </a:pPr>
            <a:r>
              <a:rPr lang="en-US" sz="2000" dirty="0">
                <a:solidFill>
                  <a:schemeClr val="tx1"/>
                </a:solidFill>
                <a:latin typeface="Clash Grotesk Medium" pitchFamily="34" charset="0"/>
                <a:ea typeface="Clash Grotesk Medium" pitchFamily="34" charset="-122"/>
                <a:cs typeface="Clash Grotesk Medium" pitchFamily="34" charset="-120"/>
              </a:rPr>
              <a:t>Then</a:t>
            </a:r>
            <a:endParaRPr lang="en-US" sz="2000" dirty="0"/>
          </a:p>
        </p:txBody>
      </p:sp>
      <p:sp>
        <p:nvSpPr>
          <p:cNvPr id="14" name="Blank Then"/>
          <p:cNvSpPr/>
          <p:nvPr/>
        </p:nvSpPr>
        <p:spPr>
          <a:xfrm>
            <a:off x="8001000" y="2697480"/>
            <a:ext cx="3017520" cy="0"/>
          </a:xfrm>
          <a:prstGeom prst="line">
            <a:avLst/>
          </a:prstGeom>
          <a:noFill/>
          <a:ln w="12700">
            <a:solidFill>
              <a:srgbClr val="9A9A9A"/>
            </a:solidFill>
            <a:prstDash val="dash"/>
          </a:ln>
        </p:spPr>
      </p:sp>
      <p:sp>
        <p:nvSpPr>
          <p:cNvPr id="15" name="Text 13"/>
          <p:cNvSpPr txBox="1"/>
          <p:nvPr/>
        </p:nvSpPr>
        <p:spPr>
          <a:xfrm>
            <a:off x="6903720" y="3017520"/>
            <a:ext cx="1097280" cy="365760"/>
          </a:xfrm>
          <a:prstGeom prst="rect">
            <a:avLst/>
          </a:prstGeom>
          <a:noFill/>
          <a:ln/>
        </p:spPr>
        <p:txBody>
          <a:bodyPr wrap="square" lIns="0" tIns="0" rIns="0" bIns="0" rtlCol="0" anchor="t"/>
          <a:lstStyle/>
          <a:p>
            <a:pPr indent="0" marL="0">
              <a:buNone/>
            </a:pPr>
            <a:r>
              <a:rPr lang="en-US" sz="2000" dirty="0">
                <a:solidFill>
                  <a:schemeClr val="tx1"/>
                </a:solidFill>
                <a:latin typeface="Clash Grotesk Medium" pitchFamily="34" charset="0"/>
                <a:ea typeface="Clash Grotesk Medium" pitchFamily="34" charset="-122"/>
                <a:cs typeface="Clash Grotesk Medium" pitchFamily="34" charset="-120"/>
              </a:rPr>
              <a:t>Because</a:t>
            </a:r>
            <a:endParaRPr lang="en-US" sz="2000" dirty="0"/>
          </a:p>
        </p:txBody>
      </p:sp>
      <p:sp>
        <p:nvSpPr>
          <p:cNvPr id="16" name="Blank Because"/>
          <p:cNvSpPr/>
          <p:nvPr/>
        </p:nvSpPr>
        <p:spPr>
          <a:xfrm>
            <a:off x="8001000" y="3337560"/>
            <a:ext cx="3017520" cy="0"/>
          </a:xfrm>
          <a:prstGeom prst="line">
            <a:avLst/>
          </a:prstGeom>
          <a:noFill/>
          <a:ln w="12700">
            <a:solidFill>
              <a:srgbClr val="9A9A9A"/>
            </a:solidFill>
            <a:prstDash val="dash"/>
          </a:ln>
        </p:spPr>
      </p:sp>
      <p:sp>
        <p:nvSpPr>
          <p:cNvPr id="17" name="Text 15"/>
          <p:cNvSpPr txBox="1"/>
          <p:nvPr/>
        </p:nvSpPr>
        <p:spPr>
          <a:xfrm>
            <a:off x="6583680" y="4023360"/>
            <a:ext cx="2743200" cy="27432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DECISION GATE</a:t>
            </a:r>
            <a:endParaRPr lang="en-US" sz="1200" dirty="0"/>
          </a:p>
        </p:txBody>
      </p:sp>
      <p:sp>
        <p:nvSpPr>
          <p:cNvPr id="18" name="Gate riskiest"/>
          <p:cNvSpPr/>
          <p:nvPr/>
        </p:nvSpPr>
        <p:spPr>
          <a:xfrm>
            <a:off x="6583680" y="4389120"/>
            <a:ext cx="2286000" cy="822960"/>
          </a:xfrm>
          <a:prstGeom prst="roundRect">
            <a:avLst>
              <a:gd name="adj" fmla="val 13333"/>
            </a:avLst>
          </a:prstGeom>
          <a:solidFill>
            <a:schemeClr val="tx2"/>
          </a:solidFill>
          <a:ln w="15875">
            <a:solidFill>
              <a:schemeClr val="accent1"/>
            </a:solidFill>
          </a:ln>
        </p:spPr>
        <p:txBody>
          <a:bodyPr wrap="square" lIns="50800" tIns="101600" rIns="101600" bIns="50800" rtlCol="0" anchor="ctr"/>
          <a:lstStyle/>
          <a:p>
            <a:pPr algn="l" indent="0" marL="0">
              <a:buNone/>
            </a:pPr>
            <a:r>
              <a:rPr lang="en-US" sz="1400" dirty="0">
                <a:solidFill>
                  <a:schemeClr val="bg1"/>
                </a:solidFill>
                <a:latin typeface="PP Mori" pitchFamily="34" charset="0"/>
                <a:ea typeface="PP Mori" pitchFamily="34" charset="-122"/>
                <a:cs typeface="PP Mori" pitchFamily="34" charset="-120"/>
              </a:rPr>
              <a:t>Riskiest assumption</a:t>
            </a:r>
            <a:endParaRPr lang="en-US" sz="1400" dirty="0"/>
          </a:p>
        </p:txBody>
      </p:sp>
      <p:sp>
        <p:nvSpPr>
          <p:cNvPr id="19" name="Gate rule"/>
          <p:cNvSpPr/>
          <p:nvPr/>
        </p:nvSpPr>
        <p:spPr>
          <a:xfrm>
            <a:off x="9052560" y="4389120"/>
            <a:ext cx="2286000" cy="822960"/>
          </a:xfrm>
          <a:prstGeom prst="roundRect">
            <a:avLst>
              <a:gd name="adj" fmla="val 13333"/>
            </a:avLst>
          </a:prstGeom>
          <a:solidFill>
            <a:schemeClr val="tx2"/>
          </a:solidFill>
          <a:ln w="15875">
            <a:solidFill>
              <a:schemeClr val="accent1"/>
            </a:solidFill>
          </a:ln>
        </p:spPr>
        <p:txBody>
          <a:bodyPr wrap="square" lIns="50800" tIns="101600" rIns="101600" bIns="50800" rtlCol="0" anchor="ctr"/>
          <a:lstStyle/>
          <a:p>
            <a:pPr algn="l" indent="0" marL="0">
              <a:buNone/>
            </a:pPr>
            <a:r>
              <a:rPr lang="en-US" sz="1400" dirty="0">
                <a:solidFill>
                  <a:schemeClr val="bg1"/>
                </a:solidFill>
                <a:latin typeface="PP Mori" pitchFamily="34" charset="0"/>
                <a:ea typeface="PP Mori" pitchFamily="34" charset="-122"/>
                <a:cs typeface="PP Mori" pitchFamily="34" charset="-120"/>
              </a:rPr>
              <a:t>Revise, stop or test again rule</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08</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Storyboard</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What does the story look like, from who has the problem to who else gets the win?</a:t>
            </a:r>
            <a:endParaRPr lang="en-US" sz="2200" dirty="0"/>
          </a:p>
        </p:txBody>
      </p:sp>
      <p:sp>
        <p:nvSpPr>
          <p:cNvPr id="5" name="Artifact pill"/>
          <p:cNvSpPr/>
          <p:nvPr/>
        </p:nvSpPr>
        <p:spPr>
          <a:xfrm>
            <a:off x="548640" y="4572000"/>
            <a:ext cx="258775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STORYBOARD</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Descriptive before prescriptive.</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Frame 1"/>
          <p:cNvSpPr/>
          <p:nvPr/>
        </p:nvSpPr>
        <p:spPr>
          <a:xfrm>
            <a:off x="6537960" y="1371600"/>
            <a:ext cx="1463040" cy="1463040"/>
          </a:xfrm>
          <a:prstGeom prst="roundRect">
            <a:avLst>
              <a:gd name="adj" fmla="val 6250"/>
            </a:avLst>
          </a:prstGeom>
          <a:solidFill>
            <a:schemeClr val="bg1"/>
          </a:solidFill>
          <a:ln w="25400">
            <a:solidFill>
              <a:schemeClr val="accent1"/>
            </a:solidFill>
            <a:prstDash val="solid"/>
          </a:ln>
        </p:spPr>
      </p:sp>
      <p:sp>
        <p:nvSpPr>
          <p:cNvPr id="9" name="Text 7"/>
          <p:cNvSpPr txBox="1"/>
          <p:nvPr/>
        </p:nvSpPr>
        <p:spPr>
          <a:xfrm>
            <a:off x="6537960" y="2971800"/>
            <a:ext cx="1554480" cy="320040"/>
          </a:xfrm>
          <a:prstGeom prst="rect">
            <a:avLst/>
          </a:prstGeom>
          <a:noFill/>
          <a:ln/>
        </p:spPr>
        <p:txBody>
          <a:bodyPr wrap="square" lIns="0" tIns="0" rIns="0" bIns="0" rtlCol="0" anchor="t"/>
          <a:lstStyle/>
          <a:p>
            <a:pPr algn="l" indent="0" marL="0">
              <a:buNone/>
            </a:pPr>
            <a:r>
              <a:rPr lang="en-US" sz="1300" dirty="0">
                <a:solidFill>
                  <a:schemeClr val="bg1"/>
                </a:solidFill>
                <a:latin typeface="PP Mori" pitchFamily="34" charset="0"/>
                <a:ea typeface="PP Mori" pitchFamily="34" charset="-122"/>
                <a:cs typeface="PP Mori" pitchFamily="34" charset="-120"/>
              </a:rPr>
              <a:t>1  Who has it</a:t>
            </a:r>
            <a:endParaRPr lang="en-US" sz="1300" dirty="0"/>
          </a:p>
        </p:txBody>
      </p:sp>
      <p:sp>
        <p:nvSpPr>
          <p:cNvPr id="10" name="Arrow 1"/>
          <p:cNvSpPr/>
          <p:nvPr/>
        </p:nvSpPr>
        <p:spPr>
          <a:xfrm>
            <a:off x="8019288" y="2103120"/>
            <a:ext cx="192024" cy="0"/>
          </a:xfrm>
          <a:prstGeom prst="line">
            <a:avLst/>
          </a:prstGeom>
          <a:noFill/>
          <a:ln w="25400">
            <a:solidFill>
              <a:schemeClr val="accent1"/>
            </a:solidFill>
            <a:prstDash val="solid"/>
            <a:tailEnd type="triangle"/>
          </a:ln>
        </p:spPr>
      </p:sp>
      <p:sp>
        <p:nvSpPr>
          <p:cNvPr id="11" name="Frame 2"/>
          <p:cNvSpPr/>
          <p:nvPr/>
        </p:nvSpPr>
        <p:spPr>
          <a:xfrm>
            <a:off x="8229600" y="1371600"/>
            <a:ext cx="1463040" cy="1463040"/>
          </a:xfrm>
          <a:prstGeom prst="roundRect">
            <a:avLst>
              <a:gd name="adj" fmla="val 6250"/>
            </a:avLst>
          </a:prstGeom>
          <a:solidFill>
            <a:schemeClr val="bg1"/>
          </a:solidFill>
          <a:ln w="25400">
            <a:solidFill>
              <a:schemeClr val="accent1"/>
            </a:solidFill>
            <a:prstDash val="solid"/>
          </a:ln>
        </p:spPr>
      </p:sp>
      <p:sp>
        <p:nvSpPr>
          <p:cNvPr id="12" name="Text 10"/>
          <p:cNvSpPr txBox="1"/>
          <p:nvPr/>
        </p:nvSpPr>
        <p:spPr>
          <a:xfrm>
            <a:off x="8229600" y="2971800"/>
            <a:ext cx="1554480" cy="320040"/>
          </a:xfrm>
          <a:prstGeom prst="rect">
            <a:avLst/>
          </a:prstGeom>
          <a:noFill/>
          <a:ln/>
        </p:spPr>
        <p:txBody>
          <a:bodyPr wrap="square" lIns="0" tIns="0" rIns="0" bIns="0" rtlCol="0" anchor="t"/>
          <a:lstStyle/>
          <a:p>
            <a:pPr algn="l" indent="0" marL="0">
              <a:buNone/>
            </a:pPr>
            <a:r>
              <a:rPr lang="en-US" sz="1300" dirty="0">
                <a:solidFill>
                  <a:schemeClr val="bg1"/>
                </a:solidFill>
                <a:latin typeface="PP Mori" pitchFamily="34" charset="0"/>
                <a:ea typeface="PP Mori" pitchFamily="34" charset="-122"/>
                <a:cs typeface="PP Mori" pitchFamily="34" charset="-120"/>
              </a:rPr>
              <a:t>2  The problem</a:t>
            </a:r>
            <a:endParaRPr lang="en-US" sz="1300" dirty="0"/>
          </a:p>
        </p:txBody>
      </p:sp>
      <p:sp>
        <p:nvSpPr>
          <p:cNvPr id="13" name="Arrow 2"/>
          <p:cNvSpPr/>
          <p:nvPr/>
        </p:nvSpPr>
        <p:spPr>
          <a:xfrm>
            <a:off x="9710928" y="2103120"/>
            <a:ext cx="192024" cy="0"/>
          </a:xfrm>
          <a:prstGeom prst="line">
            <a:avLst/>
          </a:prstGeom>
          <a:noFill/>
          <a:ln w="25400">
            <a:solidFill>
              <a:schemeClr val="accent1"/>
            </a:solidFill>
            <a:prstDash val="solid"/>
            <a:tailEnd type="triangle"/>
          </a:ln>
        </p:spPr>
      </p:sp>
      <p:sp>
        <p:nvSpPr>
          <p:cNvPr id="14" name="Frame 3"/>
          <p:cNvSpPr/>
          <p:nvPr/>
        </p:nvSpPr>
        <p:spPr>
          <a:xfrm>
            <a:off x="9921240" y="1371600"/>
            <a:ext cx="1463040" cy="1463040"/>
          </a:xfrm>
          <a:prstGeom prst="roundRect">
            <a:avLst>
              <a:gd name="adj" fmla="val 6250"/>
            </a:avLst>
          </a:prstGeom>
          <a:solidFill>
            <a:schemeClr val="bg1"/>
          </a:solidFill>
          <a:ln w="25400">
            <a:solidFill>
              <a:schemeClr val="accent1"/>
            </a:solidFill>
            <a:prstDash val="solid"/>
          </a:ln>
        </p:spPr>
      </p:sp>
      <p:sp>
        <p:nvSpPr>
          <p:cNvPr id="15" name="Text 13"/>
          <p:cNvSpPr txBox="1"/>
          <p:nvPr/>
        </p:nvSpPr>
        <p:spPr>
          <a:xfrm>
            <a:off x="9921240" y="2971800"/>
            <a:ext cx="1554480" cy="320040"/>
          </a:xfrm>
          <a:prstGeom prst="rect">
            <a:avLst/>
          </a:prstGeom>
          <a:noFill/>
          <a:ln/>
        </p:spPr>
        <p:txBody>
          <a:bodyPr wrap="square" lIns="0" tIns="0" rIns="0" bIns="0" rtlCol="0" anchor="t"/>
          <a:lstStyle/>
          <a:p>
            <a:pPr algn="l" indent="0" marL="0">
              <a:buNone/>
            </a:pPr>
            <a:r>
              <a:rPr lang="en-US" sz="1300" dirty="0">
                <a:solidFill>
                  <a:schemeClr val="bg1"/>
                </a:solidFill>
                <a:latin typeface="PP Mori" pitchFamily="34" charset="0"/>
                <a:ea typeface="PP Mori" pitchFamily="34" charset="-122"/>
                <a:cs typeface="PP Mori" pitchFamily="34" charset="-120"/>
              </a:rPr>
              <a:t>3  Oh crap</a:t>
            </a:r>
            <a:endParaRPr lang="en-US" sz="1300" dirty="0"/>
          </a:p>
        </p:txBody>
      </p:sp>
      <p:sp>
        <p:nvSpPr>
          <p:cNvPr id="16" name="Frame 4"/>
          <p:cNvSpPr/>
          <p:nvPr/>
        </p:nvSpPr>
        <p:spPr>
          <a:xfrm>
            <a:off x="6537960" y="3566160"/>
            <a:ext cx="1463040" cy="1463040"/>
          </a:xfrm>
          <a:prstGeom prst="roundRect">
            <a:avLst>
              <a:gd name="adj" fmla="val 6250"/>
            </a:avLst>
          </a:prstGeom>
          <a:solidFill>
            <a:schemeClr val="bg1"/>
          </a:solidFill>
          <a:ln w="25400">
            <a:solidFill>
              <a:schemeClr val="accent1"/>
            </a:solidFill>
            <a:prstDash val="solid"/>
          </a:ln>
        </p:spPr>
      </p:sp>
      <p:sp>
        <p:nvSpPr>
          <p:cNvPr id="17" name="Text 15"/>
          <p:cNvSpPr txBox="1"/>
          <p:nvPr/>
        </p:nvSpPr>
        <p:spPr>
          <a:xfrm>
            <a:off x="6537960" y="5166360"/>
            <a:ext cx="1554480" cy="320040"/>
          </a:xfrm>
          <a:prstGeom prst="rect">
            <a:avLst/>
          </a:prstGeom>
          <a:noFill/>
          <a:ln/>
        </p:spPr>
        <p:txBody>
          <a:bodyPr wrap="square" lIns="0" tIns="0" rIns="0" bIns="0" rtlCol="0" anchor="t"/>
          <a:lstStyle/>
          <a:p>
            <a:pPr algn="l" indent="0" marL="0">
              <a:buNone/>
            </a:pPr>
            <a:r>
              <a:rPr lang="en-US" sz="1300" dirty="0">
                <a:solidFill>
                  <a:schemeClr val="bg1"/>
                </a:solidFill>
                <a:latin typeface="PP Mori" pitchFamily="34" charset="0"/>
                <a:ea typeface="PP Mori" pitchFamily="34" charset="-122"/>
                <a:cs typeface="PP Mori" pitchFamily="34" charset="-120"/>
              </a:rPr>
              <a:t>4  Solution arrives</a:t>
            </a:r>
            <a:endParaRPr lang="en-US" sz="1300" dirty="0"/>
          </a:p>
        </p:txBody>
      </p:sp>
      <p:sp>
        <p:nvSpPr>
          <p:cNvPr id="18" name="Arrow 4"/>
          <p:cNvSpPr/>
          <p:nvPr/>
        </p:nvSpPr>
        <p:spPr>
          <a:xfrm>
            <a:off x="8019288" y="4297680"/>
            <a:ext cx="192024" cy="0"/>
          </a:xfrm>
          <a:prstGeom prst="line">
            <a:avLst/>
          </a:prstGeom>
          <a:noFill/>
          <a:ln w="25400">
            <a:solidFill>
              <a:schemeClr val="accent1"/>
            </a:solidFill>
            <a:prstDash val="solid"/>
            <a:tailEnd type="triangle"/>
          </a:ln>
        </p:spPr>
      </p:sp>
      <p:sp>
        <p:nvSpPr>
          <p:cNvPr id="19" name="Frame 5"/>
          <p:cNvSpPr/>
          <p:nvPr/>
        </p:nvSpPr>
        <p:spPr>
          <a:xfrm>
            <a:off x="8229600" y="3566160"/>
            <a:ext cx="1463040" cy="1463040"/>
          </a:xfrm>
          <a:prstGeom prst="roundRect">
            <a:avLst>
              <a:gd name="adj" fmla="val 6250"/>
            </a:avLst>
          </a:prstGeom>
          <a:solidFill>
            <a:schemeClr val="bg1"/>
          </a:solidFill>
          <a:ln w="25400">
            <a:solidFill>
              <a:schemeClr val="accent1"/>
            </a:solidFill>
            <a:prstDash val="solid"/>
          </a:ln>
        </p:spPr>
      </p:sp>
      <p:sp>
        <p:nvSpPr>
          <p:cNvPr id="20" name="Text 18"/>
          <p:cNvSpPr txBox="1"/>
          <p:nvPr/>
        </p:nvSpPr>
        <p:spPr>
          <a:xfrm>
            <a:off x="8229600" y="5166360"/>
            <a:ext cx="1554480" cy="320040"/>
          </a:xfrm>
          <a:prstGeom prst="rect">
            <a:avLst/>
          </a:prstGeom>
          <a:noFill/>
          <a:ln/>
        </p:spPr>
        <p:txBody>
          <a:bodyPr wrap="square" lIns="0" tIns="0" rIns="0" bIns="0" rtlCol="0" anchor="t"/>
          <a:lstStyle/>
          <a:p>
            <a:pPr algn="l" indent="0" marL="0">
              <a:buNone/>
            </a:pPr>
            <a:r>
              <a:rPr lang="en-US" sz="1300" dirty="0">
                <a:solidFill>
                  <a:schemeClr val="bg1"/>
                </a:solidFill>
                <a:latin typeface="PP Mori" pitchFamily="34" charset="0"/>
                <a:ea typeface="PP Mori" pitchFamily="34" charset="-122"/>
                <a:cs typeface="PP Mori" pitchFamily="34" charset="-120"/>
              </a:rPr>
              <a:t>5  Solution used</a:t>
            </a:r>
            <a:endParaRPr lang="en-US" sz="1300" dirty="0"/>
          </a:p>
        </p:txBody>
      </p:sp>
      <p:sp>
        <p:nvSpPr>
          <p:cNvPr id="21" name="Arrow 5"/>
          <p:cNvSpPr/>
          <p:nvPr/>
        </p:nvSpPr>
        <p:spPr>
          <a:xfrm>
            <a:off x="9710928" y="4297680"/>
            <a:ext cx="192024" cy="0"/>
          </a:xfrm>
          <a:prstGeom prst="line">
            <a:avLst/>
          </a:prstGeom>
          <a:noFill/>
          <a:ln w="25400">
            <a:solidFill>
              <a:schemeClr val="accent1"/>
            </a:solidFill>
            <a:prstDash val="solid"/>
            <a:tailEnd type="triangle"/>
          </a:ln>
        </p:spPr>
      </p:sp>
      <p:sp>
        <p:nvSpPr>
          <p:cNvPr id="22" name="Frame 6"/>
          <p:cNvSpPr/>
          <p:nvPr/>
        </p:nvSpPr>
        <p:spPr>
          <a:xfrm>
            <a:off x="9921240" y="3566160"/>
            <a:ext cx="1463040" cy="1463040"/>
          </a:xfrm>
          <a:prstGeom prst="roundRect">
            <a:avLst>
              <a:gd name="adj" fmla="val 6250"/>
            </a:avLst>
          </a:prstGeom>
          <a:solidFill>
            <a:schemeClr val="bg1"/>
          </a:solidFill>
          <a:ln w="25400">
            <a:solidFill>
              <a:schemeClr val="accent1"/>
            </a:solidFill>
            <a:prstDash val="solid"/>
          </a:ln>
        </p:spPr>
      </p:sp>
      <p:sp>
        <p:nvSpPr>
          <p:cNvPr id="23" name="Text 21"/>
          <p:cNvSpPr txBox="1"/>
          <p:nvPr/>
        </p:nvSpPr>
        <p:spPr>
          <a:xfrm>
            <a:off x="9921240" y="5166360"/>
            <a:ext cx="1554480" cy="320040"/>
          </a:xfrm>
          <a:prstGeom prst="rect">
            <a:avLst/>
          </a:prstGeom>
          <a:noFill/>
          <a:ln/>
        </p:spPr>
        <p:txBody>
          <a:bodyPr wrap="square" lIns="0" tIns="0" rIns="0" bIns="0" rtlCol="0" anchor="t"/>
          <a:lstStyle/>
          <a:p>
            <a:pPr algn="l" indent="0" marL="0">
              <a:buNone/>
            </a:pPr>
            <a:r>
              <a:rPr lang="en-US" sz="1300" dirty="0">
                <a:solidFill>
                  <a:schemeClr val="bg1"/>
                </a:solidFill>
                <a:latin typeface="PP Mori" pitchFamily="34" charset="0"/>
                <a:ea typeface="PP Mori" pitchFamily="34" charset="-122"/>
                <a:cs typeface="PP Mori" pitchFamily="34" charset="-120"/>
              </a:rPr>
              <a:t>6  Success shared</a:t>
            </a:r>
            <a:endParaRPr lang="en-US" sz="1300" dirty="0"/>
          </a:p>
        </p:txBody>
      </p:sp>
      <p:sp>
        <p:nvSpPr>
          <p:cNvPr id="24" name="Text 22"/>
          <p:cNvSpPr txBox="1"/>
          <p:nvPr/>
        </p:nvSpPr>
        <p:spPr>
          <a:xfrm>
            <a:off x="6537960" y="5486400"/>
            <a:ext cx="4754880" cy="320040"/>
          </a:xfrm>
          <a:prstGeom prst="rect">
            <a:avLst/>
          </a:prstGeom>
          <a:noFill/>
          <a:ln/>
        </p:spPr>
        <p:txBody>
          <a:bodyPr wrap="square" lIns="0" tIns="0" rIns="0" bIns="0" rtlCol="0" anchor="t"/>
          <a:lstStyle/>
          <a:p>
            <a:pPr indent="0" marL="0">
              <a:buNone/>
            </a:pPr>
            <a:r>
              <a:rPr lang="en-US" sz="1200" spc="120" kern="0" dirty="0">
                <a:solidFill>
                  <a:schemeClr val="accent4"/>
                </a:solidFill>
                <a:latin typeface="Clash Display Semibold" pitchFamily="34" charset="0"/>
                <a:ea typeface="Clash Display Semibold" pitchFamily="34" charset="-122"/>
                <a:cs typeface="Clash Display Semibold" pitchFamily="34" charset="-120"/>
              </a:rPr>
              <a:t>NOT RENDERED. Descriptive frames only.</a:t>
            </a:r>
            <a:endParaRPr lang="en-US" sz="12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09</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Minimum Viable Narrative</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What is the smallest story worth testing?</a:t>
            </a:r>
            <a:endParaRPr lang="en-US" sz="2200" dirty="0"/>
          </a:p>
        </p:txBody>
      </p:sp>
      <p:sp>
        <p:nvSpPr>
          <p:cNvPr id="5" name="Artifact pill"/>
          <p:cNvSpPr/>
          <p:nvPr/>
        </p:nvSpPr>
        <p:spPr>
          <a:xfrm>
            <a:off x="548640" y="4572000"/>
            <a:ext cx="418795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MINIMUM VIABLE NARRATIVE</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The smallest story worth testing. Not a PRD. Not a UI spec.</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Part Setup"/>
          <p:cNvSpPr/>
          <p:nvPr/>
        </p:nvSpPr>
        <p:spPr>
          <a:xfrm>
            <a:off x="6537960" y="868680"/>
            <a:ext cx="2286000" cy="548640"/>
          </a:xfrm>
          <a:prstGeom prst="roundRect">
            <a:avLst>
              <a:gd name="adj" fmla="val 50000"/>
            </a:avLst>
          </a:prstGeom>
          <a:solidFill>
            <a:schemeClr val="tx2"/>
          </a:solidFill>
          <a:ln w="15875">
            <a:solidFill>
              <a:schemeClr val="bg1"/>
            </a:solidFill>
          </a:ln>
        </p:spPr>
        <p:txBody>
          <a:bodyPr wrap="square" lIns="50800" tIns="101600" rIns="101600" bIns="50800" rtlCol="0" anchor="ctr"/>
          <a:lstStyle/>
          <a:p>
            <a:pPr algn="ct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Setup</a:t>
            </a:r>
            <a:endParaRPr lang="en-US" sz="1600" dirty="0"/>
          </a:p>
        </p:txBody>
      </p:sp>
      <p:sp>
        <p:nvSpPr>
          <p:cNvPr id="9" name="Part Encounter"/>
          <p:cNvSpPr/>
          <p:nvPr/>
        </p:nvSpPr>
        <p:spPr>
          <a:xfrm>
            <a:off x="9098280" y="868680"/>
            <a:ext cx="2286000" cy="548640"/>
          </a:xfrm>
          <a:prstGeom prst="roundRect">
            <a:avLst>
              <a:gd name="adj" fmla="val 50000"/>
            </a:avLst>
          </a:prstGeom>
          <a:solidFill>
            <a:schemeClr val="tx2"/>
          </a:solidFill>
          <a:ln w="15875">
            <a:solidFill>
              <a:schemeClr val="bg1"/>
            </a:solidFill>
          </a:ln>
        </p:spPr>
        <p:txBody>
          <a:bodyPr wrap="square" lIns="50800" tIns="101600" rIns="101600" bIns="50800" rtlCol="0" anchor="ctr"/>
          <a:lstStyle/>
          <a:p>
            <a:pPr algn="ct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Encounter</a:t>
            </a:r>
            <a:endParaRPr lang="en-US" sz="1600" dirty="0"/>
          </a:p>
        </p:txBody>
      </p:sp>
      <p:sp>
        <p:nvSpPr>
          <p:cNvPr id="10" name="Setup to Encounter"/>
          <p:cNvSpPr/>
          <p:nvPr/>
        </p:nvSpPr>
        <p:spPr>
          <a:xfrm>
            <a:off x="8823960" y="1143000"/>
            <a:ext cx="274320" cy="0"/>
          </a:xfrm>
          <a:prstGeom prst="line">
            <a:avLst/>
          </a:prstGeom>
          <a:noFill/>
          <a:ln w="25400">
            <a:solidFill>
              <a:schemeClr val="bg1"/>
            </a:solidFill>
            <a:prstDash val="solid"/>
            <a:tailEnd type="triangle"/>
          </a:ln>
        </p:spPr>
      </p:sp>
      <p:sp>
        <p:nvSpPr>
          <p:cNvPr id="11" name="Encounter to loop"/>
          <p:cNvSpPr/>
          <p:nvPr/>
        </p:nvSpPr>
        <p:spPr>
          <a:xfrm>
            <a:off x="10241280" y="1417320"/>
            <a:ext cx="0" cy="320040"/>
          </a:xfrm>
          <a:prstGeom prst="line">
            <a:avLst/>
          </a:prstGeom>
          <a:noFill/>
          <a:ln w="25400">
            <a:solidFill>
              <a:schemeClr val="bg1"/>
            </a:solidFill>
            <a:prstDash val="solid"/>
            <a:tailEnd type="triangle"/>
          </a:ln>
        </p:spPr>
      </p:sp>
      <p:sp>
        <p:nvSpPr>
          <p:cNvPr id="12" name="Interaction loop container"/>
          <p:cNvSpPr/>
          <p:nvPr/>
        </p:nvSpPr>
        <p:spPr>
          <a:xfrm>
            <a:off x="6537960" y="1737360"/>
            <a:ext cx="4846320" cy="3474720"/>
          </a:xfrm>
          <a:prstGeom prst="roundRect">
            <a:avLst>
              <a:gd name="adj" fmla="val 5263"/>
            </a:avLst>
          </a:prstGeom>
          <a:ln w="25400">
            <a:solidFill>
              <a:schemeClr val="accent1"/>
            </a:solidFill>
            <a:prstDash val="dash"/>
          </a:ln>
        </p:spPr>
      </p:sp>
      <p:sp>
        <p:nvSpPr>
          <p:cNvPr id="13" name="Loop label"/>
          <p:cNvSpPr txBox="1"/>
          <p:nvPr/>
        </p:nvSpPr>
        <p:spPr>
          <a:xfrm>
            <a:off x="6766560" y="1874520"/>
            <a:ext cx="4389120" cy="27432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THE LOOP: 3 TO 6 EXCHANGES</a:t>
            </a:r>
            <a:endParaRPr lang="en-US" sz="1200" dirty="0"/>
          </a:p>
        </p:txBody>
      </p:sp>
      <p:sp>
        <p:nvSpPr>
          <p:cNvPr id="14" name="Action 1"/>
          <p:cNvSpPr/>
          <p:nvPr/>
        </p:nvSpPr>
        <p:spPr>
          <a:xfrm>
            <a:off x="6812280" y="2331720"/>
            <a:ext cx="1737360" cy="502920"/>
          </a:xfrm>
          <a:prstGeom prst="roundRect">
            <a:avLst>
              <a:gd name="adj" fmla="val 49091"/>
            </a:avLst>
          </a:prstGeom>
          <a:solidFill>
            <a:schemeClr val="accent1"/>
          </a:solidFill>
          <a:ln w="15875">
            <a:solidFill>
              <a:schemeClr val="accent1"/>
            </a:solidFill>
          </a:ln>
        </p:spPr>
        <p:txBody>
          <a:bodyPr wrap="square" lIns="50800" tIns="101600" rIns="101600" bIns="50800" rtlCol="0" anchor="ctr"/>
          <a:lstStyle/>
          <a:p>
            <a:pPr algn="ctr" indent="0" marL="0">
              <a:buNone/>
            </a:pPr>
            <a:r>
              <a:rPr lang="en-US" sz="1500" dirty="0">
                <a:solidFill>
                  <a:schemeClr val="tx1"/>
                </a:solidFill>
                <a:latin typeface="Clash Grotesk Medium" pitchFamily="34" charset="0"/>
                <a:ea typeface="Clash Grotesk Medium" pitchFamily="34" charset="-122"/>
                <a:cs typeface="Clash Grotesk Medium" pitchFamily="34" charset="-120"/>
              </a:rPr>
              <a:t>Action 1</a:t>
            </a:r>
            <a:endParaRPr lang="en-US" sz="1500" dirty="0"/>
          </a:p>
        </p:txBody>
      </p:sp>
      <p:sp>
        <p:nvSpPr>
          <p:cNvPr id="15" name="Action 1 to Response 1"/>
          <p:cNvSpPr/>
          <p:nvPr/>
        </p:nvSpPr>
        <p:spPr>
          <a:xfrm>
            <a:off x="8595360" y="2583180"/>
            <a:ext cx="457200" cy="0"/>
          </a:xfrm>
          <a:prstGeom prst="line">
            <a:avLst/>
          </a:prstGeom>
          <a:noFill/>
          <a:ln w="25400">
            <a:solidFill>
              <a:schemeClr val="bg1"/>
            </a:solidFill>
            <a:prstDash val="solid"/>
            <a:tailEnd type="triangle"/>
          </a:ln>
        </p:spPr>
      </p:sp>
      <p:sp>
        <p:nvSpPr>
          <p:cNvPr id="16" name="Response 1"/>
          <p:cNvSpPr/>
          <p:nvPr/>
        </p:nvSpPr>
        <p:spPr>
          <a:xfrm>
            <a:off x="9098280" y="2331720"/>
            <a:ext cx="2011680" cy="502920"/>
          </a:xfrm>
          <a:prstGeom prst="roundRect">
            <a:avLst>
              <a:gd name="adj" fmla="val 49091"/>
            </a:avLst>
          </a:prstGeom>
          <a:solidFill>
            <a:schemeClr val="tx2"/>
          </a:solidFill>
          <a:ln w="15875">
            <a:solidFill>
              <a:schemeClr val="bg1"/>
            </a:solidFill>
          </a:ln>
        </p:spPr>
        <p:txBody>
          <a:bodyPr wrap="square" lIns="50800" tIns="101600" rIns="101600" bIns="50800" rtlCol="0" anchor="ctr"/>
          <a:lstStyle/>
          <a:p>
            <a:pPr algn="ctr" indent="0" marL="0">
              <a:buNone/>
            </a:pPr>
            <a:r>
              <a:rPr lang="en-US" sz="1500" dirty="0">
                <a:solidFill>
                  <a:schemeClr val="bg1"/>
                </a:solidFill>
                <a:latin typeface="Clash Grotesk Medium" pitchFamily="34" charset="0"/>
                <a:ea typeface="Clash Grotesk Medium" pitchFamily="34" charset="-122"/>
                <a:cs typeface="Clash Grotesk Medium" pitchFamily="34" charset="-120"/>
              </a:rPr>
              <a:t>Response 1</a:t>
            </a:r>
            <a:endParaRPr lang="en-US" sz="1500" dirty="0"/>
          </a:p>
        </p:txBody>
      </p:sp>
      <p:sp>
        <p:nvSpPr>
          <p:cNvPr id="17" name="Action 2"/>
          <p:cNvSpPr/>
          <p:nvPr/>
        </p:nvSpPr>
        <p:spPr>
          <a:xfrm>
            <a:off x="6812280" y="3108960"/>
            <a:ext cx="1737360" cy="502920"/>
          </a:xfrm>
          <a:prstGeom prst="roundRect">
            <a:avLst>
              <a:gd name="adj" fmla="val 49091"/>
            </a:avLst>
          </a:prstGeom>
          <a:solidFill>
            <a:schemeClr val="accent1"/>
          </a:solidFill>
          <a:ln w="15875">
            <a:solidFill>
              <a:schemeClr val="accent1"/>
            </a:solidFill>
          </a:ln>
        </p:spPr>
        <p:txBody>
          <a:bodyPr wrap="square" lIns="50800" tIns="101600" rIns="101600" bIns="50800" rtlCol="0" anchor="ctr"/>
          <a:lstStyle/>
          <a:p>
            <a:pPr algn="ctr" indent="0" marL="0">
              <a:buNone/>
            </a:pPr>
            <a:r>
              <a:rPr lang="en-US" sz="1500" dirty="0">
                <a:solidFill>
                  <a:schemeClr val="tx1"/>
                </a:solidFill>
                <a:latin typeface="Clash Grotesk Medium" pitchFamily="34" charset="0"/>
                <a:ea typeface="Clash Grotesk Medium" pitchFamily="34" charset="-122"/>
                <a:cs typeface="Clash Grotesk Medium" pitchFamily="34" charset="-120"/>
              </a:rPr>
              <a:t>Action 2</a:t>
            </a:r>
            <a:endParaRPr lang="en-US" sz="1500" dirty="0"/>
          </a:p>
        </p:txBody>
      </p:sp>
      <p:sp>
        <p:nvSpPr>
          <p:cNvPr id="18" name="Action 2 to Response 2"/>
          <p:cNvSpPr/>
          <p:nvPr/>
        </p:nvSpPr>
        <p:spPr>
          <a:xfrm>
            <a:off x="8595360" y="3360420"/>
            <a:ext cx="457200" cy="0"/>
          </a:xfrm>
          <a:prstGeom prst="line">
            <a:avLst/>
          </a:prstGeom>
          <a:noFill/>
          <a:ln w="25400">
            <a:solidFill>
              <a:schemeClr val="bg1"/>
            </a:solidFill>
            <a:prstDash val="solid"/>
            <a:tailEnd type="triangle"/>
          </a:ln>
        </p:spPr>
      </p:sp>
      <p:sp>
        <p:nvSpPr>
          <p:cNvPr id="19" name="Response 2"/>
          <p:cNvSpPr/>
          <p:nvPr/>
        </p:nvSpPr>
        <p:spPr>
          <a:xfrm>
            <a:off x="9098280" y="3108960"/>
            <a:ext cx="2011680" cy="502920"/>
          </a:xfrm>
          <a:prstGeom prst="roundRect">
            <a:avLst>
              <a:gd name="adj" fmla="val 49091"/>
            </a:avLst>
          </a:prstGeom>
          <a:solidFill>
            <a:schemeClr val="tx2"/>
          </a:solidFill>
          <a:ln w="15875">
            <a:solidFill>
              <a:schemeClr val="bg1"/>
            </a:solidFill>
          </a:ln>
        </p:spPr>
        <p:txBody>
          <a:bodyPr wrap="square" lIns="50800" tIns="101600" rIns="101600" bIns="50800" rtlCol="0" anchor="ctr"/>
          <a:lstStyle/>
          <a:p>
            <a:pPr algn="ctr" indent="0" marL="0">
              <a:buNone/>
            </a:pPr>
            <a:r>
              <a:rPr lang="en-US" sz="1500" dirty="0">
                <a:solidFill>
                  <a:schemeClr val="bg1"/>
                </a:solidFill>
                <a:latin typeface="Clash Grotesk Medium" pitchFamily="34" charset="0"/>
                <a:ea typeface="Clash Grotesk Medium" pitchFamily="34" charset="-122"/>
                <a:cs typeface="Clash Grotesk Medium" pitchFamily="34" charset="-120"/>
              </a:rPr>
              <a:t>Response 2</a:t>
            </a:r>
            <a:endParaRPr lang="en-US" sz="1500" dirty="0"/>
          </a:p>
        </p:txBody>
      </p:sp>
      <p:sp>
        <p:nvSpPr>
          <p:cNvPr id="20" name="Action 3"/>
          <p:cNvSpPr/>
          <p:nvPr/>
        </p:nvSpPr>
        <p:spPr>
          <a:xfrm>
            <a:off x="6812280" y="3886200"/>
            <a:ext cx="1737360" cy="502920"/>
          </a:xfrm>
          <a:prstGeom prst="roundRect">
            <a:avLst>
              <a:gd name="adj" fmla="val 49091"/>
            </a:avLst>
          </a:prstGeom>
          <a:solidFill>
            <a:schemeClr val="accent1"/>
          </a:solidFill>
          <a:ln w="15875">
            <a:solidFill>
              <a:schemeClr val="accent1"/>
            </a:solidFill>
          </a:ln>
        </p:spPr>
        <p:txBody>
          <a:bodyPr wrap="square" lIns="50800" tIns="101600" rIns="101600" bIns="50800" rtlCol="0" anchor="ctr"/>
          <a:lstStyle/>
          <a:p>
            <a:pPr algn="ctr" indent="0" marL="0">
              <a:buNone/>
            </a:pPr>
            <a:r>
              <a:rPr lang="en-US" sz="1500" dirty="0">
                <a:solidFill>
                  <a:schemeClr val="tx1"/>
                </a:solidFill>
                <a:latin typeface="Clash Grotesk Medium" pitchFamily="34" charset="0"/>
                <a:ea typeface="Clash Grotesk Medium" pitchFamily="34" charset="-122"/>
                <a:cs typeface="Clash Grotesk Medium" pitchFamily="34" charset="-120"/>
              </a:rPr>
              <a:t>Action 3</a:t>
            </a:r>
            <a:endParaRPr lang="en-US" sz="1500" dirty="0"/>
          </a:p>
        </p:txBody>
      </p:sp>
      <p:sp>
        <p:nvSpPr>
          <p:cNvPr id="21" name="Action 3 to Response 3"/>
          <p:cNvSpPr/>
          <p:nvPr/>
        </p:nvSpPr>
        <p:spPr>
          <a:xfrm>
            <a:off x="8595360" y="4137660"/>
            <a:ext cx="457200" cy="0"/>
          </a:xfrm>
          <a:prstGeom prst="line">
            <a:avLst/>
          </a:prstGeom>
          <a:noFill/>
          <a:ln w="25400">
            <a:solidFill>
              <a:schemeClr val="bg1"/>
            </a:solidFill>
            <a:prstDash val="solid"/>
            <a:tailEnd type="triangle"/>
          </a:ln>
        </p:spPr>
      </p:sp>
      <p:sp>
        <p:nvSpPr>
          <p:cNvPr id="22" name="Response 3"/>
          <p:cNvSpPr/>
          <p:nvPr/>
        </p:nvSpPr>
        <p:spPr>
          <a:xfrm>
            <a:off x="9098280" y="3886200"/>
            <a:ext cx="2011680" cy="502920"/>
          </a:xfrm>
          <a:prstGeom prst="roundRect">
            <a:avLst>
              <a:gd name="adj" fmla="val 49091"/>
            </a:avLst>
          </a:prstGeom>
          <a:solidFill>
            <a:schemeClr val="tx2"/>
          </a:solidFill>
          <a:ln w="15875">
            <a:solidFill>
              <a:schemeClr val="bg1"/>
            </a:solidFill>
          </a:ln>
        </p:spPr>
        <p:txBody>
          <a:bodyPr wrap="square" lIns="50800" tIns="101600" rIns="101600" bIns="50800" rtlCol="0" anchor="ctr"/>
          <a:lstStyle/>
          <a:p>
            <a:pPr algn="ctr" indent="0" marL="0">
              <a:buNone/>
            </a:pPr>
            <a:r>
              <a:rPr lang="en-US" sz="1500" dirty="0">
                <a:solidFill>
                  <a:schemeClr val="bg1"/>
                </a:solidFill>
                <a:latin typeface="Clash Grotesk Medium" pitchFamily="34" charset="0"/>
                <a:ea typeface="Clash Grotesk Medium" pitchFamily="34" charset="-122"/>
                <a:cs typeface="Clash Grotesk Medium" pitchFamily="34" charset="-120"/>
              </a:rPr>
              <a:t>Response 3</a:t>
            </a:r>
            <a:endParaRPr lang="en-US" sz="1500" dirty="0"/>
          </a:p>
        </p:txBody>
      </p:sp>
      <p:sp>
        <p:nvSpPr>
          <p:cNvPr id="23" name="Loop caption"/>
          <p:cNvSpPr txBox="1"/>
          <p:nvPr/>
        </p:nvSpPr>
        <p:spPr>
          <a:xfrm>
            <a:off x="6766560" y="4663440"/>
            <a:ext cx="4389120" cy="274320"/>
          </a:xfrm>
          <a:prstGeom prst="rect">
            <a:avLst/>
          </a:prstGeom>
          <a:noFill/>
          <a:ln/>
        </p:spPr>
        <p:txBody>
          <a:bodyPr wrap="square" lIns="0" tIns="0" rIns="0" bIns="0" rtlCol="0" anchor="t"/>
          <a:lstStyle/>
          <a:p>
            <a:pPr indent="0" marL="0">
              <a:buNone/>
            </a:pPr>
            <a:r>
              <a:rPr lang="en-US" sz="1200" dirty="0">
                <a:solidFill>
                  <a:srgbClr val="B3B3B3"/>
                </a:solidFill>
                <a:latin typeface="PP Mori" pitchFamily="34" charset="0"/>
                <a:ea typeface="PP Mori" pitchFamily="34" charset="-122"/>
                <a:cs typeface="PP Mori" pitchFamily="34" charset="-120"/>
              </a:rPr>
              <a:t>Each response prompts the next action. Repeat.</a:t>
            </a:r>
            <a:endParaRPr lang="en-US" sz="1200" dirty="0"/>
          </a:p>
        </p:txBody>
      </p:sp>
      <p:sp>
        <p:nvSpPr>
          <p:cNvPr id="24" name="Loop to Resolution"/>
          <p:cNvSpPr/>
          <p:nvPr/>
        </p:nvSpPr>
        <p:spPr>
          <a:xfrm>
            <a:off x="8961120" y="5212080"/>
            <a:ext cx="0" cy="182880"/>
          </a:xfrm>
          <a:prstGeom prst="line">
            <a:avLst/>
          </a:prstGeom>
          <a:noFill/>
          <a:ln w="25400">
            <a:solidFill>
              <a:schemeClr val="bg1"/>
            </a:solidFill>
            <a:prstDash val="solid"/>
            <a:tailEnd type="triangle"/>
          </a:ln>
        </p:spPr>
      </p:sp>
      <p:sp>
        <p:nvSpPr>
          <p:cNvPr id="25" name="Part Resolution"/>
          <p:cNvSpPr/>
          <p:nvPr/>
        </p:nvSpPr>
        <p:spPr>
          <a:xfrm>
            <a:off x="7818120" y="5394960"/>
            <a:ext cx="2286000" cy="548640"/>
          </a:xfrm>
          <a:prstGeom prst="roundRect">
            <a:avLst>
              <a:gd name="adj" fmla="val 50000"/>
            </a:avLst>
          </a:prstGeom>
          <a:solidFill>
            <a:schemeClr val="tx2"/>
          </a:solidFill>
          <a:ln w="15875">
            <a:solidFill>
              <a:schemeClr val="bg1"/>
            </a:solidFill>
          </a:ln>
        </p:spPr>
        <p:txBody>
          <a:bodyPr wrap="square" lIns="50800" tIns="101600" rIns="101600" bIns="50800" rtlCol="0" anchor="ctr"/>
          <a:lstStyle/>
          <a:p>
            <a:pPr algn="ct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Resolution</a:t>
            </a:r>
            <a:endParaRPr lang="en-US" sz="16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10</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Prototyping</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What is the smallest, cheapest test we can run to learn the most brutal truth?</a:t>
            </a:r>
            <a:endParaRPr lang="en-US" sz="2200" dirty="0"/>
          </a:p>
        </p:txBody>
      </p:sp>
      <p:sp>
        <p:nvSpPr>
          <p:cNvPr id="5" name="Artifact pill"/>
          <p:cNvSpPr/>
          <p:nvPr/>
        </p:nvSpPr>
        <p:spPr>
          <a:xfrm>
            <a:off x="548640" y="4572000"/>
            <a:ext cx="441655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PROTOTYPE EXPERIMENT BRIEF</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The tiniest act of discovery wins.</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Brief card"/>
          <p:cNvSpPr/>
          <p:nvPr/>
        </p:nvSpPr>
        <p:spPr>
          <a:xfrm>
            <a:off x="6629400" y="1005840"/>
            <a:ext cx="4663440" cy="3108960"/>
          </a:xfrm>
          <a:prstGeom prst="roundRect">
            <a:avLst>
              <a:gd name="adj" fmla="val 5294"/>
            </a:avLst>
          </a:prstGeom>
          <a:solidFill>
            <a:schemeClr val="bg1"/>
          </a:solidFill>
          <a:ln w="12700">
            <a:solidFill>
              <a:schemeClr val="bg1"/>
            </a:solidFill>
            <a:prstDash val="solid"/>
          </a:ln>
        </p:spPr>
      </p:sp>
      <p:sp>
        <p:nvSpPr>
          <p:cNvPr id="9" name="Struck request"/>
          <p:cNvSpPr txBox="1"/>
          <p:nvPr/>
        </p:nvSpPr>
        <p:spPr>
          <a:xfrm>
            <a:off x="6995160" y="1371600"/>
            <a:ext cx="3931920" cy="1188720"/>
          </a:xfrm>
          <a:prstGeom prst="rect">
            <a:avLst/>
          </a:prstGeom>
          <a:noFill/>
          <a:ln/>
        </p:spPr>
        <p:txBody>
          <a:bodyPr wrap="square" lIns="0" tIns="0" rIns="0" bIns="0" rtlCol="0" anchor="t"/>
          <a:lstStyle/>
          <a:p>
            <a:pPr indent="0" marL="0">
              <a:buNone/>
            </a:pPr>
            <a:r>
              <a:rPr lang="en-US" sz="2600" strike="sngStrike" dirty="0">
                <a:solidFill>
                  <a:srgbClr val="7A7A7A"/>
                </a:solidFill>
                <a:latin typeface="Clash Grotesk Medium" pitchFamily="34" charset="0"/>
                <a:ea typeface="Clash Grotesk Medium" pitchFamily="34" charset="-122"/>
                <a:cs typeface="Clash Grotesk Medium" pitchFamily="34" charset="-120"/>
              </a:rPr>
              <a:t>Build an AI predictive-maintenance dashboard.</a:t>
            </a:r>
            <a:endParaRPr lang="en-US" sz="2600" dirty="0"/>
          </a:p>
        </p:txBody>
      </p:sp>
      <p:sp>
        <p:nvSpPr>
          <p:cNvPr id="10" name="Tiniest act wins stamp"/>
          <p:cNvSpPr/>
          <p:nvPr/>
        </p:nvSpPr>
        <p:spPr>
          <a:xfrm rot="21300000">
            <a:off x="7086600" y="2560320"/>
            <a:ext cx="3749040" cy="1097280"/>
          </a:xfrm>
          <a:prstGeom prst="roundRect">
            <a:avLst>
              <a:gd name="adj" fmla="val 8333"/>
            </a:avLst>
          </a:prstGeom>
          <a:ln w="63500">
            <a:solidFill>
              <a:schemeClr val="accent1"/>
            </a:solidFill>
          </a:ln>
        </p:spPr>
        <p:txBody>
          <a:bodyPr wrap="square" lIns="0" tIns="0" rIns="0" bIns="0" rtlCol="0" anchor="ctr"/>
          <a:lstStyle/>
          <a:p>
            <a:pPr algn="ctr" indent="0" marL="0">
              <a:buNone/>
            </a:pPr>
            <a:r>
              <a:rPr lang="en-US" sz="3000" dirty="0">
                <a:solidFill>
                  <a:srgbClr val="00C765"/>
                </a:solidFill>
                <a:latin typeface="Clash Grotesk Medium" pitchFamily="34" charset="0"/>
                <a:ea typeface="Clash Grotesk Medium" pitchFamily="34" charset="-122"/>
                <a:cs typeface="Clash Grotesk Medium" pitchFamily="34" charset="-120"/>
              </a:rPr>
              <a:t>TINIEST ACT WINS</a:t>
            </a:r>
            <a:endParaRPr lang="en-US" sz="3000" dirty="0"/>
          </a:p>
        </p:txBody>
      </p:sp>
      <p:sp>
        <p:nvSpPr>
          <p:cNvPr id="11" name="Pill NOT BUILT"/>
          <p:cNvSpPr/>
          <p:nvPr/>
        </p:nvSpPr>
        <p:spPr>
          <a:xfrm>
            <a:off x="6629400" y="4480560"/>
            <a:ext cx="146304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NOT BUILT</a:t>
            </a:r>
            <a:endParaRPr lang="en-US" sz="1200" dirty="0"/>
          </a:p>
        </p:txBody>
      </p:sp>
      <p:sp>
        <p:nvSpPr>
          <p:cNvPr id="12" name="Pill NOT RUN"/>
          <p:cNvSpPr/>
          <p:nvPr/>
        </p:nvSpPr>
        <p:spPr>
          <a:xfrm>
            <a:off x="8275320" y="4480560"/>
            <a:ext cx="128016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NOT RUN</a:t>
            </a:r>
            <a:endParaRPr lang="en-US" sz="1200" dirty="0"/>
          </a:p>
        </p:txBody>
      </p:sp>
      <p:sp>
        <p:nvSpPr>
          <p:cNvPr id="13" name="Text 11"/>
          <p:cNvSpPr txBox="1"/>
          <p:nvPr/>
        </p:nvSpPr>
        <p:spPr>
          <a:xfrm>
            <a:off x="6629400" y="4983480"/>
            <a:ext cx="4663440" cy="82296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Next evidence task: examine recent real decisions with relevant practitioners.</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548640" y="640080"/>
            <a:ext cx="7315200" cy="822960"/>
          </a:xfrm>
          <a:prstGeom prst="rect">
            <a:avLst/>
          </a:prstGeom>
          <a:noFill/>
          <a:ln/>
        </p:spPr>
        <p:txBody>
          <a:bodyPr wrap="square" lIns="0" tIns="0" rIns="0" bIns="0" rtlCol="0" anchor="t"/>
          <a:lstStyle/>
          <a:p>
            <a:pPr indent="0" marL="0">
              <a:buNone/>
            </a:pPr>
            <a:r>
              <a:rPr lang="en-US" sz="4400" dirty="0">
                <a:solidFill>
                  <a:schemeClr val="bg1"/>
                </a:solidFill>
                <a:latin typeface="Clash Grotesk Medium" pitchFamily="34" charset="0"/>
                <a:ea typeface="Clash Grotesk Medium" pitchFamily="34" charset="-122"/>
                <a:cs typeface="Clash Grotesk Medium" pitchFamily="34" charset="-120"/>
              </a:rPr>
              <a:t>The fidelity ladder</a:t>
            </a:r>
            <a:endParaRPr lang="en-US" sz="4400" dirty="0"/>
          </a:p>
        </p:txBody>
      </p:sp>
      <p:sp>
        <p:nvSpPr>
          <p:cNvPr id="3" name="Ladder question"/>
          <p:cNvSpPr txBox="1"/>
          <p:nvPr/>
        </p:nvSpPr>
        <p:spPr>
          <a:xfrm>
            <a:off x="548640" y="1463040"/>
            <a:ext cx="7772400" cy="457200"/>
          </a:xfrm>
          <a:prstGeom prst="rect">
            <a:avLst/>
          </a:prstGeom>
          <a:noFill/>
          <a:ln/>
        </p:spPr>
        <p:txBody>
          <a:bodyPr wrap="square" lIns="0" tIns="0" rIns="0" bIns="0" rtlCol="0" anchor="t"/>
          <a:lstStyle/>
          <a:p>
            <a:pPr indent="0" marL="0">
              <a:buNone/>
            </a:pPr>
            <a:r>
              <a:rPr lang="en-US" sz="2200" dirty="0">
                <a:solidFill>
                  <a:srgbClr val="B3B3B3"/>
                </a:solidFill>
                <a:latin typeface="PP Mori" pitchFamily="34" charset="0"/>
                <a:ea typeface="PP Mori" pitchFamily="34" charset="-122"/>
                <a:cs typeface="PP Mori" pitchFamily="34" charset="-120"/>
              </a:rPr>
              <a:t>What can we learn at this fidelity that we could not learn more cheaply?</a:t>
            </a:r>
            <a:endParaRPr lang="en-US" sz="2200" dirty="0"/>
          </a:p>
        </p:txBody>
      </p:sp>
      <p:sp>
        <p:nvSpPr>
          <p:cNvPr id="4" name="Step Conversation"/>
          <p:cNvSpPr/>
          <p:nvPr/>
        </p:nvSpPr>
        <p:spPr>
          <a:xfrm>
            <a:off x="548640" y="4754880"/>
            <a:ext cx="2651760" cy="1097280"/>
          </a:xfrm>
          <a:prstGeom prst="roundRect">
            <a:avLst>
              <a:gd name="adj" fmla="val 8333"/>
            </a:avLst>
          </a:prstGeom>
          <a:solidFill>
            <a:schemeClr val="accent1"/>
          </a:solidFill>
          <a:ln w="15875">
            <a:solidFill>
              <a:schemeClr val="accent1"/>
            </a:solidFill>
          </a:ln>
        </p:spPr>
        <p:txBody>
          <a:bodyPr wrap="square" lIns="50800" tIns="101600" rIns="101600" bIns="50800" rtlCol="0" anchor="ctr"/>
          <a:lstStyle/>
          <a:p>
            <a:pPr algn="l" indent="0" marL="0">
              <a:buNone/>
            </a:pPr>
            <a:endParaRPr lang="en-US" sz="1300" dirty="0"/>
          </a:p>
        </p:txBody>
      </p:sp>
      <p:sp>
        <p:nvSpPr>
          <p:cNvPr id="5" name="Step label Conversation"/>
          <p:cNvSpPr txBox="1"/>
          <p:nvPr/>
        </p:nvSpPr>
        <p:spPr>
          <a:xfrm>
            <a:off x="731520" y="4892040"/>
            <a:ext cx="2377440" cy="365760"/>
          </a:xfrm>
          <a:prstGeom prst="rect">
            <a:avLst/>
          </a:prstGeom>
          <a:noFill/>
          <a:ln/>
        </p:spPr>
        <p:txBody>
          <a:bodyPr wrap="square" lIns="0" tIns="0" rIns="0" bIns="0" rtlCol="0" anchor="t"/>
          <a:lstStyle/>
          <a:p>
            <a:pPr indent="0" marL="0">
              <a:buNone/>
            </a:pPr>
            <a:r>
              <a:rPr lang="en-US" sz="1600" dirty="0">
                <a:solidFill>
                  <a:schemeClr val="tx1"/>
                </a:solidFill>
                <a:latin typeface="Clash Grotesk Medium" pitchFamily="34" charset="0"/>
                <a:ea typeface="Clash Grotesk Medium" pitchFamily="34" charset="-122"/>
                <a:cs typeface="Clash Grotesk Medium" pitchFamily="34" charset="-120"/>
              </a:rPr>
              <a:t>Conversation</a:t>
            </a:r>
            <a:endParaRPr lang="en-US" sz="1600" dirty="0"/>
          </a:p>
        </p:txBody>
      </p:sp>
      <p:sp>
        <p:nvSpPr>
          <p:cNvPr id="6" name="Step cost Conversation"/>
          <p:cNvSpPr txBox="1"/>
          <p:nvPr/>
        </p:nvSpPr>
        <p:spPr>
          <a:xfrm>
            <a:off x="731520" y="5257800"/>
            <a:ext cx="2286000" cy="274320"/>
          </a:xfrm>
          <a:prstGeom prst="rect">
            <a:avLst/>
          </a:prstGeom>
          <a:noFill/>
          <a:ln/>
        </p:spPr>
        <p:txBody>
          <a:bodyPr wrap="square" lIns="0" tIns="0" rIns="0" bIns="0" rtlCol="0" anchor="t"/>
          <a:lstStyle/>
          <a:p>
            <a:pPr indent="0" marL="0">
              <a:buNone/>
            </a:pPr>
            <a:r>
              <a:rPr lang="en-US" sz="1400" dirty="0">
                <a:solidFill>
                  <a:schemeClr val="tx1"/>
                </a:solidFill>
                <a:latin typeface="PP Mori" pitchFamily="34" charset="0"/>
                <a:ea typeface="PP Mori" pitchFamily="34" charset="-122"/>
                <a:cs typeface="PP Mori" pitchFamily="34" charset="-120"/>
              </a:rPr>
              <a:t>Lowest cost</a:t>
            </a:r>
            <a:endParaRPr lang="en-US" sz="1400" dirty="0"/>
          </a:p>
        </p:txBody>
      </p:sp>
      <p:sp>
        <p:nvSpPr>
          <p:cNvPr id="7" name="Step Storyboard / wireframe"/>
          <p:cNvSpPr/>
          <p:nvPr/>
        </p:nvSpPr>
        <p:spPr>
          <a:xfrm>
            <a:off x="3337560" y="3931920"/>
            <a:ext cx="2651760" cy="1920240"/>
          </a:xfrm>
          <a:prstGeom prst="roundRect">
            <a:avLst>
              <a:gd name="adj" fmla="val 4762"/>
            </a:avLst>
          </a:prstGeom>
          <a:solidFill>
            <a:schemeClr val="tx2"/>
          </a:solidFill>
          <a:ln w="15875">
            <a:solidFill>
              <a:schemeClr val="bg1"/>
            </a:solidFill>
          </a:ln>
        </p:spPr>
        <p:txBody>
          <a:bodyPr wrap="square" lIns="50800" tIns="101600" rIns="101600" bIns="50800" rtlCol="0" anchor="ctr"/>
          <a:lstStyle/>
          <a:p>
            <a:pPr algn="l" indent="0" marL="0">
              <a:buNone/>
            </a:pPr>
            <a:endParaRPr lang="en-US" sz="1300" dirty="0"/>
          </a:p>
        </p:txBody>
      </p:sp>
      <p:sp>
        <p:nvSpPr>
          <p:cNvPr id="8" name="Step label Storyboard / wireframe"/>
          <p:cNvSpPr txBox="1"/>
          <p:nvPr/>
        </p:nvSpPr>
        <p:spPr>
          <a:xfrm>
            <a:off x="3520440" y="4069080"/>
            <a:ext cx="2377440" cy="365760"/>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Storyboard / wireframe</a:t>
            </a:r>
            <a:endParaRPr lang="en-US" sz="1600" dirty="0"/>
          </a:p>
        </p:txBody>
      </p:sp>
      <p:sp>
        <p:nvSpPr>
          <p:cNvPr id="9" name="Step cost Storyboard / wireframe"/>
          <p:cNvSpPr txBox="1"/>
          <p:nvPr/>
        </p:nvSpPr>
        <p:spPr>
          <a:xfrm>
            <a:off x="3520440" y="4434840"/>
            <a:ext cx="2286000" cy="27432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Low cost</a:t>
            </a:r>
            <a:endParaRPr lang="en-US" sz="1400" dirty="0"/>
          </a:p>
        </p:txBody>
      </p:sp>
      <p:sp>
        <p:nvSpPr>
          <p:cNvPr id="10" name="Step Interaction"/>
          <p:cNvSpPr/>
          <p:nvPr/>
        </p:nvSpPr>
        <p:spPr>
          <a:xfrm>
            <a:off x="6126480" y="3108960"/>
            <a:ext cx="2651760" cy="2743200"/>
          </a:xfrm>
          <a:prstGeom prst="roundRect">
            <a:avLst>
              <a:gd name="adj" fmla="val 3448"/>
            </a:avLst>
          </a:prstGeom>
          <a:solidFill>
            <a:schemeClr val="tx2"/>
          </a:solidFill>
          <a:ln w="15875">
            <a:solidFill>
              <a:schemeClr val="bg1"/>
            </a:solidFill>
          </a:ln>
        </p:spPr>
        <p:txBody>
          <a:bodyPr wrap="square" lIns="50800" tIns="101600" rIns="101600" bIns="50800" rtlCol="0" anchor="ctr"/>
          <a:lstStyle/>
          <a:p>
            <a:pPr algn="l" indent="0" marL="0">
              <a:buNone/>
            </a:pPr>
            <a:endParaRPr lang="en-US" sz="1300" dirty="0"/>
          </a:p>
        </p:txBody>
      </p:sp>
      <p:sp>
        <p:nvSpPr>
          <p:cNvPr id="11" name="Step label Interaction"/>
          <p:cNvSpPr txBox="1"/>
          <p:nvPr/>
        </p:nvSpPr>
        <p:spPr>
          <a:xfrm>
            <a:off x="6309360" y="3246120"/>
            <a:ext cx="2377440" cy="365760"/>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Interaction</a:t>
            </a:r>
            <a:endParaRPr lang="en-US" sz="1600" dirty="0"/>
          </a:p>
        </p:txBody>
      </p:sp>
      <p:sp>
        <p:nvSpPr>
          <p:cNvPr id="12" name="Step cost Interaction"/>
          <p:cNvSpPr txBox="1"/>
          <p:nvPr/>
        </p:nvSpPr>
        <p:spPr>
          <a:xfrm>
            <a:off x="6309360" y="3611880"/>
            <a:ext cx="2286000" cy="27432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Medium cost</a:t>
            </a:r>
            <a:endParaRPr lang="en-US" sz="1400" dirty="0"/>
          </a:p>
        </p:txBody>
      </p:sp>
      <p:sp>
        <p:nvSpPr>
          <p:cNvPr id="13" name="Step Code / build"/>
          <p:cNvSpPr/>
          <p:nvPr/>
        </p:nvSpPr>
        <p:spPr>
          <a:xfrm>
            <a:off x="8915400" y="2286000"/>
            <a:ext cx="2651760" cy="3566160"/>
          </a:xfrm>
          <a:prstGeom prst="roundRect">
            <a:avLst>
              <a:gd name="adj" fmla="val 3448"/>
            </a:avLst>
          </a:prstGeom>
          <a:solidFill>
            <a:schemeClr val="bg1"/>
          </a:solidFill>
          <a:ln w="15875">
            <a:solidFill>
              <a:schemeClr val="bg1"/>
            </a:solidFill>
          </a:ln>
        </p:spPr>
        <p:txBody>
          <a:bodyPr wrap="square" lIns="50800" tIns="101600" rIns="101600" bIns="50800" rtlCol="0" anchor="ctr"/>
          <a:lstStyle/>
          <a:p>
            <a:pPr algn="l" indent="0" marL="0">
              <a:buNone/>
            </a:pPr>
            <a:endParaRPr lang="en-US" sz="1300" dirty="0"/>
          </a:p>
        </p:txBody>
      </p:sp>
      <p:sp>
        <p:nvSpPr>
          <p:cNvPr id="14" name="Step label Code / build"/>
          <p:cNvSpPr txBox="1"/>
          <p:nvPr/>
        </p:nvSpPr>
        <p:spPr>
          <a:xfrm>
            <a:off x="9098280" y="2423160"/>
            <a:ext cx="2377440" cy="365760"/>
          </a:xfrm>
          <a:prstGeom prst="rect">
            <a:avLst/>
          </a:prstGeom>
          <a:noFill/>
          <a:ln/>
        </p:spPr>
        <p:txBody>
          <a:bodyPr wrap="square" lIns="0" tIns="0" rIns="0" bIns="0" rtlCol="0" anchor="t"/>
          <a:lstStyle/>
          <a:p>
            <a:pPr indent="0" marL="0">
              <a:buNone/>
            </a:pPr>
            <a:r>
              <a:rPr lang="en-US" sz="1600" dirty="0">
                <a:solidFill>
                  <a:schemeClr val="tx1"/>
                </a:solidFill>
                <a:latin typeface="Clash Grotesk Medium" pitchFamily="34" charset="0"/>
                <a:ea typeface="Clash Grotesk Medium" pitchFamily="34" charset="-122"/>
                <a:cs typeface="Clash Grotesk Medium" pitchFamily="34" charset="-120"/>
              </a:rPr>
              <a:t>Code / build</a:t>
            </a:r>
            <a:endParaRPr lang="en-US" sz="1600" dirty="0"/>
          </a:p>
        </p:txBody>
      </p:sp>
      <p:sp>
        <p:nvSpPr>
          <p:cNvPr id="15" name="Step cost Code / build"/>
          <p:cNvSpPr txBox="1"/>
          <p:nvPr/>
        </p:nvSpPr>
        <p:spPr>
          <a:xfrm>
            <a:off x="9098280" y="2788920"/>
            <a:ext cx="2286000" cy="274320"/>
          </a:xfrm>
          <a:prstGeom prst="rect">
            <a:avLst/>
          </a:prstGeom>
          <a:noFill/>
          <a:ln/>
        </p:spPr>
        <p:txBody>
          <a:bodyPr wrap="square" lIns="0" tIns="0" rIns="0" bIns="0" rtlCol="0" anchor="t"/>
          <a:lstStyle/>
          <a:p>
            <a:pPr indent="0" marL="0">
              <a:buNone/>
            </a:pPr>
            <a:r>
              <a:rPr lang="en-US" sz="1400" dirty="0">
                <a:solidFill>
                  <a:schemeClr val="tx1"/>
                </a:solidFill>
                <a:latin typeface="PP Mori" pitchFamily="34" charset="0"/>
                <a:ea typeface="PP Mori" pitchFamily="34" charset="-122"/>
                <a:cs typeface="PP Mori" pitchFamily="34" charset="-120"/>
              </a:rPr>
              <a:t>Highest cost</a:t>
            </a:r>
            <a:endParaRPr lang="en-US" sz="1400" dirty="0"/>
          </a:p>
        </p:txBody>
      </p:sp>
      <p:sp>
        <p:nvSpPr>
          <p:cNvPr id="16" name="Rule"/>
          <p:cNvSpPr txBox="1"/>
          <p:nvPr/>
        </p:nvSpPr>
        <p:spPr>
          <a:xfrm>
            <a:off x="7498080" y="731520"/>
            <a:ext cx="4114800" cy="548640"/>
          </a:xfrm>
          <a:prstGeom prst="rect">
            <a:avLst/>
          </a:prstGeom>
          <a:noFill/>
          <a:ln/>
        </p:spPr>
        <p:txBody>
          <a:bodyPr wrap="square" lIns="0" tIns="0" rIns="0" bIns="0" rtlCol="0" anchor="t"/>
          <a:lstStyle/>
          <a:p>
            <a:pPr algn="r" indent="0" marL="0">
              <a:buNone/>
            </a:pPr>
            <a:r>
              <a:rPr lang="en-US" sz="3200" dirty="0">
                <a:solidFill>
                  <a:schemeClr val="accent1"/>
                </a:solidFill>
                <a:latin typeface="Clash Grotesk Medium" pitchFamily="34" charset="0"/>
                <a:ea typeface="Clash Grotesk Medium" pitchFamily="34" charset="-122"/>
                <a:cs typeface="Clash Grotesk Medium" pitchFamily="34" charset="-120"/>
              </a:rPr>
              <a:t>Lo-fi wins.</a:t>
            </a:r>
            <a:endParaRPr lang="en-US" sz="3200" dirty="0"/>
          </a:p>
        </p:txBody>
      </p:sp>
      <p:sp>
        <p:nvSpPr>
          <p:cNvPr id="17" name="Patton quote"/>
          <p:cNvSpPr txBox="1"/>
          <p:nvPr/>
        </p:nvSpPr>
        <p:spPr>
          <a:xfrm>
            <a:off x="548640" y="2286000"/>
            <a:ext cx="5486400" cy="1463040"/>
          </a:xfrm>
          <a:prstGeom prst="rect">
            <a:avLst/>
          </a:prstGeom>
          <a:noFill/>
          <a:ln/>
        </p:spPr>
        <p:txBody>
          <a:bodyPr wrap="square" lIns="0" tIns="0" rIns="0" bIns="0" rtlCol="0" anchor="t"/>
          <a:lstStyle/>
          <a:p>
            <a:pPr indent="0" marL="0">
              <a:buNone/>
            </a:pPr>
            <a:r>
              <a:rPr lang="en-US" sz="2800" dirty="0">
                <a:solidFill>
                  <a:schemeClr val="bg1"/>
                </a:solidFill>
                <a:latin typeface="Clash Grotesk Medium" pitchFamily="34" charset="0"/>
                <a:ea typeface="Clash Grotesk Medium" pitchFamily="34" charset="-122"/>
                <a:cs typeface="Clash Grotesk Medium" pitchFamily="34" charset="-120"/>
              </a:rPr>
              <a:t>The most expensive way to test your idea is to build </a:t>
            </a:r>
            <a:pPr indent="0" marL="0">
              <a:buNone/>
            </a:pPr>
            <a:r>
              <a:rPr lang="en-US" sz="2800" dirty="0">
                <a:solidFill>
                  <a:schemeClr val="accent1"/>
                </a:solidFill>
                <a:latin typeface="Clash Grotesk Medium" pitchFamily="34" charset="0"/>
                <a:ea typeface="Clash Grotesk Medium" pitchFamily="34" charset="-122"/>
                <a:cs typeface="Clash Grotesk Medium" pitchFamily="34" charset="-120"/>
              </a:rPr>
              <a:t>production quality software.</a:t>
            </a:r>
            <a:endParaRPr lang="en-US" sz="2800" dirty="0"/>
          </a:p>
        </p:txBody>
      </p:sp>
      <p:sp>
        <p:nvSpPr>
          <p:cNvPr id="18" name="Quote attribution"/>
          <p:cNvSpPr txBox="1"/>
          <p:nvPr/>
        </p:nvSpPr>
        <p:spPr>
          <a:xfrm>
            <a:off x="548640" y="3657600"/>
            <a:ext cx="3657600" cy="27432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Jeff Patton</a:t>
            </a:r>
            <a:endParaRPr lang="en-US" sz="16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640080"/>
            <a:ext cx="10058400" cy="822960"/>
          </a:xfrm>
          <a:prstGeom prst="rect">
            <a:avLst/>
          </a:prstGeom>
          <a:noFill/>
          <a:ln/>
        </p:spPr>
        <p:txBody>
          <a:bodyPr wrap="square" lIns="0" tIns="0" rIns="0" bIns="0" rtlCol="0" anchor="t"/>
          <a:lstStyle/>
          <a:p>
            <a:pPr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Choose the lightest useful abstraction</a:t>
            </a:r>
            <a:endParaRPr lang="en-US" sz="4000" dirty="0"/>
          </a:p>
        </p:txBody>
      </p:sp>
      <p:sp>
        <p:nvSpPr>
          <p:cNvPr id="3" name="Visual panel"/>
          <p:cNvSpPr/>
          <p:nvPr/>
        </p:nvSpPr>
        <p:spPr>
          <a:xfrm>
            <a:off x="548640" y="1920240"/>
            <a:ext cx="2606040" cy="3108960"/>
          </a:xfrm>
          <a:prstGeom prst="roundRect">
            <a:avLst>
              <a:gd name="adj" fmla="val 10526"/>
            </a:avLst>
          </a:prstGeom>
          <a:solidFill>
            <a:schemeClr val="tx2"/>
          </a:solidFill>
          <a:ln w="12700">
            <a:solidFill>
              <a:srgbClr val="262626"/>
            </a:solidFill>
            <a:prstDash val="solid"/>
          </a:ln>
        </p:spPr>
      </p:sp>
      <p:sp>
        <p:nvSpPr>
          <p:cNvPr id="4" name="Pill PROMPT"/>
          <p:cNvSpPr/>
          <p:nvPr/>
        </p:nvSpPr>
        <p:spPr>
          <a:xfrm>
            <a:off x="822960" y="2240280"/>
            <a:ext cx="13716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PROMPT</a:t>
            </a:r>
            <a:endParaRPr lang="en-US" sz="1200" dirty="0"/>
          </a:p>
        </p:txBody>
      </p:sp>
      <p:sp>
        <p:nvSpPr>
          <p:cNvPr id="5" name="Text 3"/>
          <p:cNvSpPr txBox="1"/>
          <p:nvPr/>
        </p:nvSpPr>
        <p:spPr>
          <a:xfrm>
            <a:off x="822960" y="2834640"/>
            <a:ext cx="2103120" cy="640080"/>
          </a:xfrm>
          <a:prstGeom prst="rect">
            <a:avLst/>
          </a:prstGeom>
          <a:noFill/>
          <a:ln/>
        </p:spPr>
        <p:txBody>
          <a:bodyPr wrap="square" lIns="0" tIns="0" rIns="0" bIns="0" rtlCol="0" anchor="t"/>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Explore</a:t>
            </a:r>
            <a:endParaRPr lang="en-US" sz="3000" dirty="0"/>
          </a:p>
        </p:txBody>
      </p:sp>
      <p:sp>
        <p:nvSpPr>
          <p:cNvPr id="6" name="Text 4"/>
          <p:cNvSpPr txBox="1"/>
          <p:nvPr/>
        </p:nvSpPr>
        <p:spPr>
          <a:xfrm>
            <a:off x="822960" y="3566160"/>
            <a:ext cx="2103120" cy="109728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Paste it into any chat.</a:t>
            </a:r>
            <a:endParaRPr lang="en-US" sz="1600" dirty="0"/>
          </a:p>
        </p:txBody>
      </p:sp>
      <p:sp>
        <p:nvSpPr>
          <p:cNvPr id="7" name="Visual panel"/>
          <p:cNvSpPr/>
          <p:nvPr/>
        </p:nvSpPr>
        <p:spPr>
          <a:xfrm>
            <a:off x="3337560" y="1920240"/>
            <a:ext cx="2606040" cy="3108960"/>
          </a:xfrm>
          <a:prstGeom prst="roundRect">
            <a:avLst>
              <a:gd name="adj" fmla="val 10526"/>
            </a:avLst>
          </a:prstGeom>
          <a:solidFill>
            <a:schemeClr val="tx2"/>
          </a:solidFill>
          <a:ln w="12700">
            <a:solidFill>
              <a:srgbClr val="262626"/>
            </a:solidFill>
            <a:prstDash val="solid"/>
          </a:ln>
        </p:spPr>
      </p:sp>
      <p:sp>
        <p:nvSpPr>
          <p:cNvPr id="8" name="Pill SKILL"/>
          <p:cNvSpPr/>
          <p:nvPr/>
        </p:nvSpPr>
        <p:spPr>
          <a:xfrm>
            <a:off x="3611880" y="2240280"/>
            <a:ext cx="13716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SKILL</a:t>
            </a:r>
            <a:endParaRPr lang="en-US" sz="1200" dirty="0"/>
          </a:p>
        </p:txBody>
      </p:sp>
      <p:sp>
        <p:nvSpPr>
          <p:cNvPr id="9" name="Text 7"/>
          <p:cNvSpPr txBox="1"/>
          <p:nvPr/>
        </p:nvSpPr>
        <p:spPr>
          <a:xfrm>
            <a:off x="3611880" y="2834640"/>
            <a:ext cx="2103120" cy="640080"/>
          </a:xfrm>
          <a:prstGeom prst="rect">
            <a:avLst/>
          </a:prstGeom>
          <a:noFill/>
          <a:ln/>
        </p:spPr>
        <p:txBody>
          <a:bodyPr wrap="square" lIns="0" tIns="0" rIns="0" bIns="0" rtlCol="0" anchor="t"/>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Codify</a:t>
            </a:r>
            <a:endParaRPr lang="en-US" sz="3000" dirty="0"/>
          </a:p>
        </p:txBody>
      </p:sp>
      <p:sp>
        <p:nvSpPr>
          <p:cNvPr id="10" name="Text 8"/>
          <p:cNvSpPr txBox="1"/>
          <p:nvPr/>
        </p:nvSpPr>
        <p:spPr>
          <a:xfrm>
            <a:off x="3611880" y="3566160"/>
            <a:ext cx="2103120" cy="109728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A bounded, repeatable play.</a:t>
            </a:r>
            <a:endParaRPr lang="en-US" sz="1600" dirty="0"/>
          </a:p>
        </p:txBody>
      </p:sp>
      <p:sp>
        <p:nvSpPr>
          <p:cNvPr id="11" name="Visual panel"/>
          <p:cNvSpPr/>
          <p:nvPr/>
        </p:nvSpPr>
        <p:spPr>
          <a:xfrm>
            <a:off x="6126480" y="1920240"/>
            <a:ext cx="2606040" cy="3108960"/>
          </a:xfrm>
          <a:prstGeom prst="roundRect">
            <a:avLst>
              <a:gd name="adj" fmla="val 10526"/>
            </a:avLst>
          </a:prstGeom>
          <a:solidFill>
            <a:schemeClr val="tx2"/>
          </a:solidFill>
          <a:ln w="12700">
            <a:solidFill>
              <a:srgbClr val="262626"/>
            </a:solidFill>
            <a:prstDash val="solid"/>
          </a:ln>
        </p:spPr>
      </p:sp>
      <p:sp>
        <p:nvSpPr>
          <p:cNvPr id="12" name="Pill AGENT"/>
          <p:cNvSpPr/>
          <p:nvPr/>
        </p:nvSpPr>
        <p:spPr>
          <a:xfrm>
            <a:off x="6400800" y="2240280"/>
            <a:ext cx="13716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AGENT</a:t>
            </a:r>
            <a:endParaRPr lang="en-US" sz="1200" dirty="0"/>
          </a:p>
        </p:txBody>
      </p:sp>
      <p:sp>
        <p:nvSpPr>
          <p:cNvPr id="13" name="Text 11"/>
          <p:cNvSpPr txBox="1"/>
          <p:nvPr/>
        </p:nvSpPr>
        <p:spPr>
          <a:xfrm>
            <a:off x="6400800" y="2834640"/>
            <a:ext cx="2103120" cy="640080"/>
          </a:xfrm>
          <a:prstGeom prst="rect">
            <a:avLst/>
          </a:prstGeom>
          <a:noFill/>
          <a:ln/>
        </p:spPr>
        <p:txBody>
          <a:bodyPr wrap="square" lIns="0" tIns="0" rIns="0" bIns="0" rtlCol="0" anchor="t"/>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Delegate</a:t>
            </a:r>
            <a:endParaRPr lang="en-US" sz="3000" dirty="0"/>
          </a:p>
        </p:txBody>
      </p:sp>
      <p:sp>
        <p:nvSpPr>
          <p:cNvPr id="14" name="Text 12"/>
          <p:cNvSpPr txBox="1"/>
          <p:nvPr/>
        </p:nvSpPr>
        <p:spPr>
          <a:xfrm>
            <a:off x="6400800" y="3566160"/>
            <a:ext cx="2103120" cy="109728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An operator pursuing an outcome.</a:t>
            </a:r>
            <a:endParaRPr lang="en-US" sz="1600" dirty="0"/>
          </a:p>
        </p:txBody>
      </p:sp>
      <p:sp>
        <p:nvSpPr>
          <p:cNvPr id="15" name="Visual panel"/>
          <p:cNvSpPr/>
          <p:nvPr/>
        </p:nvSpPr>
        <p:spPr>
          <a:xfrm>
            <a:off x="8915400" y="1920240"/>
            <a:ext cx="2606040" cy="3108960"/>
          </a:xfrm>
          <a:prstGeom prst="roundRect">
            <a:avLst>
              <a:gd name="adj" fmla="val 10526"/>
            </a:avLst>
          </a:prstGeom>
          <a:solidFill>
            <a:schemeClr val="tx2"/>
          </a:solidFill>
          <a:ln w="12700">
            <a:solidFill>
              <a:srgbClr val="262626"/>
            </a:solidFill>
            <a:prstDash val="solid"/>
          </a:ln>
        </p:spPr>
      </p:sp>
      <p:sp>
        <p:nvSpPr>
          <p:cNvPr id="16" name="Pill PLUGIN"/>
          <p:cNvSpPr/>
          <p:nvPr/>
        </p:nvSpPr>
        <p:spPr>
          <a:xfrm>
            <a:off x="9189720" y="2240280"/>
            <a:ext cx="13716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spc="150" kern="0" dirty="0">
                <a:solidFill>
                  <a:schemeClr val="tx1"/>
                </a:solidFill>
                <a:latin typeface="Clash Display Semibold" pitchFamily="34" charset="0"/>
                <a:ea typeface="Clash Display Semibold" pitchFamily="34" charset="-122"/>
                <a:cs typeface="Clash Display Semibold" pitchFamily="34" charset="-120"/>
              </a:rPr>
              <a:t>PLUGIN</a:t>
            </a:r>
            <a:endParaRPr lang="en-US" sz="1200" dirty="0"/>
          </a:p>
        </p:txBody>
      </p:sp>
      <p:sp>
        <p:nvSpPr>
          <p:cNvPr id="17" name="Text 15"/>
          <p:cNvSpPr txBox="1"/>
          <p:nvPr/>
        </p:nvSpPr>
        <p:spPr>
          <a:xfrm>
            <a:off x="9189720" y="2834640"/>
            <a:ext cx="2103120" cy="640080"/>
          </a:xfrm>
          <a:prstGeom prst="rect">
            <a:avLst/>
          </a:prstGeom>
          <a:noFill/>
          <a:ln/>
        </p:spPr>
        <p:txBody>
          <a:bodyPr wrap="square" lIns="0" tIns="0" rIns="0" bIns="0" rtlCol="0" anchor="t"/>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Distribute</a:t>
            </a:r>
            <a:endParaRPr lang="en-US" sz="3000" dirty="0"/>
          </a:p>
        </p:txBody>
      </p:sp>
      <p:sp>
        <p:nvSpPr>
          <p:cNvPr id="18" name="Text 16"/>
          <p:cNvSpPr txBox="1"/>
          <p:nvPr/>
        </p:nvSpPr>
        <p:spPr>
          <a:xfrm>
            <a:off x="9189720" y="3566160"/>
            <a:ext cx="2103120" cy="109728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The kit.</a:t>
            </a:r>
            <a:endParaRPr lang="en-US" sz="1600" dirty="0"/>
          </a:p>
        </p:txBody>
      </p:sp>
      <p:sp>
        <p:nvSpPr>
          <p:cNvPr id="19" name="Honest limit"/>
          <p:cNvSpPr txBox="1"/>
          <p:nvPr/>
        </p:nvSpPr>
        <p:spPr>
          <a:xfrm>
            <a:off x="548640" y="5394960"/>
            <a:ext cx="10058400" cy="457200"/>
          </a:xfrm>
          <a:prstGeom prst="rect">
            <a:avLst/>
          </a:prstGeom>
          <a:noFill/>
          <a:ln/>
        </p:spPr>
        <p:txBody>
          <a:bodyPr wrap="square" lIns="0" tIns="0" rIns="0" bIns="0" rtlCol="0" anchor="t"/>
          <a:lstStyle/>
          <a:p>
            <a:pPr indent="0" marL="0">
              <a:buNone/>
            </a:pPr>
            <a:r>
              <a:rPr lang="en-US" sz="1800" dirty="0">
                <a:solidFill>
                  <a:schemeClr val="bg1"/>
                </a:solidFill>
                <a:latin typeface="PP Mori" pitchFamily="34" charset="0"/>
                <a:ea typeface="PP Mori" pitchFamily="34" charset="-122"/>
                <a:cs typeface="PP Mori" pitchFamily="34" charset="-120"/>
              </a:rPr>
              <a:t>Today Dean operates the chain. No autonomous discovery operator exists. Ten artifacts do not prove demand.</a:t>
            </a:r>
            <a:endParaRPr lang="en-US" sz="18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losing line"/>
          <p:cNvSpPr txBox="1"/>
          <p:nvPr/>
        </p:nvSpPr>
        <p:spPr>
          <a:xfrm>
            <a:off x="548640" y="822960"/>
            <a:ext cx="10058400" cy="3840480"/>
          </a:xfrm>
          <a:prstGeom prst="rect">
            <a:avLst/>
          </a:prstGeom>
          <a:noFill/>
          <a:ln/>
        </p:spPr>
        <p:txBody>
          <a:bodyPr wrap="square" lIns="0" tIns="0" rIns="0" bIns="0" rtlCol="0" anchor="t"/>
          <a:lstStyle/>
          <a:p>
            <a:pPr indent="0" marL="0">
              <a:buNone/>
            </a:pPr>
            <a:r>
              <a:rPr lang="en-US" sz="8000" dirty="0">
                <a:solidFill>
                  <a:schemeClr val="bg1"/>
                </a:solidFill>
                <a:latin typeface="FR Kraken Slab Medium" pitchFamily="34" charset="0"/>
                <a:ea typeface="FR Kraken Slab Medium" pitchFamily="34" charset="-122"/>
                <a:cs typeface="FR Kraken Slab Medium" pitchFamily="34" charset="-120"/>
              </a:rPr>
              <a:t>Learn faster.</a:t>
            </a:r>
            <a:endParaRPr lang="en-US" sz="8000" dirty="0"/>
          </a:p>
          <a:p>
            <a:pPr indent="0" marL="0">
              <a:buNone/>
            </a:pPr>
            <a:r>
              <a:rPr lang="en-US" sz="8000" dirty="0">
                <a:solidFill>
                  <a:schemeClr val="bg1"/>
                </a:solidFill>
                <a:latin typeface="FR Kraken Slab Medium" pitchFamily="34" charset="0"/>
                <a:ea typeface="FR Kraken Slab Medium" pitchFamily="34" charset="-122"/>
                <a:cs typeface="FR Kraken Slab Medium" pitchFamily="34" charset="-120"/>
              </a:rPr>
              <a:t>Decide better.</a:t>
            </a:r>
            <a:endParaRPr lang="en-US" sz="8000" dirty="0"/>
          </a:p>
          <a:p>
            <a:pPr indent="0" marL="0">
              <a:buNone/>
            </a:pPr>
            <a:r>
              <a:rPr lang="en-US" sz="8000" dirty="0">
                <a:solidFill>
                  <a:schemeClr val="accent1"/>
                </a:solidFill>
                <a:latin typeface="FR Kraken Slab Medium" pitchFamily="34" charset="0"/>
                <a:ea typeface="FR Kraken Slab Medium" pitchFamily="34" charset="-122"/>
                <a:cs typeface="FR Kraken Slab Medium" pitchFamily="34" charset="-120"/>
              </a:rPr>
              <a:t>Then build.</a:t>
            </a:r>
            <a:endParaRPr lang="en-US" sz="8000" dirty="0"/>
          </a:p>
        </p:txBody>
      </p:sp>
      <p:sp>
        <p:nvSpPr>
          <p:cNvPr id="3" name="Invitation"/>
          <p:cNvSpPr txBox="1"/>
          <p:nvPr/>
        </p:nvSpPr>
        <p:spPr>
          <a:xfrm>
            <a:off x="548640" y="4983480"/>
            <a:ext cx="8229600" cy="457200"/>
          </a:xfrm>
          <a:prstGeom prst="rect">
            <a:avLst/>
          </a:prstGeom>
          <a:noFill/>
          <a:ln/>
        </p:spPr>
        <p:txBody>
          <a:bodyPr wrap="square" lIns="0" tIns="0" rIns="0" bIns="0" rtlCol="0" anchor="t"/>
          <a:lstStyle/>
          <a:p>
            <a:pPr indent="0" marL="0">
              <a:buNone/>
            </a:pPr>
            <a:r>
              <a:rPr lang="en-US" sz="2200" dirty="0">
                <a:solidFill>
                  <a:srgbClr val="B3B3B3"/>
                </a:solidFill>
                <a:latin typeface="PP Mori" pitchFamily="34" charset="0"/>
                <a:ea typeface="PP Mori" pitchFamily="34" charset="-122"/>
                <a:cs typeface="PP Mori" pitchFamily="34" charset="-120"/>
              </a:rPr>
              <a:t>Pick one motion. Bring your own context. Try it tomorrow.</a:t>
            </a:r>
            <a:endParaRPr lang="en-US" sz="2200" dirty="0"/>
          </a:p>
        </p:txBody>
      </p:sp>
      <p:pic>
        <p:nvPicPr>
          <p:cNvPr id="4" name="Productside lockup" descr="Productside">    </p:cNvPr>
          <p:cNvPicPr>
            <a:picLocks noChangeAspect="1"/>
          </p:cNvPicPr>
          <p:nvPr/>
        </p:nvPicPr>
        <p:blipFill>
          <a:blip r:embed="rId1"/>
          <a:stretch>
            <a:fillRect/>
          </a:stretch>
        </p:blipFill>
        <p:spPr>
          <a:xfrm>
            <a:off x="10058400" y="5394960"/>
            <a:ext cx="1554480" cy="792785"/>
          </a:xfrm>
          <a:prstGeom prst="rect">
            <a:avLst/>
          </a:prstGeom>
        </p:spPr>
      </p:pic>
    </p:spTree>
  </p:cSld>
  <p:clrMapOvr>
    <a:masterClrMapping/>
  </p:clrMapOvr>
</p:sld>
</file>

<file path=ppt/theme/theme1.xml><?xml version="1.0" encoding="utf-8"?>
<a:theme xmlns:a="http://schemas.openxmlformats.org/drawingml/2006/main" name="Productside Dark">
  <a:themeElements>
    <a:clrScheme name="Productside Dark">
      <a:dk1>
        <a:srgbClr val="000000"/>
      </a:dk1>
      <a:lt1>
        <a:srgbClr val="FFFFFF"/>
      </a:lt1>
      <a:dk2>
        <a:srgbClr val="141414"/>
      </a:dk2>
      <a:lt2>
        <a:srgbClr val="F4F4F4"/>
      </a:lt2>
      <a:accent1>
        <a:srgbClr val="00E874"/>
      </a:accent1>
      <a:accent2>
        <a:srgbClr val="36DEFF"/>
      </a:accent2>
      <a:accent3>
        <a:srgbClr val="EFE400"/>
      </a:accent3>
      <a:accent4>
        <a:srgbClr val="FF9800"/>
      </a:accent4>
      <a:accent5>
        <a:srgbClr val="004A4A"/>
      </a:accent5>
      <a:accent6>
        <a:srgbClr val="3508FF"/>
      </a:accent6>
      <a:hlink>
        <a:srgbClr val="00E874"/>
      </a:hlink>
      <a:folHlink>
        <a:srgbClr val="36DEFF"/>
      </a:folHlink>
    </a:clrScheme>
    <a:fontScheme name="Productside Dark">
      <a:majorFont>
        <a:latin typeface="Clash Grotesk Medium"/>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P Mo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the Right Thing Before Building It Right</dc:title>
  <dc:subject>PptxGenJS Presentation</dc:subject>
  <dc:creator>Dean Peters</dc:creator>
  <cp:lastModifiedBy>Dean Peters</cp:lastModifiedBy>
  <cp:revision>1</cp:revision>
  <dcterms:created xsi:type="dcterms:W3CDTF">2026-10-03T19:58:32Z</dcterms:created>
  <dcterms:modified xsi:type="dcterms:W3CDTF">2026-10-03T19:58:32Z</dcterms:modified>
</cp:coreProperties>
</file>